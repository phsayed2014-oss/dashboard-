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ac51f6d-97b0-afcc-df82-2c4cd63f3617}">
          <p14:sldIdLst>
            <p14:sldId id="256"/>
            <p14:sldId id="257"/>
          </p14:sldIdLst>
        </p14:section>
        <p14:section name="Women's Health" id="{dd868ded-a5d8-4366-2d90-35cfeae5549f}">
          <p14:sldIdLst>
            <p14:sldId id="258"/>
            <p14:sldId id="259"/>
            <p14:sldId id="260"/>
            <p14:sldId id="261"/>
            <p14:sldId id="262"/>
            <p14:sldId id="263"/>
            <p14:sldId id="264"/>
            <p14:sldId id="265"/>
            <p14:sldId id="266"/>
          </p14:sldIdLst>
        </p14:section>
        <p14:section name="Dermatology &amp; Hair" id="{88be0a71-eb58-610c-855c-b75a1d3bd364}">
          <p14:sldIdLst>
            <p14:sldId id="267"/>
            <p14:sldId id="268"/>
            <p14:sldId id="269"/>
            <p14:sldId id="270"/>
            <p14:sldId id="271"/>
            <p14:sldId id="272"/>
            <p14:sldId id="273"/>
            <p14:sldId id="274"/>
            <p14:sldId id="275"/>
          </p14:sldIdLst>
        </p14:section>
        <p14:section name="Skin Care" id="{7d37f0c3-6fd6-7b0a-5844-fe09f99658a8}">
          <p14:sldIdLst>
            <p14:sldId id="276"/>
            <p14:sldId id="277"/>
            <p14:sldId id="278"/>
            <p14:sldId id="279"/>
            <p14:sldId id="280"/>
          </p14:sldIdLst>
        </p14:section>
        <p14:section name="Summary" id="{761e757d-1082-5a53-91f2-e6dd41c251b7}">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reps. Goal: every rep should know, for each of the five products, what it is, what each ingredient does, the scientific evidence, who it is for, and how to present it to the doctor. Memory Boost has a separate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are grouped by the clinic the rep will visit. Products in the same clinic are presented together (cross-selling): Fem-Arosa with Femina in gynecology, Octo with E-Panthen in dermatology.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Fem-Arosa is registered with the SFDA as a food supplement, for women over 18. Reps should know the registration number and barcode, as pharmacies ask for them. Public price: SAR 49 excluding 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ingredients in four groups rather than twelve names: (1) L-arginine for blood flow, (2) vitality and desire botanicals, (3) circulation and energy botanicals, (4) vitamins. The rep must be able to say why each ingredient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these studies are on the ingredients or similar combinations, not on Fem-Arosa itself, and doses may differ. The strongest number: the Ito 2001 trial of L-arginine, ginseng, ginkgo and damiana — 73.5% of women reported improvement vs 37.2% on placebo.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Ob/Gyn first, then pharmacies. Core message: a complete formula in one product instead of several supplements. If asked about pregnancy: not recommended during pregnancy and breastfeeding. If asked about the dose: as directed on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Femina is a notified cosmetic (not a medicine). We can talk about cleansing, soothing, moisturising and freshness — but never "treats infections". Public price: SAR 65 excluding 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doctor conversation: a healthy vaginal environment is acidic because of lactobacilli. Ordinary soap is alkaline and disturbs this balance. Femina is buffered to pH 3.5–4.5 to respect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formula into four roles. Percentages are the manufacturer’s actual levels. Chlorhexidine 0.2% with tea tree, thyme and neem oils gives cleansing and protection; chamomile and bisabolol calm 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everyday situations where a woman needs a safe wash: menstruation, pregnancy, postpartum and menopausal dryness. If the doctor prescribes treatment for an infection, Femina is daily hygiene alongside it, not a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 is a notified hair and scalp cosmetic. Its key advantage: four anti-dandruff actives in one shampoo. Public price: SAR 55 excluding 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Dandruff is chronic and controlled rather than cured, which is why patients need a shampoo they keep using. The main driver is Malassezia yeast breaking down scalp lipids, causing irritation and excessive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Octo slide: most competing shampoos contain one or two actives; Octo has four, plus natural oils that calm itching and condition the hair. Octopirox binds to hair keratin, which helps reduce recurrence.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studies are on the actives. The tea tree study used 5%; Octo contains 1%. The point is that the oil itself has proven activity, and in Octo it supports the four main actives.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both regimens: treatment for 3 weeks, then prevention. Remind the rep to tell patients to leave the lather 3–5 minutes before rinsing so the actives work. Link to E-Panthen: a doctor who prescribes Octo usually has dry-skin patients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E-Panthen is a moisturising cream, a notified cosmetic under the Dr Organic brand. Key feature: 5% D-panthenol stated on the pack, plus vitamin E and ceramide. At SAR 30 it is very competitively priced.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ingredients at the manufacturer’s levels. Start with the most important: 5% panthenol converts to pantothenic acid in the skin, moisturises and restores the barrier. Then ceramide, which replenishes barrier lipids, and vitamin E, an antioxidant.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Indications per the leaflet: stressed and irritated but intact skin (not open wounds). The panthenol evidence is strong: the double-blind Gehring 2000 study and the Proksch 2017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Mebonol is a notified cosmetic. We present it as supporting the recovery of cracked and irritated skin. We do not say it treats diabetic foot or bed sores — those are therapeutic claims not allowed for a cosmetic. Public price: SAR 55 excluding 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memorising 17 names, the rep learns four functions: supports healing, anti-infective, anti-inflammatory, soothing and emollient. Some ingredients (vitamin E, propolis, aloe) do more than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phases in order and name the ingredients that help in each. This gives the doctor a scientific picture: the formula is built on how skin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evidence: the Cochrane review on honey for superficial burns — 992 patients, high-quality evidence. The calendula study was in animals, so present it as experimental. Uses we mention: heel and nipple fissures, diaper rash, minor burns, superficial wounds, and dry scaly skin.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Quick-review summary. Ask each rep to state the key selling point of every product from memory before going out on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never enter a clinic with one product. Gynecology: Fem-Arosa with Femina. Dermatology: Octo with E-Panthen. Mebonol fits dermatology, gynecology (nipple fissures) and pediatrics (diaper 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then run a quick quiz: each rep states the key selling point, category and price of a product chosen by the 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649224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228832" y="6263640"/>
            <a:ext cx="548640" cy="411480"/>
          </a:xfrm>
          <a:prstGeom prst="rect">
            <a:avLst/>
          </a:prstGeom>
        </p:spPr>
      </p:pic>
      <p:sp>
        <p:nvSpPr>
          <p:cNvPr id="3" name="Text 0"/>
          <p:cNvSpPr/>
          <p:nvPr/>
        </p:nvSpPr>
        <p:spPr>
          <a:xfrm>
            <a:off x="548640" y="6309360"/>
            <a:ext cx="4480560" cy="320040"/>
          </a:xfrm>
          <a:prstGeom prst="rect">
            <a:avLst/>
          </a:prstGeom>
          <a:noFill/>
          <a:ln/>
        </p:spPr>
        <p:txBody>
          <a:bodyPr wrap="square" rtlCol="0" anchor="ctr"/>
          <a:lstStyle/>
          <a:p>
            <a:pPr algn="l" indent="0" marL="0">
              <a:buNone/>
            </a:pPr>
            <a:r>
              <a:rPr lang="en-US" sz="1000" dirty="0">
                <a:solidFill>
                  <a:schemeClr val="accent5"/>
                </a:solidFill>
              </a:rPr>
              <a:t>Areej Najd Est. — Medical Rep Training</a:t>
            </a:r>
            <a:endParaRPr lang="en-US" sz="1000" dirty="0"/>
          </a:p>
        </p:txBody>
      </p:sp>
      <p:sp>
        <p:nvSpPr>
          <p:cNvPr id="4" name="Text 1"/>
          <p:cNvSpPr/>
          <p:nvPr>
            <p:ph idx="102"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jpe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188720"/>
          </a:xfrm>
          <a:prstGeom prst="rect">
            <a:avLst/>
          </a:prstGeom>
          <a:noFill/>
          <a:ln/>
        </p:spPr>
        <p:txBody>
          <a:bodyPr wrap="square" rtlCol="0" anchor="b"/>
          <a:lstStyle/>
          <a:p>
            <a:pPr algn="l" indent="0" marL="0">
              <a:buNone/>
            </a:pPr>
            <a:r>
              <a:rPr lang="en-US" sz="4400" b="1" dirty="0">
                <a:solidFill>
                  <a:schemeClr val="bg1"/>
                </a:solidFill>
              </a:rPr>
              <a:t>Medical Rep Product Training</a:t>
            </a:r>
            <a:endParaRPr lang="en-US" sz="4400" dirty="0"/>
          </a:p>
        </p:txBody>
      </p:sp>
      <p:sp>
        <p:nvSpPr>
          <p:cNvPr id="4" name="Text 1"/>
          <p:cNvSpPr txBox="1"/>
          <p:nvPr/>
        </p:nvSpPr>
        <p:spPr>
          <a:xfrm>
            <a:off x="548640" y="3246120"/>
            <a:ext cx="11064240" cy="548640"/>
          </a:xfrm>
          <a:prstGeom prst="rect">
            <a:avLst/>
          </a:prstGeom>
          <a:noFill/>
          <a:ln/>
        </p:spPr>
        <p:txBody>
          <a:bodyPr wrap="square" rtlCol="0" anchor="ctr"/>
          <a:lstStyle/>
          <a:p>
            <a:pPr algn="l" indent="0" marL="0">
              <a:buNone/>
            </a:pPr>
            <a:r>
              <a:rPr lang="en-US" sz="2000" dirty="0">
                <a:solidFill>
                  <a:schemeClr val="bg1"/>
                </a:solidFill>
              </a:rPr>
              <a:t>Five products · Women's Health · Dermatology &amp; Hair · Skin Care</a:t>
            </a:r>
            <a:endParaRPr lang="en-US" sz="2000" dirty="0"/>
          </a:p>
        </p:txBody>
      </p:sp>
      <p:sp>
        <p:nvSpPr>
          <p:cNvPr id="5" name="Shape 2"/>
          <p:cNvSpPr/>
          <p:nvPr/>
        </p:nvSpPr>
        <p:spPr>
          <a:xfrm>
            <a:off x="548640" y="4114800"/>
            <a:ext cx="11064240" cy="2194560"/>
          </a:xfrm>
          <a:prstGeom prst="roundRect">
            <a:avLst>
              <a:gd name="adj" fmla="val 8333"/>
            </a:avLst>
          </a:prstGeom>
          <a:solidFill>
            <a:schemeClr val="bg1"/>
          </a:solidFill>
          <a:ln w="12700">
            <a:solidFill>
              <a:schemeClr val="bg1"/>
            </a:solidFill>
            <a:prstDash val="solid"/>
          </a:ln>
        </p:spPr>
      </p:sp>
      <p:pic>
        <p:nvPicPr>
          <p:cNvPr id="6" name="femarosa image" descr="preencoded.png">    </p:cNvPr>
          <p:cNvPicPr>
            <a:picLocks noChangeAspect="1"/>
          </p:cNvPicPr>
          <p:nvPr/>
        </p:nvPicPr>
        <p:blipFill>
          <a:blip r:embed="rId1"/>
          <a:stretch>
            <a:fillRect/>
          </a:stretch>
        </p:blipFill>
        <p:spPr>
          <a:xfrm>
            <a:off x="972472" y="4251960"/>
            <a:ext cx="1621216" cy="1920240"/>
          </a:xfrm>
          <a:prstGeom prst="rect">
            <a:avLst/>
          </a:prstGeom>
        </p:spPr>
      </p:pic>
      <p:pic>
        <p:nvPicPr>
          <p:cNvPr id="7" name="femina image" descr="preencoded.png">    </p:cNvPr>
          <p:cNvPicPr>
            <a:picLocks noChangeAspect="1"/>
          </p:cNvPicPr>
          <p:nvPr/>
        </p:nvPicPr>
        <p:blipFill>
          <a:blip r:embed="rId2"/>
          <a:stretch>
            <a:fillRect/>
          </a:stretch>
        </p:blipFill>
        <p:spPr>
          <a:xfrm>
            <a:off x="3315580" y="4251960"/>
            <a:ext cx="1232679" cy="1920240"/>
          </a:xfrm>
          <a:prstGeom prst="rect">
            <a:avLst/>
          </a:prstGeom>
        </p:spPr>
      </p:pic>
      <p:pic>
        <p:nvPicPr>
          <p:cNvPr id="8" name="octo image" descr="preencoded.png">    </p:cNvPr>
          <p:cNvPicPr>
            <a:picLocks noChangeAspect="1"/>
          </p:cNvPicPr>
          <p:nvPr/>
        </p:nvPicPr>
        <p:blipFill>
          <a:blip r:embed="rId3"/>
          <a:stretch>
            <a:fillRect/>
          </a:stretch>
        </p:blipFill>
        <p:spPr>
          <a:xfrm>
            <a:off x="5381077" y="4251960"/>
            <a:ext cx="1399365" cy="1920240"/>
          </a:xfrm>
          <a:prstGeom prst="rect">
            <a:avLst/>
          </a:prstGeom>
        </p:spPr>
      </p:pic>
      <p:pic>
        <p:nvPicPr>
          <p:cNvPr id="9" name="epanthen image" descr="preencoded.png">    </p:cNvPr>
          <p:cNvPicPr>
            <a:picLocks noChangeAspect="1"/>
          </p:cNvPicPr>
          <p:nvPr/>
        </p:nvPicPr>
        <p:blipFill>
          <a:blip r:embed="rId4"/>
          <a:stretch>
            <a:fillRect/>
          </a:stretch>
        </p:blipFill>
        <p:spPr>
          <a:xfrm>
            <a:off x="7269480" y="4262628"/>
            <a:ext cx="1920240" cy="1898904"/>
          </a:xfrm>
          <a:prstGeom prst="rect">
            <a:avLst/>
          </a:prstGeom>
        </p:spPr>
      </p:pic>
      <p:pic>
        <p:nvPicPr>
          <p:cNvPr id="10" name="mebonol image" descr="preencoded.png">    </p:cNvPr>
          <p:cNvPicPr>
            <a:picLocks noChangeAspect="1"/>
          </p:cNvPicPr>
          <p:nvPr/>
        </p:nvPicPr>
        <p:blipFill>
          <a:blip r:embed="rId5"/>
          <a:stretch>
            <a:fillRect/>
          </a:stretch>
        </p:blipFill>
        <p:spPr>
          <a:xfrm>
            <a:off x="9418320" y="4825898"/>
            <a:ext cx="1920240" cy="772363"/>
          </a:xfrm>
          <a:prstGeom prst="rect">
            <a:avLst/>
          </a:prstGeom>
        </p:spPr>
      </p:pic>
      <p:sp>
        <p:nvSpPr>
          <p:cNvPr id="11" name="Shape 3"/>
          <p:cNvSpPr/>
          <p:nvPr/>
        </p:nvSpPr>
        <p:spPr>
          <a:xfrm>
            <a:off x="10241280" y="457200"/>
            <a:ext cx="1371600" cy="1051560"/>
          </a:xfrm>
          <a:prstGeom prst="roundRect">
            <a:avLst>
              <a:gd name="adj" fmla="val 10435"/>
            </a:avLst>
          </a:prstGeom>
          <a:solidFill>
            <a:schemeClr val="bg1"/>
          </a:solidFill>
          <a:ln w="12700">
            <a:solidFill>
              <a:schemeClr val="bg1"/>
            </a:solidFill>
            <a:prstDash val="solid"/>
          </a:ln>
        </p:spPr>
      </p:sp>
      <p:pic>
        <p:nvPicPr>
          <p:cNvPr id="12" name="logo" descr="preencoded.png">    </p:cNvPr>
          <p:cNvPicPr>
            <a:picLocks noChangeAspect="1"/>
          </p:cNvPicPr>
          <p:nvPr/>
        </p:nvPicPr>
        <p:blipFill>
          <a:blip r:embed="rId6"/>
          <a:stretch>
            <a:fillRect/>
          </a:stretch>
        </p:blipFill>
        <p:spPr>
          <a:xfrm>
            <a:off x="10351008" y="530352"/>
            <a:ext cx="1170432" cy="877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Training agenda</a:t>
            </a:r>
            <a:endParaRPr lang="en-US" sz="3200" dirty="0"/>
          </a:p>
        </p:txBody>
      </p:sp>
      <p:sp>
        <p:nvSpPr>
          <p:cNvPr id="4" name="Shape 1"/>
          <p:cNvSpPr/>
          <p:nvPr/>
        </p:nvSpPr>
        <p:spPr>
          <a:xfrm>
            <a:off x="548640" y="1325880"/>
            <a:ext cx="3566160" cy="4754880"/>
          </a:xfrm>
          <a:prstGeom prst="roundRect">
            <a:avLst>
              <a:gd name="adj" fmla="val 3077"/>
            </a:avLst>
          </a:prstGeom>
          <a:solidFill>
            <a:schemeClr val="accent1">
              <a:alpha val="10000"/>
            </a:schemeClr>
          </a:solidFill>
          <a:ln w="9525">
            <a:solidFill>
              <a:schemeClr val="accent1">
                <a:alpha val="25000"/>
              </a:schemeClr>
            </a:solidFill>
            <a:prstDash val="solid"/>
          </a:ln>
        </p:spPr>
      </p:sp>
      <p:sp>
        <p:nvSpPr>
          <p:cNvPr id="5" name="Text 2"/>
          <p:cNvSpPr txBox="1"/>
          <p:nvPr/>
        </p:nvSpPr>
        <p:spPr>
          <a:xfrm>
            <a:off x="731520" y="1463040"/>
            <a:ext cx="3200400" cy="457200"/>
          </a:xfrm>
          <a:prstGeom prst="rect">
            <a:avLst/>
          </a:prstGeom>
          <a:noFill/>
          <a:ln/>
        </p:spPr>
        <p:txBody>
          <a:bodyPr wrap="square" lIns="0" tIns="0" rIns="0" bIns="0" rtlCol="0" anchor="ctr"/>
          <a:lstStyle/>
          <a:p>
            <a:pPr algn="l" indent="0" marL="0">
              <a:buNone/>
            </a:pPr>
            <a:r>
              <a:rPr lang="en-US" sz="2000" b="1" dirty="0">
                <a:solidFill>
                  <a:schemeClr val="accent1"/>
                </a:solidFill>
              </a:rPr>
              <a:t>Women's Health</a:t>
            </a:r>
            <a:endParaRPr lang="en-US" sz="2000" dirty="0"/>
          </a:p>
        </p:txBody>
      </p:sp>
      <p:sp>
        <p:nvSpPr>
          <p:cNvPr id="6" name="Text 3"/>
          <p:cNvSpPr txBox="1"/>
          <p:nvPr/>
        </p:nvSpPr>
        <p:spPr>
          <a:xfrm>
            <a:off x="731520" y="1920240"/>
            <a:ext cx="3200400" cy="365760"/>
          </a:xfrm>
          <a:prstGeom prst="rect">
            <a:avLst/>
          </a:prstGeom>
          <a:noFill/>
          <a:ln/>
        </p:spPr>
        <p:txBody>
          <a:bodyPr wrap="square" lIns="0" tIns="0" rIns="0" bIns="0" rtlCol="0" anchor="ctr"/>
          <a:lstStyle/>
          <a:p>
            <a:pPr algn="l" indent="0" marL="0">
              <a:buNone/>
            </a:pPr>
            <a:r>
              <a:rPr lang="en-US" sz="1200" dirty="0">
                <a:solidFill>
                  <a:schemeClr val="accent5"/>
                </a:solidFill>
              </a:rPr>
              <a:t>Ob/Gyn clinics · Pharmacies</a:t>
            </a:r>
            <a:endParaRPr lang="en-US" sz="1200" dirty="0"/>
          </a:p>
        </p:txBody>
      </p:sp>
      <p:pic>
        <p:nvPicPr>
          <p:cNvPr id="7" name="femarosa image" descr="preencoded.png">    </p:cNvPr>
          <p:cNvPicPr>
            <a:picLocks noChangeAspect="1"/>
          </p:cNvPicPr>
          <p:nvPr/>
        </p:nvPicPr>
        <p:blipFill>
          <a:blip r:embed="rId1"/>
          <a:stretch>
            <a:fillRect/>
          </a:stretch>
        </p:blipFill>
        <p:spPr>
          <a:xfrm>
            <a:off x="731520" y="2519274"/>
            <a:ext cx="1188720" cy="1407973"/>
          </a:xfrm>
          <a:prstGeom prst="rect">
            <a:avLst/>
          </a:prstGeom>
        </p:spPr>
      </p:pic>
      <p:sp>
        <p:nvSpPr>
          <p:cNvPr id="8" name="Text 4"/>
          <p:cNvSpPr txBox="1"/>
          <p:nvPr/>
        </p:nvSpPr>
        <p:spPr>
          <a:xfrm>
            <a:off x="2011680" y="2743200"/>
            <a:ext cx="1920240" cy="411480"/>
          </a:xfrm>
          <a:prstGeom prst="rect">
            <a:avLst/>
          </a:prstGeom>
          <a:noFill/>
          <a:ln/>
        </p:spPr>
        <p:txBody>
          <a:bodyPr wrap="square" lIns="0" tIns="0" rIns="0" bIns="0" rtlCol="0" anchor="ctr"/>
          <a:lstStyle/>
          <a:p>
            <a:pPr algn="l" indent="0" marL="0">
              <a:buNone/>
            </a:pPr>
            <a:r>
              <a:rPr lang="en-US" sz="1800" b="1" dirty="0">
                <a:solidFill>
                  <a:schemeClr val="tx1"/>
                </a:solidFill>
              </a:rPr>
              <a:t>Fem-Arosa</a:t>
            </a:r>
            <a:endParaRPr lang="en-US" sz="1800" dirty="0"/>
          </a:p>
        </p:txBody>
      </p:sp>
      <p:sp>
        <p:nvSpPr>
          <p:cNvPr id="9" name="Text 5"/>
          <p:cNvSpPr txBox="1"/>
          <p:nvPr/>
        </p:nvSpPr>
        <p:spPr>
          <a:xfrm>
            <a:off x="2011680" y="3200400"/>
            <a:ext cx="1920240" cy="640080"/>
          </a:xfrm>
          <a:prstGeom prst="rect">
            <a:avLst/>
          </a:prstGeom>
          <a:noFill/>
          <a:ln/>
        </p:spPr>
        <p:txBody>
          <a:bodyPr wrap="square" lIns="0" tIns="0" rIns="0" bIns="0" rtlCol="0" anchor="t"/>
          <a:lstStyle/>
          <a:p>
            <a:pPr algn="l" indent="0" marL="0">
              <a:buNone/>
            </a:pPr>
            <a:r>
              <a:rPr lang="en-US" sz="1300" dirty="0">
                <a:solidFill>
                  <a:schemeClr val="accent5"/>
                </a:solidFill>
              </a:rPr>
              <a:t>Food supplement · 30 ml drops</a:t>
            </a:r>
            <a:endParaRPr lang="en-US" sz="1300" dirty="0"/>
          </a:p>
        </p:txBody>
      </p:sp>
      <p:pic>
        <p:nvPicPr>
          <p:cNvPr id="10" name="femina image" descr="preencoded.png">    </p:cNvPr>
          <p:cNvPicPr>
            <a:picLocks noChangeAspect="1"/>
          </p:cNvPicPr>
          <p:nvPr/>
        </p:nvPicPr>
        <p:blipFill>
          <a:blip r:embed="rId2"/>
          <a:stretch>
            <a:fillRect/>
          </a:stretch>
        </p:blipFill>
        <p:spPr>
          <a:xfrm>
            <a:off x="812264" y="4206240"/>
            <a:ext cx="1027233" cy="1600200"/>
          </a:xfrm>
          <a:prstGeom prst="rect">
            <a:avLst/>
          </a:prstGeom>
        </p:spPr>
      </p:pic>
      <p:sp>
        <p:nvSpPr>
          <p:cNvPr id="11" name="Text 6"/>
          <p:cNvSpPr txBox="1"/>
          <p:nvPr/>
        </p:nvSpPr>
        <p:spPr>
          <a:xfrm>
            <a:off x="2011680" y="4526280"/>
            <a:ext cx="1920240" cy="411480"/>
          </a:xfrm>
          <a:prstGeom prst="rect">
            <a:avLst/>
          </a:prstGeom>
          <a:noFill/>
          <a:ln/>
        </p:spPr>
        <p:txBody>
          <a:bodyPr wrap="square" lIns="0" tIns="0" rIns="0" bIns="0" rtlCol="0" anchor="ctr"/>
          <a:lstStyle/>
          <a:p>
            <a:pPr algn="l" indent="0" marL="0">
              <a:buNone/>
            </a:pPr>
            <a:r>
              <a:rPr lang="en-US" sz="1800" b="1" dirty="0">
                <a:solidFill>
                  <a:schemeClr val="tx1"/>
                </a:solidFill>
              </a:rPr>
              <a:t>Femina</a:t>
            </a:r>
            <a:endParaRPr lang="en-US" sz="1800" dirty="0"/>
          </a:p>
        </p:txBody>
      </p:sp>
      <p:sp>
        <p:nvSpPr>
          <p:cNvPr id="12" name="Text 7"/>
          <p:cNvSpPr txBox="1"/>
          <p:nvPr/>
        </p:nvSpPr>
        <p:spPr>
          <a:xfrm>
            <a:off x="2011680" y="4983480"/>
            <a:ext cx="1920240" cy="640080"/>
          </a:xfrm>
          <a:prstGeom prst="rect">
            <a:avLst/>
          </a:prstGeom>
          <a:noFill/>
          <a:ln/>
        </p:spPr>
        <p:txBody>
          <a:bodyPr wrap="square" lIns="0" tIns="0" rIns="0" bIns="0" rtlCol="0" anchor="t"/>
          <a:lstStyle/>
          <a:p>
            <a:pPr algn="l" indent="0" marL="0">
              <a:buNone/>
            </a:pPr>
            <a:r>
              <a:rPr lang="en-US" sz="1300" dirty="0">
                <a:solidFill>
                  <a:schemeClr val="accent5"/>
                </a:solidFill>
              </a:rPr>
              <a:t>Intimate foaming cleanser · 200 ml</a:t>
            </a:r>
            <a:endParaRPr lang="en-US" sz="1300" dirty="0"/>
          </a:p>
        </p:txBody>
      </p:sp>
      <p:sp>
        <p:nvSpPr>
          <p:cNvPr id="13" name="Shape 8"/>
          <p:cNvSpPr/>
          <p:nvPr/>
        </p:nvSpPr>
        <p:spPr>
          <a:xfrm>
            <a:off x="4297680" y="1325880"/>
            <a:ext cx="3566160" cy="4754880"/>
          </a:xfrm>
          <a:prstGeom prst="roundRect">
            <a:avLst>
              <a:gd name="adj" fmla="val 3077"/>
            </a:avLst>
          </a:prstGeom>
          <a:solidFill>
            <a:schemeClr val="accent2">
              <a:alpha val="10000"/>
            </a:schemeClr>
          </a:solidFill>
          <a:ln w="9525">
            <a:solidFill>
              <a:schemeClr val="accent2">
                <a:alpha val="25000"/>
              </a:schemeClr>
            </a:solidFill>
            <a:prstDash val="solid"/>
          </a:ln>
        </p:spPr>
      </p:sp>
      <p:sp>
        <p:nvSpPr>
          <p:cNvPr id="14" name="Text 9"/>
          <p:cNvSpPr txBox="1"/>
          <p:nvPr/>
        </p:nvSpPr>
        <p:spPr>
          <a:xfrm>
            <a:off x="4480560" y="1463040"/>
            <a:ext cx="3200400" cy="457200"/>
          </a:xfrm>
          <a:prstGeom prst="rect">
            <a:avLst/>
          </a:prstGeom>
          <a:noFill/>
          <a:ln/>
        </p:spPr>
        <p:txBody>
          <a:bodyPr wrap="square" lIns="0" tIns="0" rIns="0" bIns="0" rtlCol="0" anchor="ctr"/>
          <a:lstStyle/>
          <a:p>
            <a:pPr algn="l" indent="0" marL="0">
              <a:buNone/>
            </a:pPr>
            <a:r>
              <a:rPr lang="en-US" sz="2000" b="1" dirty="0">
                <a:solidFill>
                  <a:schemeClr val="accent2"/>
                </a:solidFill>
              </a:rPr>
              <a:t>Dermatology &amp; Hair</a:t>
            </a:r>
            <a:endParaRPr lang="en-US" sz="2000" dirty="0"/>
          </a:p>
        </p:txBody>
      </p:sp>
      <p:sp>
        <p:nvSpPr>
          <p:cNvPr id="15" name="Text 10"/>
          <p:cNvSpPr txBox="1"/>
          <p:nvPr/>
        </p:nvSpPr>
        <p:spPr>
          <a:xfrm>
            <a:off x="4480560" y="1920240"/>
            <a:ext cx="3200400" cy="365760"/>
          </a:xfrm>
          <a:prstGeom prst="rect">
            <a:avLst/>
          </a:prstGeom>
          <a:noFill/>
          <a:ln/>
        </p:spPr>
        <p:txBody>
          <a:bodyPr wrap="square" lIns="0" tIns="0" rIns="0" bIns="0" rtlCol="0" anchor="ctr"/>
          <a:lstStyle/>
          <a:p>
            <a:pPr algn="l" indent="0" marL="0">
              <a:buNone/>
            </a:pPr>
            <a:r>
              <a:rPr lang="en-US" sz="1200" dirty="0">
                <a:solidFill>
                  <a:schemeClr val="accent5"/>
                </a:solidFill>
              </a:rPr>
              <a:t>Dermatology clinics · Pharmacies</a:t>
            </a:r>
            <a:endParaRPr lang="en-US" sz="1200" dirty="0"/>
          </a:p>
        </p:txBody>
      </p:sp>
      <p:pic>
        <p:nvPicPr>
          <p:cNvPr id="16" name="octo image" descr="preencoded.png">    </p:cNvPr>
          <p:cNvPicPr>
            <a:picLocks noChangeAspect="1"/>
          </p:cNvPicPr>
          <p:nvPr/>
        </p:nvPicPr>
        <p:blipFill>
          <a:blip r:embed="rId3"/>
          <a:stretch>
            <a:fillRect/>
          </a:stretch>
        </p:blipFill>
        <p:spPr>
          <a:xfrm>
            <a:off x="4491851" y="2423160"/>
            <a:ext cx="1166138" cy="1600200"/>
          </a:xfrm>
          <a:prstGeom prst="rect">
            <a:avLst/>
          </a:prstGeom>
        </p:spPr>
      </p:pic>
      <p:sp>
        <p:nvSpPr>
          <p:cNvPr id="17" name="Text 11"/>
          <p:cNvSpPr txBox="1"/>
          <p:nvPr/>
        </p:nvSpPr>
        <p:spPr>
          <a:xfrm>
            <a:off x="5760720" y="2743200"/>
            <a:ext cx="1920240" cy="411480"/>
          </a:xfrm>
          <a:prstGeom prst="rect">
            <a:avLst/>
          </a:prstGeom>
          <a:noFill/>
          <a:ln/>
        </p:spPr>
        <p:txBody>
          <a:bodyPr wrap="square" lIns="0" tIns="0" rIns="0" bIns="0" rtlCol="0" anchor="ctr"/>
          <a:lstStyle/>
          <a:p>
            <a:pPr algn="l" indent="0" marL="0">
              <a:buNone/>
            </a:pPr>
            <a:r>
              <a:rPr lang="en-US" sz="1800" b="1" dirty="0">
                <a:solidFill>
                  <a:schemeClr val="tx1"/>
                </a:solidFill>
              </a:rPr>
              <a:t>Octo</a:t>
            </a:r>
            <a:endParaRPr lang="en-US" sz="1800" dirty="0"/>
          </a:p>
        </p:txBody>
      </p:sp>
      <p:sp>
        <p:nvSpPr>
          <p:cNvPr id="18" name="Text 12"/>
          <p:cNvSpPr txBox="1"/>
          <p:nvPr/>
        </p:nvSpPr>
        <p:spPr>
          <a:xfrm>
            <a:off x="5760720" y="3200400"/>
            <a:ext cx="1920240" cy="640080"/>
          </a:xfrm>
          <a:prstGeom prst="rect">
            <a:avLst/>
          </a:prstGeom>
          <a:noFill/>
          <a:ln/>
        </p:spPr>
        <p:txBody>
          <a:bodyPr wrap="square" lIns="0" tIns="0" rIns="0" bIns="0" rtlCol="0" anchor="t"/>
          <a:lstStyle/>
          <a:p>
            <a:pPr algn="l" indent="0" marL="0">
              <a:buNone/>
            </a:pPr>
            <a:r>
              <a:rPr lang="en-US" sz="1300" dirty="0">
                <a:solidFill>
                  <a:schemeClr val="accent5"/>
                </a:solidFill>
              </a:rPr>
              <a:t>Anti-dandruff shampoo · 200 ml</a:t>
            </a:r>
            <a:endParaRPr lang="en-US" sz="1300" dirty="0"/>
          </a:p>
        </p:txBody>
      </p:sp>
      <p:pic>
        <p:nvPicPr>
          <p:cNvPr id="19" name="epanthen image" descr="preencoded.png">    </p:cNvPr>
          <p:cNvPicPr>
            <a:picLocks noChangeAspect="1"/>
          </p:cNvPicPr>
          <p:nvPr/>
        </p:nvPicPr>
        <p:blipFill>
          <a:blip r:embed="rId4"/>
          <a:stretch>
            <a:fillRect/>
          </a:stretch>
        </p:blipFill>
        <p:spPr>
          <a:xfrm>
            <a:off x="4480560" y="4418584"/>
            <a:ext cx="1188720" cy="1175512"/>
          </a:xfrm>
          <a:prstGeom prst="rect">
            <a:avLst/>
          </a:prstGeom>
        </p:spPr>
      </p:pic>
      <p:sp>
        <p:nvSpPr>
          <p:cNvPr id="20" name="Text 13"/>
          <p:cNvSpPr txBox="1"/>
          <p:nvPr/>
        </p:nvSpPr>
        <p:spPr>
          <a:xfrm>
            <a:off x="5760720" y="4526280"/>
            <a:ext cx="1920240" cy="411480"/>
          </a:xfrm>
          <a:prstGeom prst="rect">
            <a:avLst/>
          </a:prstGeom>
          <a:noFill/>
          <a:ln/>
        </p:spPr>
        <p:txBody>
          <a:bodyPr wrap="square" lIns="0" tIns="0" rIns="0" bIns="0" rtlCol="0" anchor="ctr"/>
          <a:lstStyle/>
          <a:p>
            <a:pPr algn="l" indent="0" marL="0">
              <a:buNone/>
            </a:pPr>
            <a:r>
              <a:rPr lang="en-US" sz="1800" b="1" dirty="0">
                <a:solidFill>
                  <a:schemeClr val="tx1"/>
                </a:solidFill>
              </a:rPr>
              <a:t>E-Panthen</a:t>
            </a:r>
            <a:endParaRPr lang="en-US" sz="1800" dirty="0"/>
          </a:p>
        </p:txBody>
      </p:sp>
      <p:sp>
        <p:nvSpPr>
          <p:cNvPr id="21" name="Text 14"/>
          <p:cNvSpPr txBox="1"/>
          <p:nvPr/>
        </p:nvSpPr>
        <p:spPr>
          <a:xfrm>
            <a:off x="5760720" y="4983480"/>
            <a:ext cx="1920240" cy="640080"/>
          </a:xfrm>
          <a:prstGeom prst="rect">
            <a:avLst/>
          </a:prstGeom>
          <a:noFill/>
          <a:ln/>
        </p:spPr>
        <p:txBody>
          <a:bodyPr wrap="square" lIns="0" tIns="0" rIns="0" bIns="0" rtlCol="0" anchor="t"/>
          <a:lstStyle/>
          <a:p>
            <a:pPr algn="l" indent="0" marL="0">
              <a:buNone/>
            </a:pPr>
            <a:r>
              <a:rPr lang="en-US" sz="1300" dirty="0">
                <a:solidFill>
                  <a:schemeClr val="accent5"/>
                </a:solidFill>
              </a:rPr>
              <a:t>Moisturizing cream · 40 g</a:t>
            </a:r>
            <a:endParaRPr lang="en-US" sz="1300" dirty="0"/>
          </a:p>
        </p:txBody>
      </p:sp>
      <p:sp>
        <p:nvSpPr>
          <p:cNvPr id="22" name="Shape 15"/>
          <p:cNvSpPr/>
          <p:nvPr/>
        </p:nvSpPr>
        <p:spPr>
          <a:xfrm>
            <a:off x="8046720" y="1325880"/>
            <a:ext cx="3566160" cy="4754880"/>
          </a:xfrm>
          <a:prstGeom prst="roundRect">
            <a:avLst>
              <a:gd name="adj" fmla="val 3077"/>
            </a:avLst>
          </a:prstGeom>
          <a:solidFill>
            <a:schemeClr val="accent3">
              <a:alpha val="10000"/>
            </a:schemeClr>
          </a:solidFill>
          <a:ln w="9525">
            <a:solidFill>
              <a:schemeClr val="accent3">
                <a:alpha val="25000"/>
              </a:schemeClr>
            </a:solidFill>
            <a:prstDash val="solid"/>
          </a:ln>
        </p:spPr>
      </p:sp>
      <p:sp>
        <p:nvSpPr>
          <p:cNvPr id="23" name="Text 16"/>
          <p:cNvSpPr txBox="1"/>
          <p:nvPr/>
        </p:nvSpPr>
        <p:spPr>
          <a:xfrm>
            <a:off x="8229600" y="1463040"/>
            <a:ext cx="3200400" cy="457200"/>
          </a:xfrm>
          <a:prstGeom prst="rect">
            <a:avLst/>
          </a:prstGeom>
          <a:noFill/>
          <a:ln/>
        </p:spPr>
        <p:txBody>
          <a:bodyPr wrap="square" lIns="0" tIns="0" rIns="0" bIns="0" rtlCol="0" anchor="ctr"/>
          <a:lstStyle/>
          <a:p>
            <a:pPr algn="l" indent="0" marL="0">
              <a:buNone/>
            </a:pPr>
            <a:r>
              <a:rPr lang="en-US" sz="2000" b="1" dirty="0">
                <a:solidFill>
                  <a:schemeClr val="accent3"/>
                </a:solidFill>
              </a:rPr>
              <a:t>Cracked &amp; Irritated Skin</a:t>
            </a:r>
            <a:endParaRPr lang="en-US" sz="2000" dirty="0"/>
          </a:p>
        </p:txBody>
      </p:sp>
      <p:sp>
        <p:nvSpPr>
          <p:cNvPr id="24" name="Text 17"/>
          <p:cNvSpPr txBox="1"/>
          <p:nvPr/>
        </p:nvSpPr>
        <p:spPr>
          <a:xfrm>
            <a:off x="8229600" y="1920240"/>
            <a:ext cx="3200400" cy="365760"/>
          </a:xfrm>
          <a:prstGeom prst="rect">
            <a:avLst/>
          </a:prstGeom>
          <a:noFill/>
          <a:ln/>
        </p:spPr>
        <p:txBody>
          <a:bodyPr wrap="square" lIns="0" tIns="0" rIns="0" bIns="0" rtlCol="0" anchor="ctr"/>
          <a:lstStyle/>
          <a:p>
            <a:pPr algn="l" indent="0" marL="0">
              <a:buNone/>
            </a:pPr>
            <a:r>
              <a:rPr lang="en-US" sz="1200" dirty="0">
                <a:solidFill>
                  <a:schemeClr val="accent5"/>
                </a:solidFill>
              </a:rPr>
              <a:t>Dermatology · Gyn · Pediatrics · Surgery</a:t>
            </a:r>
            <a:endParaRPr lang="en-US" sz="1200" dirty="0"/>
          </a:p>
        </p:txBody>
      </p:sp>
      <p:pic>
        <p:nvPicPr>
          <p:cNvPr id="25" name="mebonol image" descr="preencoded.png">    </p:cNvPr>
          <p:cNvPicPr>
            <a:picLocks noChangeAspect="1"/>
          </p:cNvPicPr>
          <p:nvPr/>
        </p:nvPicPr>
        <p:blipFill>
          <a:blip r:embed="rId5"/>
          <a:stretch>
            <a:fillRect/>
          </a:stretch>
        </p:blipFill>
        <p:spPr>
          <a:xfrm>
            <a:off x="8229600" y="2984195"/>
            <a:ext cx="1188720" cy="478130"/>
          </a:xfrm>
          <a:prstGeom prst="rect">
            <a:avLst/>
          </a:prstGeom>
        </p:spPr>
      </p:pic>
      <p:sp>
        <p:nvSpPr>
          <p:cNvPr id="26" name="Text 18"/>
          <p:cNvSpPr txBox="1"/>
          <p:nvPr/>
        </p:nvSpPr>
        <p:spPr>
          <a:xfrm>
            <a:off x="9509760" y="2743200"/>
            <a:ext cx="1920240" cy="411480"/>
          </a:xfrm>
          <a:prstGeom prst="rect">
            <a:avLst/>
          </a:prstGeom>
          <a:noFill/>
          <a:ln/>
        </p:spPr>
        <p:txBody>
          <a:bodyPr wrap="square" lIns="0" tIns="0" rIns="0" bIns="0" rtlCol="0" anchor="ctr"/>
          <a:lstStyle/>
          <a:p>
            <a:pPr algn="l" indent="0" marL="0">
              <a:buNone/>
            </a:pPr>
            <a:r>
              <a:rPr lang="en-US" sz="1800" b="1" dirty="0">
                <a:solidFill>
                  <a:schemeClr val="tx1"/>
                </a:solidFill>
              </a:rPr>
              <a:t>Mebonol</a:t>
            </a:r>
            <a:endParaRPr lang="en-US" sz="1800" dirty="0"/>
          </a:p>
        </p:txBody>
      </p:sp>
      <p:sp>
        <p:nvSpPr>
          <p:cNvPr id="27" name="Text 19"/>
          <p:cNvSpPr txBox="1"/>
          <p:nvPr/>
        </p:nvSpPr>
        <p:spPr>
          <a:xfrm>
            <a:off x="9509760" y="3200400"/>
            <a:ext cx="1920240" cy="640080"/>
          </a:xfrm>
          <a:prstGeom prst="rect">
            <a:avLst/>
          </a:prstGeom>
          <a:noFill/>
          <a:ln/>
        </p:spPr>
        <p:txBody>
          <a:bodyPr wrap="square" lIns="0" tIns="0" rIns="0" bIns="0" rtlCol="0" anchor="t"/>
          <a:lstStyle/>
          <a:p>
            <a:pPr algn="l" indent="0" marL="0">
              <a:buNone/>
            </a:pPr>
            <a:r>
              <a:rPr lang="en-US" sz="1300" dirty="0">
                <a:solidFill>
                  <a:schemeClr val="accent5"/>
                </a:solidFill>
              </a:rPr>
              <a:t>Liposome cream · 40 g</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6492240" cy="1097280"/>
          </a:xfrm>
          <a:prstGeom prst="rect">
            <a:avLst/>
          </a:prstGeom>
          <a:noFill/>
          <a:ln/>
        </p:spPr>
        <p:txBody>
          <a:bodyPr wrap="square" rtlCol="0" anchor="b"/>
          <a:lstStyle/>
          <a:p>
            <a:pPr algn="l" indent="0" marL="0">
              <a:buNone/>
            </a:pPr>
            <a:r>
              <a:rPr lang="en-US" sz="4400" b="1" dirty="0">
                <a:solidFill>
                  <a:schemeClr val="bg1"/>
                </a:solidFill>
              </a:rPr>
              <a:t>Women's Health</a:t>
            </a:r>
            <a:endParaRPr lang="en-US" sz="4400" dirty="0"/>
          </a:p>
        </p:txBody>
      </p:sp>
      <p:sp>
        <p:nvSpPr>
          <p:cNvPr id="3" name="Text 1"/>
          <p:cNvSpPr txBox="1"/>
          <p:nvPr/>
        </p:nvSpPr>
        <p:spPr>
          <a:xfrm>
            <a:off x="548640" y="3383280"/>
            <a:ext cx="6492240" cy="914400"/>
          </a:xfrm>
          <a:prstGeom prst="rect">
            <a:avLst/>
          </a:prstGeom>
          <a:noFill/>
          <a:ln/>
        </p:spPr>
        <p:txBody>
          <a:bodyPr wrap="square" rtlCol="0" anchor="t"/>
          <a:lstStyle/>
          <a:p>
            <a:pPr algn="l" indent="0" marL="0">
              <a:buNone/>
            </a:pPr>
            <a:r>
              <a:rPr lang="en-US" sz="2000" dirty="0">
                <a:solidFill>
                  <a:schemeClr val="bg1"/>
                </a:solidFill>
              </a:rPr>
              <a:t>Fem-Arosa and Femina — two complementary products for the same Ob/Gyn visit</a:t>
            </a:r>
            <a:endParaRPr lang="en-US" sz="2000" dirty="0"/>
          </a:p>
        </p:txBody>
      </p:sp>
      <p:sp>
        <p:nvSpPr>
          <p:cNvPr id="4" name="Shape 2"/>
          <p:cNvSpPr/>
          <p:nvPr/>
        </p:nvSpPr>
        <p:spPr>
          <a:xfrm>
            <a:off x="7406640" y="822960"/>
            <a:ext cx="4206240" cy="5212080"/>
          </a:xfrm>
          <a:prstGeom prst="roundRect">
            <a:avLst>
              <a:gd name="adj" fmla="val 5435"/>
            </a:avLst>
          </a:prstGeom>
          <a:solidFill>
            <a:schemeClr val="bg1"/>
          </a:solidFill>
          <a:ln w="12700">
            <a:solidFill>
              <a:schemeClr val="bg1"/>
            </a:solidFill>
            <a:prstDash val="solid"/>
          </a:ln>
        </p:spPr>
      </p:sp>
      <p:pic>
        <p:nvPicPr>
          <p:cNvPr id="5" name="femarosa image" descr="preencoded.png">    </p:cNvPr>
          <p:cNvPicPr>
            <a:picLocks noChangeAspect="1"/>
          </p:cNvPicPr>
          <p:nvPr/>
        </p:nvPicPr>
        <p:blipFill>
          <a:blip r:embed="rId1"/>
          <a:stretch>
            <a:fillRect/>
          </a:stretch>
        </p:blipFill>
        <p:spPr>
          <a:xfrm>
            <a:off x="7589520" y="2345944"/>
            <a:ext cx="1828800" cy="2166112"/>
          </a:xfrm>
          <a:prstGeom prst="rect">
            <a:avLst/>
          </a:prstGeom>
        </p:spPr>
      </p:pic>
      <p:pic>
        <p:nvPicPr>
          <p:cNvPr id="6" name="femina image" descr="preencoded.png">    </p:cNvPr>
          <p:cNvPicPr>
            <a:picLocks noChangeAspect="1"/>
          </p:cNvPicPr>
          <p:nvPr/>
        </p:nvPicPr>
        <p:blipFill>
          <a:blip r:embed="rId2"/>
          <a:stretch>
            <a:fillRect/>
          </a:stretch>
        </p:blipFill>
        <p:spPr>
          <a:xfrm>
            <a:off x="9509760" y="2004568"/>
            <a:ext cx="1828800" cy="28488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Fem-Arosa — product profile</a:t>
            </a:r>
            <a:endParaRPr lang="en-US" sz="3200" dirty="0"/>
          </a:p>
        </p:txBody>
      </p:sp>
      <p:pic>
        <p:nvPicPr>
          <p:cNvPr id="4" name="femarosa image" descr="preencoded.png">    </p:cNvPr>
          <p:cNvPicPr>
            <a:picLocks noChangeAspect="1"/>
          </p:cNvPicPr>
          <p:nvPr/>
        </p:nvPicPr>
        <p:blipFill>
          <a:blip r:embed="rId1"/>
          <a:stretch>
            <a:fillRect/>
          </a:stretch>
        </p:blipFill>
        <p:spPr>
          <a:xfrm>
            <a:off x="548640" y="1491488"/>
            <a:ext cx="3657600" cy="4332224"/>
          </a:xfrm>
          <a:prstGeom prst="rect">
            <a:avLst/>
          </a:prstGeom>
        </p:spPr>
      </p:pic>
      <p:sp>
        <p:nvSpPr>
          <p:cNvPr id="5" name="Shape 1"/>
          <p:cNvSpPr/>
          <p:nvPr/>
        </p:nvSpPr>
        <p:spPr>
          <a:xfrm>
            <a:off x="4572000" y="1325880"/>
            <a:ext cx="7040880" cy="457200"/>
          </a:xfrm>
          <a:prstGeom prst="rect">
            <a:avLst/>
          </a:prstGeom>
          <a:solidFill>
            <a:schemeClr val="accent1">
              <a:alpha val="7000"/>
            </a:schemeClr>
          </a:solidFill>
          <a:ln w="12700">
            <a:solidFill>
              <a:schemeClr val="accent1">
                <a:alpha val="0"/>
              </a:schemeClr>
            </a:solidFill>
            <a:prstDash val="solid"/>
          </a:ln>
        </p:spPr>
      </p:sp>
      <p:sp>
        <p:nvSpPr>
          <p:cNvPr id="6" name="Text 2"/>
          <p:cNvSpPr txBox="1"/>
          <p:nvPr/>
        </p:nvSpPr>
        <p:spPr>
          <a:xfrm>
            <a:off x="4663440" y="13258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Brand name</a:t>
            </a:r>
            <a:endParaRPr lang="en-US" sz="1300" dirty="0"/>
          </a:p>
        </p:txBody>
      </p:sp>
      <p:sp>
        <p:nvSpPr>
          <p:cNvPr id="7" name="Text 3"/>
          <p:cNvSpPr txBox="1"/>
          <p:nvPr/>
        </p:nvSpPr>
        <p:spPr>
          <a:xfrm>
            <a:off x="6858000" y="1325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Dr. Organic Fem-Arosa</a:t>
            </a:r>
            <a:endParaRPr lang="en-US" sz="1300" dirty="0"/>
          </a:p>
        </p:txBody>
      </p:sp>
      <p:sp>
        <p:nvSpPr>
          <p:cNvPr id="8" name="Text 4"/>
          <p:cNvSpPr txBox="1"/>
          <p:nvPr/>
        </p:nvSpPr>
        <p:spPr>
          <a:xfrm>
            <a:off x="4663440" y="17830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Category</a:t>
            </a:r>
            <a:endParaRPr lang="en-US" sz="1300" dirty="0"/>
          </a:p>
        </p:txBody>
      </p:sp>
      <p:sp>
        <p:nvSpPr>
          <p:cNvPr id="9" name="Text 5"/>
          <p:cNvSpPr txBox="1"/>
          <p:nvPr/>
        </p:nvSpPr>
        <p:spPr>
          <a:xfrm>
            <a:off x="6858000" y="1783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Food supplement</a:t>
            </a:r>
            <a:endParaRPr lang="en-US" sz="1300" dirty="0"/>
          </a:p>
        </p:txBody>
      </p:sp>
      <p:sp>
        <p:nvSpPr>
          <p:cNvPr id="10" name="Shape 6"/>
          <p:cNvSpPr/>
          <p:nvPr/>
        </p:nvSpPr>
        <p:spPr>
          <a:xfrm>
            <a:off x="4572000" y="2240280"/>
            <a:ext cx="7040880" cy="457200"/>
          </a:xfrm>
          <a:prstGeom prst="rect">
            <a:avLst/>
          </a:prstGeom>
          <a:solidFill>
            <a:schemeClr val="accent1">
              <a:alpha val="7000"/>
            </a:schemeClr>
          </a:solidFill>
          <a:ln w="12700">
            <a:solidFill>
              <a:schemeClr val="accent1">
                <a:alpha val="0"/>
              </a:schemeClr>
            </a:solidFill>
            <a:prstDash val="solid"/>
          </a:ln>
        </p:spPr>
      </p:sp>
      <p:sp>
        <p:nvSpPr>
          <p:cNvPr id="11" name="Text 7"/>
          <p:cNvSpPr txBox="1"/>
          <p:nvPr/>
        </p:nvSpPr>
        <p:spPr>
          <a:xfrm>
            <a:off x="4663440" y="22402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Form &amp; size</a:t>
            </a:r>
            <a:endParaRPr lang="en-US" sz="1300" dirty="0"/>
          </a:p>
        </p:txBody>
      </p:sp>
      <p:sp>
        <p:nvSpPr>
          <p:cNvPr id="12" name="Text 8"/>
          <p:cNvSpPr txBox="1"/>
          <p:nvPr/>
        </p:nvSpPr>
        <p:spPr>
          <a:xfrm>
            <a:off x="6858000" y="2240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Drops · 30 ml</a:t>
            </a:r>
            <a:endParaRPr lang="en-US" sz="1300" dirty="0"/>
          </a:p>
        </p:txBody>
      </p:sp>
      <p:sp>
        <p:nvSpPr>
          <p:cNvPr id="13" name="Text 9"/>
          <p:cNvSpPr txBox="1"/>
          <p:nvPr/>
        </p:nvSpPr>
        <p:spPr>
          <a:xfrm>
            <a:off x="4663440" y="26974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Flavour</a:t>
            </a:r>
            <a:endParaRPr lang="en-US" sz="1300" dirty="0"/>
          </a:p>
        </p:txBody>
      </p:sp>
      <p:sp>
        <p:nvSpPr>
          <p:cNvPr id="14" name="Text 10"/>
          <p:cNvSpPr txBox="1"/>
          <p:nvPr/>
        </p:nvSpPr>
        <p:spPr>
          <a:xfrm>
            <a:off x="6858000" y="2697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Natural mixed berry</a:t>
            </a:r>
            <a:endParaRPr lang="en-US" sz="1300" dirty="0"/>
          </a:p>
        </p:txBody>
      </p:sp>
      <p:sp>
        <p:nvSpPr>
          <p:cNvPr id="15" name="Shape 11"/>
          <p:cNvSpPr/>
          <p:nvPr/>
        </p:nvSpPr>
        <p:spPr>
          <a:xfrm>
            <a:off x="4572000" y="3154680"/>
            <a:ext cx="7040880" cy="457200"/>
          </a:xfrm>
          <a:prstGeom prst="rect">
            <a:avLst/>
          </a:prstGeom>
          <a:solidFill>
            <a:schemeClr val="accent1">
              <a:alpha val="7000"/>
            </a:schemeClr>
          </a:solidFill>
          <a:ln w="12700">
            <a:solidFill>
              <a:schemeClr val="accent1">
                <a:alpha val="0"/>
              </a:schemeClr>
            </a:solidFill>
            <a:prstDash val="solid"/>
          </a:ln>
        </p:spPr>
      </p:sp>
      <p:sp>
        <p:nvSpPr>
          <p:cNvPr id="16" name="Text 12"/>
          <p:cNvSpPr txBox="1"/>
          <p:nvPr/>
        </p:nvSpPr>
        <p:spPr>
          <a:xfrm>
            <a:off x="4663440" y="31546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Age group</a:t>
            </a:r>
            <a:endParaRPr lang="en-US" sz="1300" dirty="0"/>
          </a:p>
        </p:txBody>
      </p:sp>
      <p:sp>
        <p:nvSpPr>
          <p:cNvPr id="17" name="Text 13"/>
          <p:cNvSpPr txBox="1"/>
          <p:nvPr/>
        </p:nvSpPr>
        <p:spPr>
          <a:xfrm>
            <a:off x="6858000" y="3154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Women over 18 years</a:t>
            </a:r>
            <a:endParaRPr lang="en-US" sz="1300" dirty="0"/>
          </a:p>
        </p:txBody>
      </p:sp>
      <p:sp>
        <p:nvSpPr>
          <p:cNvPr id="18" name="Text 14"/>
          <p:cNvSpPr txBox="1"/>
          <p:nvPr/>
        </p:nvSpPr>
        <p:spPr>
          <a:xfrm>
            <a:off x="4663440" y="36118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SFDA reg.</a:t>
            </a:r>
            <a:endParaRPr lang="en-US" sz="1300" dirty="0"/>
          </a:p>
        </p:txBody>
      </p:sp>
      <p:sp>
        <p:nvSpPr>
          <p:cNvPr id="19" name="Text 15"/>
          <p:cNvSpPr txBox="1"/>
          <p:nvPr/>
        </p:nvSpPr>
        <p:spPr>
          <a:xfrm>
            <a:off x="6858000" y="3611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FOM-24-56091-FOP-110126-10077-C-12688-5160</a:t>
            </a:r>
            <a:endParaRPr lang="en-US" sz="1300" dirty="0"/>
          </a:p>
        </p:txBody>
      </p:sp>
      <p:sp>
        <p:nvSpPr>
          <p:cNvPr id="20" name="Shape 16"/>
          <p:cNvSpPr/>
          <p:nvPr/>
        </p:nvSpPr>
        <p:spPr>
          <a:xfrm>
            <a:off x="4572000" y="4069080"/>
            <a:ext cx="7040880" cy="457200"/>
          </a:xfrm>
          <a:prstGeom prst="rect">
            <a:avLst/>
          </a:prstGeom>
          <a:solidFill>
            <a:schemeClr val="accent1">
              <a:alpha val="7000"/>
            </a:schemeClr>
          </a:solidFill>
          <a:ln w="12700">
            <a:solidFill>
              <a:schemeClr val="accent1">
                <a:alpha val="0"/>
              </a:schemeClr>
            </a:solidFill>
            <a:prstDash val="solid"/>
          </a:ln>
        </p:spPr>
      </p:sp>
      <p:sp>
        <p:nvSpPr>
          <p:cNvPr id="21" name="Text 17"/>
          <p:cNvSpPr txBox="1"/>
          <p:nvPr/>
        </p:nvSpPr>
        <p:spPr>
          <a:xfrm>
            <a:off x="4663440" y="40690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Barcode</a:t>
            </a:r>
            <a:endParaRPr lang="en-US" sz="1300" dirty="0"/>
          </a:p>
        </p:txBody>
      </p:sp>
      <p:sp>
        <p:nvSpPr>
          <p:cNvPr id="22" name="Text 18"/>
          <p:cNvSpPr txBox="1"/>
          <p:nvPr/>
        </p:nvSpPr>
        <p:spPr>
          <a:xfrm>
            <a:off x="6858000" y="4069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00762497361537</a:t>
            </a:r>
            <a:endParaRPr lang="en-US" sz="1300" dirty="0"/>
          </a:p>
        </p:txBody>
      </p:sp>
      <p:sp>
        <p:nvSpPr>
          <p:cNvPr id="23" name="Text 19"/>
          <p:cNvSpPr txBox="1"/>
          <p:nvPr/>
        </p:nvSpPr>
        <p:spPr>
          <a:xfrm>
            <a:off x="4663440" y="45262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Shelf life &amp; storage</a:t>
            </a:r>
            <a:endParaRPr lang="en-US" sz="1300" dirty="0"/>
          </a:p>
        </p:txBody>
      </p:sp>
      <p:sp>
        <p:nvSpPr>
          <p:cNvPr id="24" name="Text 20"/>
          <p:cNvSpPr txBox="1"/>
          <p:nvPr/>
        </p:nvSpPr>
        <p:spPr>
          <a:xfrm>
            <a:off x="6858000" y="4526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24 months · below 25°C</a:t>
            </a:r>
            <a:endParaRPr lang="en-US" sz="1300" dirty="0"/>
          </a:p>
        </p:txBody>
      </p:sp>
      <p:sp>
        <p:nvSpPr>
          <p:cNvPr id="25" name="Shape 21"/>
          <p:cNvSpPr/>
          <p:nvPr/>
        </p:nvSpPr>
        <p:spPr>
          <a:xfrm>
            <a:off x="4572000" y="4983480"/>
            <a:ext cx="7040880" cy="457200"/>
          </a:xfrm>
          <a:prstGeom prst="rect">
            <a:avLst/>
          </a:prstGeom>
          <a:solidFill>
            <a:schemeClr val="accent1">
              <a:alpha val="7000"/>
            </a:schemeClr>
          </a:solidFill>
          <a:ln w="12700">
            <a:solidFill>
              <a:schemeClr val="accent1">
                <a:alpha val="0"/>
              </a:schemeClr>
            </a:solidFill>
            <a:prstDash val="solid"/>
          </a:ln>
        </p:spPr>
      </p:sp>
      <p:sp>
        <p:nvSpPr>
          <p:cNvPr id="26" name="Text 22"/>
          <p:cNvSpPr txBox="1"/>
          <p:nvPr/>
        </p:nvSpPr>
        <p:spPr>
          <a:xfrm>
            <a:off x="4663440" y="49834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Manufacturer</a:t>
            </a:r>
            <a:endParaRPr lang="en-US" sz="1300" dirty="0"/>
          </a:p>
        </p:txBody>
      </p:sp>
      <p:sp>
        <p:nvSpPr>
          <p:cNvPr id="27" name="Text 23"/>
          <p:cNvSpPr txBox="1"/>
          <p:nvPr/>
        </p:nvSpPr>
        <p:spPr>
          <a:xfrm>
            <a:off x="6858000" y="4983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ASTRIX PHARMA — Al-Kharj, Saudi Arabia</a:t>
            </a:r>
            <a:endParaRPr lang="en-US" sz="1300" dirty="0"/>
          </a:p>
        </p:txBody>
      </p:sp>
      <p:sp>
        <p:nvSpPr>
          <p:cNvPr id="28" name="Text 24"/>
          <p:cNvSpPr txBox="1"/>
          <p:nvPr/>
        </p:nvSpPr>
        <p:spPr>
          <a:xfrm>
            <a:off x="4663440" y="54406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Public price</a:t>
            </a:r>
            <a:endParaRPr lang="en-US" sz="1300" dirty="0"/>
          </a:p>
        </p:txBody>
      </p:sp>
      <p:sp>
        <p:nvSpPr>
          <p:cNvPr id="29" name="Text 25"/>
          <p:cNvSpPr txBox="1"/>
          <p:nvPr/>
        </p:nvSpPr>
        <p:spPr>
          <a:xfrm>
            <a:off x="6858000" y="5440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SAR 49 (excl. VAT)</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Fem-Arosa — 12 active ingredients and their roles</a:t>
            </a:r>
            <a:endParaRPr lang="en-US" sz="3200" dirty="0"/>
          </a:p>
        </p:txBody>
      </p:sp>
      <p:sp>
        <p:nvSpPr>
          <p:cNvPr id="4" name="Shape 1"/>
          <p:cNvSpPr/>
          <p:nvPr/>
        </p:nvSpPr>
        <p:spPr>
          <a:xfrm>
            <a:off x="548640" y="132588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5" name="Shape 2"/>
          <p:cNvSpPr/>
          <p:nvPr/>
        </p:nvSpPr>
        <p:spPr>
          <a:xfrm>
            <a:off x="713232" y="1490472"/>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1323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98448" y="1435608"/>
            <a:ext cx="2697480" cy="548640"/>
          </a:xfrm>
          <a:prstGeom prst="rect">
            <a:avLst/>
          </a:prstGeom>
          <a:noFill/>
          <a:ln/>
        </p:spPr>
        <p:txBody>
          <a:bodyPr wrap="square" lIns="0" tIns="0" rIns="0" bIns="0" rtlCol="0" anchor="ctr"/>
          <a:lstStyle/>
          <a:p>
            <a:pPr algn="l" indent="0" marL="0">
              <a:buNone/>
            </a:pPr>
            <a:r>
              <a:rPr lang="en-US" sz="1500" b="1" dirty="0">
                <a:solidFill>
                  <a:schemeClr val="accent1"/>
                </a:solidFill>
              </a:rPr>
              <a:t>L-Arginine</a:t>
            </a:r>
            <a:endParaRPr lang="en-US" sz="1500" dirty="0"/>
          </a:p>
        </p:txBody>
      </p:sp>
      <p:sp>
        <p:nvSpPr>
          <p:cNvPr id="8" name="Text 5"/>
          <p:cNvSpPr txBox="1"/>
          <p:nvPr/>
        </p:nvSpPr>
        <p:spPr>
          <a:xfrm>
            <a:off x="731520" y="2039112"/>
            <a:ext cx="3200400" cy="143560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Amino acid; precursor of nitric oxide, which relaxes blood vessels and supports blood flow.</a:t>
            </a:r>
            <a:endParaRPr lang="en-US" sz="1500" dirty="0"/>
          </a:p>
        </p:txBody>
      </p:sp>
      <p:sp>
        <p:nvSpPr>
          <p:cNvPr id="9" name="Shape 6"/>
          <p:cNvSpPr/>
          <p:nvPr/>
        </p:nvSpPr>
        <p:spPr>
          <a:xfrm>
            <a:off x="4297680" y="132588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10" name="Shape 7"/>
          <p:cNvSpPr/>
          <p:nvPr/>
        </p:nvSpPr>
        <p:spPr>
          <a:xfrm>
            <a:off x="4462272" y="1490472"/>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446227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047488" y="1435608"/>
            <a:ext cx="2697480" cy="548640"/>
          </a:xfrm>
          <a:prstGeom prst="rect">
            <a:avLst/>
          </a:prstGeom>
          <a:noFill/>
          <a:ln/>
        </p:spPr>
        <p:txBody>
          <a:bodyPr wrap="square" lIns="0" tIns="0" rIns="0" bIns="0" rtlCol="0" anchor="ctr"/>
          <a:lstStyle/>
          <a:p>
            <a:pPr algn="l" indent="0" marL="0">
              <a:buNone/>
            </a:pPr>
            <a:r>
              <a:rPr lang="en-US" sz="1500" b="1" dirty="0">
                <a:solidFill>
                  <a:schemeClr val="accent1"/>
                </a:solidFill>
              </a:rPr>
              <a:t>Maca · Damiana · Muira Puama</a:t>
            </a:r>
            <a:endParaRPr lang="en-US" sz="1500" dirty="0"/>
          </a:p>
        </p:txBody>
      </p:sp>
      <p:sp>
        <p:nvSpPr>
          <p:cNvPr id="13" name="Text 10"/>
          <p:cNvSpPr txBox="1"/>
          <p:nvPr/>
        </p:nvSpPr>
        <p:spPr>
          <a:xfrm>
            <a:off x="4480560" y="2039112"/>
            <a:ext cx="3200400" cy="143560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Traditional botanicals used to support vitality and desire in women.</a:t>
            </a:r>
            <a:endParaRPr lang="en-US" sz="1500" dirty="0"/>
          </a:p>
        </p:txBody>
      </p:sp>
      <p:sp>
        <p:nvSpPr>
          <p:cNvPr id="14" name="Shape 11"/>
          <p:cNvSpPr/>
          <p:nvPr/>
        </p:nvSpPr>
        <p:spPr>
          <a:xfrm>
            <a:off x="8046720" y="132588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15" name="Shape 12"/>
          <p:cNvSpPr/>
          <p:nvPr/>
        </p:nvSpPr>
        <p:spPr>
          <a:xfrm>
            <a:off x="8211312" y="1490472"/>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821131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796528" y="1435608"/>
            <a:ext cx="2697480" cy="548640"/>
          </a:xfrm>
          <a:prstGeom prst="rect">
            <a:avLst/>
          </a:prstGeom>
          <a:noFill/>
          <a:ln/>
        </p:spPr>
        <p:txBody>
          <a:bodyPr wrap="square" lIns="0" tIns="0" rIns="0" bIns="0" rtlCol="0" anchor="ctr"/>
          <a:lstStyle/>
          <a:p>
            <a:pPr algn="l" indent="0" marL="0">
              <a:buNone/>
            </a:pPr>
            <a:r>
              <a:rPr lang="en-US" sz="1500" b="1" dirty="0">
                <a:solidFill>
                  <a:schemeClr val="accent1"/>
                </a:solidFill>
              </a:rPr>
              <a:t>Ginseng · Ginkgo Biloba</a:t>
            </a:r>
            <a:endParaRPr lang="en-US" sz="1500" dirty="0"/>
          </a:p>
        </p:txBody>
      </p:sp>
      <p:sp>
        <p:nvSpPr>
          <p:cNvPr id="18" name="Text 15"/>
          <p:cNvSpPr txBox="1"/>
          <p:nvPr/>
        </p:nvSpPr>
        <p:spPr>
          <a:xfrm>
            <a:off x="8229600" y="2039112"/>
            <a:ext cx="3200400" cy="143560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Ginseng for energy and stress adaptation; ginkgo for microcirculation.</a:t>
            </a:r>
            <a:endParaRPr lang="en-US" sz="1500" dirty="0"/>
          </a:p>
        </p:txBody>
      </p:sp>
      <p:sp>
        <p:nvSpPr>
          <p:cNvPr id="19" name="Shape 16"/>
          <p:cNvSpPr/>
          <p:nvPr/>
        </p:nvSpPr>
        <p:spPr>
          <a:xfrm>
            <a:off x="548640" y="374904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20" name="Shape 17"/>
          <p:cNvSpPr/>
          <p:nvPr/>
        </p:nvSpPr>
        <p:spPr>
          <a:xfrm>
            <a:off x="713232" y="391363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713232" y="3913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298448" y="3858768"/>
            <a:ext cx="2697480" cy="548640"/>
          </a:xfrm>
          <a:prstGeom prst="rect">
            <a:avLst/>
          </a:prstGeom>
          <a:noFill/>
          <a:ln/>
        </p:spPr>
        <p:txBody>
          <a:bodyPr wrap="square" lIns="0" tIns="0" rIns="0" bIns="0" rtlCol="0" anchor="ctr"/>
          <a:lstStyle/>
          <a:p>
            <a:pPr algn="l" indent="0" marL="0">
              <a:buNone/>
            </a:pPr>
            <a:r>
              <a:rPr lang="en-US" sz="1500" b="1" dirty="0">
                <a:solidFill>
                  <a:schemeClr val="accent1"/>
                </a:solidFill>
              </a:rPr>
              <a:t>Saffron · Fenugreek</a:t>
            </a:r>
            <a:endParaRPr lang="en-US" sz="1500" dirty="0"/>
          </a:p>
        </p:txBody>
      </p:sp>
      <p:sp>
        <p:nvSpPr>
          <p:cNvPr id="23" name="Text 20"/>
          <p:cNvSpPr txBox="1"/>
          <p:nvPr/>
        </p:nvSpPr>
        <p:spPr>
          <a:xfrm>
            <a:off x="731520" y="4462272"/>
            <a:ext cx="3200400" cy="143560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Saffron studied for arousal and lubrication; fenugreek is a traditional women’s-health herb.</a:t>
            </a:r>
            <a:endParaRPr lang="en-US" sz="1500" dirty="0"/>
          </a:p>
        </p:txBody>
      </p:sp>
      <p:sp>
        <p:nvSpPr>
          <p:cNvPr id="24" name="Shape 21"/>
          <p:cNvSpPr/>
          <p:nvPr/>
        </p:nvSpPr>
        <p:spPr>
          <a:xfrm>
            <a:off x="4297680" y="374904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25" name="Shape 22"/>
          <p:cNvSpPr/>
          <p:nvPr/>
        </p:nvSpPr>
        <p:spPr>
          <a:xfrm>
            <a:off x="4462272" y="3913632"/>
            <a:ext cx="457200" cy="457200"/>
          </a:xfrm>
          <a:prstGeom prst="ellipse">
            <a:avLst/>
          </a:prstGeom>
          <a:solidFill>
            <a:schemeClr val="accent1"/>
          </a:solidFill>
          <a:ln w="12700">
            <a:solidFill>
              <a:schemeClr val="accent1"/>
            </a:solidFill>
            <a:prstDash val="solid"/>
          </a:ln>
        </p:spPr>
      </p:sp>
      <p:sp>
        <p:nvSpPr>
          <p:cNvPr id="26" name="Text 23"/>
          <p:cNvSpPr txBox="1"/>
          <p:nvPr/>
        </p:nvSpPr>
        <p:spPr>
          <a:xfrm>
            <a:off x="4462272" y="3913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5047488" y="3858768"/>
            <a:ext cx="2697480" cy="548640"/>
          </a:xfrm>
          <a:prstGeom prst="rect">
            <a:avLst/>
          </a:prstGeom>
          <a:noFill/>
          <a:ln/>
        </p:spPr>
        <p:txBody>
          <a:bodyPr wrap="square" lIns="0" tIns="0" rIns="0" bIns="0" rtlCol="0" anchor="ctr"/>
          <a:lstStyle/>
          <a:p>
            <a:pPr algn="l" indent="0" marL="0">
              <a:buNone/>
            </a:pPr>
            <a:r>
              <a:rPr lang="en-US" sz="1500" b="1" dirty="0">
                <a:solidFill>
                  <a:schemeClr val="accent1"/>
                </a:solidFill>
              </a:rPr>
              <a:t>Ginger · Cinnamon</a:t>
            </a:r>
            <a:endParaRPr lang="en-US" sz="1500" dirty="0"/>
          </a:p>
        </p:txBody>
      </p:sp>
      <p:sp>
        <p:nvSpPr>
          <p:cNvPr id="28" name="Text 25"/>
          <p:cNvSpPr txBox="1"/>
          <p:nvPr/>
        </p:nvSpPr>
        <p:spPr>
          <a:xfrm>
            <a:off x="4480560" y="4462272"/>
            <a:ext cx="3200400" cy="143560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Support circulation and a warming sensation.</a:t>
            </a:r>
            <a:endParaRPr lang="en-US" sz="1500" dirty="0"/>
          </a:p>
        </p:txBody>
      </p:sp>
      <p:sp>
        <p:nvSpPr>
          <p:cNvPr id="29" name="Shape 26"/>
          <p:cNvSpPr/>
          <p:nvPr/>
        </p:nvSpPr>
        <p:spPr>
          <a:xfrm>
            <a:off x="8046720" y="3749040"/>
            <a:ext cx="356616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30" name="Shape 27"/>
          <p:cNvSpPr/>
          <p:nvPr/>
        </p:nvSpPr>
        <p:spPr>
          <a:xfrm>
            <a:off x="8211312" y="3913632"/>
            <a:ext cx="457200" cy="457200"/>
          </a:xfrm>
          <a:prstGeom prst="ellipse">
            <a:avLst/>
          </a:prstGeom>
          <a:solidFill>
            <a:schemeClr val="accent1"/>
          </a:solidFill>
          <a:ln w="12700">
            <a:solidFill>
              <a:schemeClr val="accent1"/>
            </a:solidFill>
            <a:prstDash val="solid"/>
          </a:ln>
        </p:spPr>
      </p:sp>
      <p:sp>
        <p:nvSpPr>
          <p:cNvPr id="31" name="Text 28"/>
          <p:cNvSpPr txBox="1"/>
          <p:nvPr/>
        </p:nvSpPr>
        <p:spPr>
          <a:xfrm>
            <a:off x="8211312" y="3913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8796528" y="3858768"/>
            <a:ext cx="2697480" cy="548640"/>
          </a:xfrm>
          <a:prstGeom prst="rect">
            <a:avLst/>
          </a:prstGeom>
          <a:noFill/>
          <a:ln/>
        </p:spPr>
        <p:txBody>
          <a:bodyPr wrap="square" lIns="0" tIns="0" rIns="0" bIns="0" rtlCol="0" anchor="ctr"/>
          <a:lstStyle/>
          <a:p>
            <a:pPr algn="l" indent="0" marL="0">
              <a:buNone/>
            </a:pPr>
            <a:r>
              <a:rPr lang="en-US" sz="1500" b="1" dirty="0">
                <a:solidFill>
                  <a:schemeClr val="accent1"/>
                </a:solidFill>
              </a:rPr>
              <a:t>Vitamin B6 · Niacin (B3)</a:t>
            </a:r>
            <a:endParaRPr lang="en-US" sz="1500" dirty="0"/>
          </a:p>
        </p:txBody>
      </p:sp>
      <p:sp>
        <p:nvSpPr>
          <p:cNvPr id="33" name="Text 30"/>
          <p:cNvSpPr txBox="1"/>
          <p:nvPr/>
        </p:nvSpPr>
        <p:spPr>
          <a:xfrm>
            <a:off x="8229600" y="4462272"/>
            <a:ext cx="3200400" cy="143560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B6 contributes to the regulation of hormonal activity; niacin to the reduction of tiredness and fatigue.</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Fem-Arosa — scientific evidence on the ingredients</a:t>
            </a:r>
            <a:endParaRPr lang="en-US" sz="3200" dirty="0"/>
          </a:p>
        </p:txBody>
      </p:sp>
      <p:sp>
        <p:nvSpPr>
          <p:cNvPr id="4" name="Shape 1"/>
          <p:cNvSpPr/>
          <p:nvPr/>
        </p:nvSpPr>
        <p:spPr>
          <a:xfrm>
            <a:off x="548640" y="1325880"/>
            <a:ext cx="283464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5" name="Text 2"/>
          <p:cNvSpPr txBox="1"/>
          <p:nvPr/>
        </p:nvSpPr>
        <p:spPr>
          <a:xfrm>
            <a:off x="548640" y="1435608"/>
            <a:ext cx="2834640" cy="987552"/>
          </a:xfrm>
          <a:prstGeom prst="rect">
            <a:avLst/>
          </a:prstGeom>
          <a:noFill/>
          <a:ln/>
        </p:spPr>
        <p:txBody>
          <a:bodyPr wrap="square" lIns="0" tIns="0" rIns="0" bIns="0" rtlCol="0" anchor="ctr"/>
          <a:lstStyle/>
          <a:p>
            <a:pPr algn="ctr" indent="0" marL="0">
              <a:buNone/>
            </a:pPr>
            <a:r>
              <a:rPr lang="en-US" sz="3200" b="1" dirty="0">
                <a:solidFill>
                  <a:schemeClr val="accent1"/>
                </a:solidFill>
              </a:rPr>
              <a:t>73.5%</a:t>
            </a:r>
            <a:endParaRPr lang="en-US" sz="3200" dirty="0"/>
          </a:p>
        </p:txBody>
      </p:sp>
      <p:sp>
        <p:nvSpPr>
          <p:cNvPr id="6" name="Text 3"/>
          <p:cNvSpPr txBox="1"/>
          <p:nvPr/>
        </p:nvSpPr>
        <p:spPr>
          <a:xfrm>
            <a:off x="640080" y="2423160"/>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vs 37.2% on placebo</a:t>
            </a:r>
            <a:endParaRPr lang="en-US" sz="1400" dirty="0"/>
          </a:p>
        </p:txBody>
      </p:sp>
      <p:sp>
        <p:nvSpPr>
          <p:cNvPr id="7" name="Text 4"/>
          <p:cNvSpPr txBox="1"/>
          <p:nvPr/>
        </p:nvSpPr>
        <p:spPr>
          <a:xfrm>
            <a:off x="685800" y="2788920"/>
            <a:ext cx="2560320" cy="640080"/>
          </a:xfrm>
          <a:prstGeom prst="rect">
            <a:avLst/>
          </a:prstGeom>
          <a:noFill/>
          <a:ln/>
        </p:spPr>
        <p:txBody>
          <a:bodyPr wrap="square" lIns="0" tIns="0" rIns="0" bIns="0" rtlCol="0" anchor="t"/>
          <a:lstStyle/>
          <a:p>
            <a:pPr algn="ctr" indent="0" marL="0">
              <a:buNone/>
            </a:pPr>
            <a:r>
              <a:rPr lang="en-US" sz="1200" dirty="0">
                <a:solidFill>
                  <a:schemeClr val="accent5"/>
                </a:solidFill>
              </a:rPr>
              <a:t>Improved overall satisfaction — Ito 2001</a:t>
            </a:r>
            <a:endParaRPr lang="en-US" sz="1200" dirty="0"/>
          </a:p>
        </p:txBody>
      </p:sp>
      <p:sp>
        <p:nvSpPr>
          <p:cNvPr id="8" name="Shape 5"/>
          <p:cNvSpPr/>
          <p:nvPr/>
        </p:nvSpPr>
        <p:spPr>
          <a:xfrm>
            <a:off x="3566160" y="1325880"/>
            <a:ext cx="274320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9" name="Text 6"/>
          <p:cNvSpPr txBox="1"/>
          <p:nvPr/>
        </p:nvSpPr>
        <p:spPr>
          <a:xfrm>
            <a:off x="3749040" y="1435608"/>
            <a:ext cx="2377440" cy="365760"/>
          </a:xfrm>
          <a:prstGeom prst="rect">
            <a:avLst/>
          </a:prstGeom>
          <a:noFill/>
          <a:ln/>
        </p:spPr>
        <p:txBody>
          <a:bodyPr wrap="square" lIns="0" tIns="0" rIns="0" bIns="0" rtlCol="0" anchor="ctr"/>
          <a:lstStyle/>
          <a:p>
            <a:pPr algn="l" indent="0" marL="0">
              <a:buNone/>
            </a:pPr>
            <a:r>
              <a:rPr lang="en-US" sz="1400" b="1" dirty="0">
                <a:solidFill>
                  <a:schemeClr val="accent1"/>
                </a:solidFill>
              </a:rPr>
              <a:t>Ito, 2001 · RCT</a:t>
            </a:r>
            <a:endParaRPr lang="en-US" sz="1400" dirty="0"/>
          </a:p>
        </p:txBody>
      </p:sp>
      <p:sp>
        <p:nvSpPr>
          <p:cNvPr id="10" name="Text 7"/>
          <p:cNvSpPr txBox="1"/>
          <p:nvPr/>
        </p:nvSpPr>
        <p:spPr>
          <a:xfrm>
            <a:off x="3749040" y="1828800"/>
            <a:ext cx="2377440" cy="685800"/>
          </a:xfrm>
          <a:prstGeom prst="rect">
            <a:avLst/>
          </a:prstGeom>
          <a:noFill/>
          <a:ln/>
        </p:spPr>
        <p:txBody>
          <a:bodyPr wrap="square" lIns="0" tIns="0" rIns="0" bIns="0" rtlCol="0" anchor="t"/>
          <a:lstStyle/>
          <a:p>
            <a:pPr algn="l" indent="0" marL="0">
              <a:buNone/>
            </a:pPr>
            <a:r>
              <a:rPr lang="en-US" sz="1300" dirty="0">
                <a:solidFill>
                  <a:schemeClr val="accent5"/>
                </a:solidFill>
              </a:rPr>
              <a:t>77 women · arginine + ginseng + ginkgo + damiana · 4 weeks</a:t>
            </a:r>
            <a:endParaRPr lang="en-US" sz="1300" dirty="0"/>
          </a:p>
        </p:txBody>
      </p:sp>
      <p:sp>
        <p:nvSpPr>
          <p:cNvPr id="11" name="Text 8"/>
          <p:cNvSpPr txBox="1"/>
          <p:nvPr/>
        </p:nvSpPr>
        <p:spPr>
          <a:xfrm>
            <a:off x="3749040" y="2514600"/>
            <a:ext cx="2377440" cy="914400"/>
          </a:xfrm>
          <a:prstGeom prst="rect">
            <a:avLst/>
          </a:prstGeom>
          <a:noFill/>
          <a:ln/>
        </p:spPr>
        <p:txBody>
          <a:bodyPr wrap="square" lIns="0" tIns="0" rIns="0" bIns="0" rtlCol="0" anchor="t"/>
          <a:lstStyle/>
          <a:p>
            <a:pPr algn="l" indent="0" marL="0">
              <a:buNone/>
            </a:pPr>
            <a:r>
              <a:rPr lang="en-US" sz="1400" b="1" dirty="0">
                <a:solidFill>
                  <a:schemeClr val="tx1"/>
                </a:solidFill>
              </a:rPr>
              <a:t>Improved desire and satisfaction, no notable side effects</a:t>
            </a:r>
            <a:endParaRPr lang="en-US" sz="1400" dirty="0"/>
          </a:p>
        </p:txBody>
      </p:sp>
      <p:sp>
        <p:nvSpPr>
          <p:cNvPr id="12" name="Shape 9"/>
          <p:cNvSpPr/>
          <p:nvPr/>
        </p:nvSpPr>
        <p:spPr>
          <a:xfrm>
            <a:off x="6492240" y="1325880"/>
            <a:ext cx="274320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13" name="Text 10"/>
          <p:cNvSpPr txBox="1"/>
          <p:nvPr/>
        </p:nvSpPr>
        <p:spPr>
          <a:xfrm>
            <a:off x="6675120" y="1435608"/>
            <a:ext cx="2377440" cy="365760"/>
          </a:xfrm>
          <a:prstGeom prst="rect">
            <a:avLst/>
          </a:prstGeom>
          <a:noFill/>
          <a:ln/>
        </p:spPr>
        <p:txBody>
          <a:bodyPr wrap="square" lIns="0" tIns="0" rIns="0" bIns="0" rtlCol="0" anchor="ctr"/>
          <a:lstStyle/>
          <a:p>
            <a:pPr algn="l" indent="0" marL="0">
              <a:buNone/>
            </a:pPr>
            <a:r>
              <a:rPr lang="en-US" sz="1400" b="1" dirty="0">
                <a:solidFill>
                  <a:schemeClr val="accent1"/>
                </a:solidFill>
              </a:rPr>
              <a:t>Dording, 2015 · RCT</a:t>
            </a:r>
            <a:endParaRPr lang="en-US" sz="1400" dirty="0"/>
          </a:p>
        </p:txBody>
      </p:sp>
      <p:sp>
        <p:nvSpPr>
          <p:cNvPr id="14" name="Text 11"/>
          <p:cNvSpPr txBox="1"/>
          <p:nvPr/>
        </p:nvSpPr>
        <p:spPr>
          <a:xfrm>
            <a:off x="6675120" y="1828800"/>
            <a:ext cx="2377440" cy="685800"/>
          </a:xfrm>
          <a:prstGeom prst="rect">
            <a:avLst/>
          </a:prstGeom>
          <a:noFill/>
          <a:ln/>
        </p:spPr>
        <p:txBody>
          <a:bodyPr wrap="square" lIns="0" tIns="0" rIns="0" bIns="0" rtlCol="0" anchor="t"/>
          <a:lstStyle/>
          <a:p>
            <a:pPr algn="l" indent="0" marL="0">
              <a:buNone/>
            </a:pPr>
            <a:r>
              <a:rPr lang="en-US" sz="1300" dirty="0">
                <a:solidFill>
                  <a:schemeClr val="accent5"/>
                </a:solidFill>
              </a:rPr>
              <a:t>45 women · maca 3 g/day · 12 weeks</a:t>
            </a:r>
            <a:endParaRPr lang="en-US" sz="1300" dirty="0"/>
          </a:p>
        </p:txBody>
      </p:sp>
      <p:sp>
        <p:nvSpPr>
          <p:cNvPr id="15" name="Text 12"/>
          <p:cNvSpPr txBox="1"/>
          <p:nvPr/>
        </p:nvSpPr>
        <p:spPr>
          <a:xfrm>
            <a:off x="6675120" y="2514600"/>
            <a:ext cx="2377440" cy="914400"/>
          </a:xfrm>
          <a:prstGeom prst="rect">
            <a:avLst/>
          </a:prstGeom>
          <a:noFill/>
          <a:ln/>
        </p:spPr>
        <p:txBody>
          <a:bodyPr wrap="square" lIns="0" tIns="0" rIns="0" bIns="0" rtlCol="0" anchor="t"/>
          <a:lstStyle/>
          <a:p>
            <a:pPr algn="l" indent="0" marL="0">
              <a:buNone/>
            </a:pPr>
            <a:r>
              <a:rPr lang="en-US" sz="1400" b="1" dirty="0">
                <a:solidFill>
                  <a:schemeClr val="tx1"/>
                </a:solidFill>
              </a:rPr>
              <a:t>Clearer benefit in post-menopausal women; well tolerated</a:t>
            </a:r>
            <a:endParaRPr lang="en-US" sz="1400" dirty="0"/>
          </a:p>
        </p:txBody>
      </p:sp>
      <p:sp>
        <p:nvSpPr>
          <p:cNvPr id="16" name="Shape 13"/>
          <p:cNvSpPr/>
          <p:nvPr/>
        </p:nvSpPr>
        <p:spPr>
          <a:xfrm>
            <a:off x="9418320" y="1325880"/>
            <a:ext cx="2194560" cy="2194560"/>
          </a:xfrm>
          <a:prstGeom prst="roundRect">
            <a:avLst>
              <a:gd name="adj" fmla="val 5000"/>
            </a:avLst>
          </a:prstGeom>
          <a:solidFill>
            <a:schemeClr val="accent1">
              <a:alpha val="8000"/>
            </a:schemeClr>
          </a:solidFill>
          <a:ln w="9525">
            <a:solidFill>
              <a:schemeClr val="accent1">
                <a:alpha val="25000"/>
              </a:schemeClr>
            </a:solidFill>
            <a:prstDash val="solid"/>
          </a:ln>
        </p:spPr>
      </p:sp>
      <p:sp>
        <p:nvSpPr>
          <p:cNvPr id="17" name="Text 14"/>
          <p:cNvSpPr txBox="1"/>
          <p:nvPr/>
        </p:nvSpPr>
        <p:spPr>
          <a:xfrm>
            <a:off x="9601200" y="1435608"/>
            <a:ext cx="1828800" cy="365760"/>
          </a:xfrm>
          <a:prstGeom prst="rect">
            <a:avLst/>
          </a:prstGeom>
          <a:noFill/>
          <a:ln/>
        </p:spPr>
        <p:txBody>
          <a:bodyPr wrap="square" lIns="0" tIns="0" rIns="0" bIns="0" rtlCol="0" anchor="ctr"/>
          <a:lstStyle/>
          <a:p>
            <a:pPr algn="l" indent="0" marL="0">
              <a:buNone/>
            </a:pPr>
            <a:r>
              <a:rPr lang="en-US" sz="1400" b="1" dirty="0">
                <a:solidFill>
                  <a:schemeClr val="accent1"/>
                </a:solidFill>
              </a:rPr>
              <a:t>Kashani, 2013</a:t>
            </a:r>
            <a:endParaRPr lang="en-US" sz="1400" dirty="0"/>
          </a:p>
        </p:txBody>
      </p:sp>
      <p:sp>
        <p:nvSpPr>
          <p:cNvPr id="18" name="Text 15"/>
          <p:cNvSpPr txBox="1"/>
          <p:nvPr/>
        </p:nvSpPr>
        <p:spPr>
          <a:xfrm>
            <a:off x="9601200" y="1828800"/>
            <a:ext cx="1828800" cy="685800"/>
          </a:xfrm>
          <a:prstGeom prst="rect">
            <a:avLst/>
          </a:prstGeom>
          <a:noFill/>
          <a:ln/>
        </p:spPr>
        <p:txBody>
          <a:bodyPr wrap="square" lIns="0" tIns="0" rIns="0" bIns="0" rtlCol="0" anchor="t"/>
          <a:lstStyle/>
          <a:p>
            <a:pPr algn="l" indent="0" marL="0">
              <a:buNone/>
            </a:pPr>
            <a:r>
              <a:rPr lang="en-US" sz="1300" dirty="0">
                <a:solidFill>
                  <a:schemeClr val="accent5"/>
                </a:solidFill>
              </a:rPr>
              <a:t>38 women · saffron 30 mg · 4 weeks</a:t>
            </a:r>
            <a:endParaRPr lang="en-US" sz="1300" dirty="0"/>
          </a:p>
        </p:txBody>
      </p:sp>
      <p:sp>
        <p:nvSpPr>
          <p:cNvPr id="19" name="Text 16"/>
          <p:cNvSpPr txBox="1"/>
          <p:nvPr/>
        </p:nvSpPr>
        <p:spPr>
          <a:xfrm>
            <a:off x="9601200" y="2514600"/>
            <a:ext cx="1828800" cy="914400"/>
          </a:xfrm>
          <a:prstGeom prst="rect">
            <a:avLst/>
          </a:prstGeom>
          <a:noFill/>
          <a:ln/>
        </p:spPr>
        <p:txBody>
          <a:bodyPr wrap="square" lIns="0" tIns="0" rIns="0" bIns="0" rtlCol="0" anchor="t"/>
          <a:lstStyle/>
          <a:p>
            <a:pPr algn="l" indent="0" marL="0">
              <a:buNone/>
            </a:pPr>
            <a:r>
              <a:rPr lang="en-US" sz="1400" b="1" dirty="0">
                <a:solidFill>
                  <a:schemeClr val="tx1"/>
                </a:solidFill>
              </a:rPr>
              <a:t>Improved arousal and lubrication</a:t>
            </a:r>
            <a:endParaRPr lang="en-US" sz="1400" dirty="0"/>
          </a:p>
        </p:txBody>
      </p:sp>
      <p:sp>
        <p:nvSpPr>
          <p:cNvPr id="20" name="Shape 17"/>
          <p:cNvSpPr/>
          <p:nvPr/>
        </p:nvSpPr>
        <p:spPr>
          <a:xfrm>
            <a:off x="548640" y="3749040"/>
            <a:ext cx="576072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21" name="Text 18"/>
          <p:cNvSpPr txBox="1"/>
          <p:nvPr/>
        </p:nvSpPr>
        <p:spPr>
          <a:xfrm>
            <a:off x="731520" y="3858768"/>
            <a:ext cx="5394960" cy="365760"/>
          </a:xfrm>
          <a:prstGeom prst="rect">
            <a:avLst/>
          </a:prstGeom>
          <a:noFill/>
          <a:ln/>
        </p:spPr>
        <p:txBody>
          <a:bodyPr wrap="square" lIns="0" tIns="0" rIns="0" bIns="0" rtlCol="0" anchor="ctr"/>
          <a:lstStyle/>
          <a:p>
            <a:pPr algn="l" indent="0" marL="0">
              <a:buNone/>
            </a:pPr>
            <a:r>
              <a:rPr lang="en-US" sz="1400" b="1" dirty="0">
                <a:solidFill>
                  <a:schemeClr val="accent1"/>
                </a:solidFill>
              </a:rPr>
              <a:t>Oh, 2010 · RCT (Korean red ginseng)</a:t>
            </a:r>
            <a:endParaRPr lang="en-US" sz="1400" dirty="0"/>
          </a:p>
        </p:txBody>
      </p:sp>
      <p:sp>
        <p:nvSpPr>
          <p:cNvPr id="22" name="Text 19"/>
          <p:cNvSpPr txBox="1"/>
          <p:nvPr/>
        </p:nvSpPr>
        <p:spPr>
          <a:xfrm>
            <a:off x="731520" y="4251960"/>
            <a:ext cx="5394960" cy="685800"/>
          </a:xfrm>
          <a:prstGeom prst="rect">
            <a:avLst/>
          </a:prstGeom>
          <a:noFill/>
          <a:ln/>
        </p:spPr>
        <p:txBody>
          <a:bodyPr wrap="square" lIns="0" tIns="0" rIns="0" bIns="0" rtlCol="0" anchor="t"/>
          <a:lstStyle/>
          <a:p>
            <a:pPr algn="l" indent="0" marL="0">
              <a:buNone/>
            </a:pPr>
            <a:r>
              <a:rPr lang="en-US" sz="1300" dirty="0">
                <a:solidFill>
                  <a:schemeClr val="accent5"/>
                </a:solidFill>
              </a:rPr>
              <a:t>Menopausal women · double-blind crossover · 8 weeks</a:t>
            </a:r>
            <a:endParaRPr lang="en-US" sz="1300" dirty="0"/>
          </a:p>
        </p:txBody>
      </p:sp>
      <p:sp>
        <p:nvSpPr>
          <p:cNvPr id="23" name="Text 20"/>
          <p:cNvSpPr txBox="1"/>
          <p:nvPr/>
        </p:nvSpPr>
        <p:spPr>
          <a:xfrm>
            <a:off x="731520" y="4937760"/>
            <a:ext cx="5394960" cy="1005840"/>
          </a:xfrm>
          <a:prstGeom prst="rect">
            <a:avLst/>
          </a:prstGeom>
          <a:noFill/>
          <a:ln/>
        </p:spPr>
        <p:txBody>
          <a:bodyPr wrap="square" lIns="0" tIns="0" rIns="0" bIns="0" rtlCol="0" anchor="t"/>
          <a:lstStyle/>
          <a:p>
            <a:pPr algn="l" indent="0" marL="0">
              <a:buNone/>
            </a:pPr>
            <a:r>
              <a:rPr lang="en-US" sz="1400" b="1" dirty="0">
                <a:solidFill>
                  <a:schemeClr val="tx1"/>
                </a:solidFill>
              </a:rPr>
              <a:t>Significant improvement in arousal vs placebo</a:t>
            </a:r>
            <a:endParaRPr lang="en-US" sz="1400" dirty="0"/>
          </a:p>
        </p:txBody>
      </p:sp>
      <p:sp>
        <p:nvSpPr>
          <p:cNvPr id="24" name="Shape 21"/>
          <p:cNvSpPr/>
          <p:nvPr/>
        </p:nvSpPr>
        <p:spPr>
          <a:xfrm>
            <a:off x="6492240" y="3749040"/>
            <a:ext cx="5120640" cy="2286000"/>
          </a:xfrm>
          <a:prstGeom prst="roundRect">
            <a:avLst>
              <a:gd name="adj" fmla="val 4800"/>
            </a:avLst>
          </a:prstGeom>
          <a:solidFill>
            <a:schemeClr val="accent5">
              <a:alpha val="6000"/>
            </a:schemeClr>
          </a:solidFill>
          <a:ln w="9525">
            <a:solidFill>
              <a:schemeClr val="accent5">
                <a:alpha val="25000"/>
              </a:schemeClr>
            </a:solidFill>
            <a:prstDash val="solid"/>
          </a:ln>
        </p:spPr>
      </p:sp>
      <p:sp>
        <p:nvSpPr>
          <p:cNvPr id="25" name="Text 22"/>
          <p:cNvSpPr txBox="1"/>
          <p:nvPr/>
        </p:nvSpPr>
        <p:spPr>
          <a:xfrm>
            <a:off x="6675120" y="3886200"/>
            <a:ext cx="4754880" cy="201168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rgbClr val="000000"/>
                </a:solidFill>
              </a:rPr>
              <a:t>Studies are on the ingredients or similar combinations, not the finished product.</a:t>
            </a:r>
            <a:endParaRPr lang="en-US" sz="1400" dirty="0"/>
          </a:p>
          <a:p>
            <a:pPr algn="l" marL="342900" indent="-342900">
              <a:spcAft>
                <a:spcPts val="600"/>
              </a:spcAft>
              <a:buSzPct val="100000"/>
              <a:buChar char="•"/>
            </a:pPr>
            <a:r>
              <a:rPr lang="en-US" sz="1400" dirty="0">
                <a:solidFill>
                  <a:srgbClr val="000000"/>
                </a:solidFill>
              </a:rPr>
              <a:t>Study doses may differ from the product dose.</a:t>
            </a:r>
            <a:endParaRPr lang="en-US" sz="1400" dirty="0"/>
          </a:p>
          <a:p>
            <a:pPr algn="l" marL="342900" indent="-342900">
              <a:spcAft>
                <a:spcPts val="600"/>
              </a:spcAft>
              <a:buSzPct val="100000"/>
              <a:buChar char="•"/>
            </a:pPr>
            <a:r>
              <a:rPr lang="en-US" sz="1400" dirty="0">
                <a:solidFill>
                  <a:srgbClr val="000000"/>
                </a:solidFill>
              </a:rPr>
              <a:t>We say "supports vitality" — never "treats".</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Fem-Arosa — presenting to the doctor</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1"/>
          </a:solidFill>
          <a:ln w="12700">
            <a:solidFill>
              <a:schemeClr val="accent1"/>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l" indent="0" marL="0">
              <a:spcAft>
                <a:spcPts val="400"/>
              </a:spcAft>
              <a:buNone/>
            </a:pPr>
            <a:r>
              <a:rPr lang="en-US" sz="1200" b="1" dirty="0">
                <a:solidFill>
                  <a:schemeClr val="bg1"/>
                </a:solidFill>
              </a:rPr>
              <a:t>KEY SELLING POINT</a:t>
            </a:r>
            <a:endParaRPr lang="en-US" sz="1200" dirty="0"/>
          </a:p>
          <a:p>
            <a:pPr algn="l" indent="0" marL="0">
              <a:spcAft>
                <a:spcPts val="400"/>
              </a:spcAft>
              <a:buNone/>
            </a:pPr>
            <a:r>
              <a:rPr lang="en-US" sz="1800" b="1" dirty="0">
                <a:solidFill>
                  <a:schemeClr val="bg1"/>
                </a:solidFill>
              </a:rPr>
              <a:t>A complete herbal formula supporting vitality in adult women, in easy-to-use drops</a:t>
            </a:r>
            <a:endParaRPr lang="en-US" sz="1200" dirty="0"/>
          </a:p>
        </p:txBody>
      </p:sp>
      <p:sp>
        <p:nvSpPr>
          <p:cNvPr id="6" name="Shape 3"/>
          <p:cNvSpPr/>
          <p:nvPr/>
        </p:nvSpPr>
        <p:spPr>
          <a:xfrm>
            <a:off x="548640" y="2743200"/>
            <a:ext cx="356616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7" name="Shape 4"/>
          <p:cNvSpPr/>
          <p:nvPr/>
        </p:nvSpPr>
        <p:spPr>
          <a:xfrm>
            <a:off x="713232" y="2907792"/>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713232"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298448" y="2852928"/>
            <a:ext cx="2697480" cy="548640"/>
          </a:xfrm>
          <a:prstGeom prst="rect">
            <a:avLst/>
          </a:prstGeom>
          <a:noFill/>
          <a:ln/>
        </p:spPr>
        <p:txBody>
          <a:bodyPr wrap="square" lIns="0" tIns="0" rIns="0" bIns="0" rtlCol="0" anchor="ctr"/>
          <a:lstStyle/>
          <a:p>
            <a:pPr algn="l" indent="0" marL="0">
              <a:buNone/>
            </a:pPr>
            <a:r>
              <a:rPr lang="en-US" sz="1600" b="1" dirty="0">
                <a:solidFill>
                  <a:schemeClr val="accent1"/>
                </a:solidFill>
              </a:rPr>
              <a:t>Target doctor &amp; customer</a:t>
            </a:r>
            <a:endParaRPr lang="en-US" sz="1600" dirty="0"/>
          </a:p>
        </p:txBody>
      </p:sp>
      <p:sp>
        <p:nvSpPr>
          <p:cNvPr id="10" name="Text 7"/>
          <p:cNvSpPr txBox="1"/>
          <p:nvPr/>
        </p:nvSpPr>
        <p:spPr>
          <a:xfrm>
            <a:off x="731520" y="3456432"/>
            <a:ext cx="3200400" cy="2487168"/>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tx1"/>
                </a:solidFill>
              </a:rPr>
              <a:t>Ob/Gyn doctors</a:t>
            </a:r>
            <a:endParaRPr lang="en-US" sz="1400" dirty="0"/>
          </a:p>
          <a:p>
            <a:pPr algn="l" marL="342900" indent="-342900">
              <a:spcAft>
                <a:spcPts val="600"/>
              </a:spcAft>
              <a:buSzPct val="100000"/>
              <a:buChar char="•"/>
            </a:pPr>
            <a:r>
              <a:rPr lang="en-US" sz="1600" dirty="0">
                <a:solidFill>
                  <a:schemeClr val="tx1"/>
                </a:solidFill>
              </a:rPr>
              <a:t>Pharmacies</a:t>
            </a:r>
            <a:endParaRPr lang="en-US" sz="1400" dirty="0"/>
          </a:p>
          <a:p>
            <a:pPr algn="l" marL="342900" indent="-342900">
              <a:spcAft>
                <a:spcPts val="600"/>
              </a:spcAft>
              <a:buSzPct val="100000"/>
              <a:buChar char="•"/>
            </a:pPr>
            <a:r>
              <a:rPr lang="en-US" sz="1600" dirty="0">
                <a:solidFill>
                  <a:schemeClr val="tx1"/>
                </a:solidFill>
              </a:rPr>
              <a:t>Women over 18 with low vitality and fatigue</a:t>
            </a:r>
            <a:endParaRPr lang="en-US" sz="1400" dirty="0"/>
          </a:p>
        </p:txBody>
      </p:sp>
      <p:sp>
        <p:nvSpPr>
          <p:cNvPr id="11" name="Shape 8"/>
          <p:cNvSpPr/>
          <p:nvPr/>
        </p:nvSpPr>
        <p:spPr>
          <a:xfrm>
            <a:off x="4297680" y="2743200"/>
            <a:ext cx="356616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2" name="Shape 9"/>
          <p:cNvSpPr/>
          <p:nvPr/>
        </p:nvSpPr>
        <p:spPr>
          <a:xfrm>
            <a:off x="4462272" y="2907792"/>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4462272"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047488" y="2852928"/>
            <a:ext cx="2697480" cy="548640"/>
          </a:xfrm>
          <a:prstGeom prst="rect">
            <a:avLst/>
          </a:prstGeom>
          <a:noFill/>
          <a:ln/>
        </p:spPr>
        <p:txBody>
          <a:bodyPr wrap="square" lIns="0" tIns="0" rIns="0" bIns="0" rtlCol="0" anchor="ctr"/>
          <a:lstStyle/>
          <a:p>
            <a:pPr algn="l" indent="0" marL="0">
              <a:buNone/>
            </a:pPr>
            <a:r>
              <a:rPr lang="en-US" sz="1600" b="1" dirty="0">
                <a:solidFill>
                  <a:schemeClr val="accent1"/>
                </a:solidFill>
              </a:rPr>
              <a:t>Strengths</a:t>
            </a:r>
            <a:endParaRPr lang="en-US" sz="1600" dirty="0"/>
          </a:p>
        </p:txBody>
      </p:sp>
      <p:sp>
        <p:nvSpPr>
          <p:cNvPr id="15" name="Text 12"/>
          <p:cNvSpPr txBox="1"/>
          <p:nvPr/>
        </p:nvSpPr>
        <p:spPr>
          <a:xfrm>
            <a:off x="4480560" y="3456432"/>
            <a:ext cx="3200400" cy="2487168"/>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tx1"/>
                </a:solidFill>
              </a:rPr>
              <a:t>12 ingredients in one product</a:t>
            </a:r>
            <a:endParaRPr lang="en-US" sz="1400" dirty="0"/>
          </a:p>
          <a:p>
            <a:pPr algn="l" marL="342900" indent="-342900">
              <a:spcAft>
                <a:spcPts val="600"/>
              </a:spcAft>
              <a:buSzPct val="100000"/>
              <a:buChar char="•"/>
            </a:pPr>
            <a:r>
              <a:rPr lang="en-US" sz="1600" dirty="0">
                <a:solidFill>
                  <a:schemeClr val="tx1"/>
                </a:solidFill>
              </a:rPr>
              <a:t>Berry-flavoured, easy-to-use drops</a:t>
            </a:r>
            <a:endParaRPr lang="en-US" sz="1400" dirty="0"/>
          </a:p>
          <a:p>
            <a:pPr algn="l" marL="342900" indent="-342900">
              <a:spcAft>
                <a:spcPts val="600"/>
              </a:spcAft>
              <a:buSzPct val="100000"/>
              <a:buChar char="•"/>
            </a:pPr>
            <a:r>
              <a:rPr lang="en-US" sz="1600" dirty="0">
                <a:solidFill>
                  <a:schemeClr val="tx1"/>
                </a:solidFill>
              </a:rPr>
              <a:t>Presented with Femina in the same visit</a:t>
            </a:r>
            <a:endParaRPr lang="en-US" sz="1400" dirty="0"/>
          </a:p>
        </p:txBody>
      </p:sp>
      <p:sp>
        <p:nvSpPr>
          <p:cNvPr id="16" name="Shape 13"/>
          <p:cNvSpPr/>
          <p:nvPr/>
        </p:nvSpPr>
        <p:spPr>
          <a:xfrm>
            <a:off x="8046720" y="2743200"/>
            <a:ext cx="356616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7" name="Shape 14"/>
          <p:cNvSpPr/>
          <p:nvPr/>
        </p:nvSpPr>
        <p:spPr>
          <a:xfrm>
            <a:off x="8211312" y="2907792"/>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8211312"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8796528" y="2852928"/>
            <a:ext cx="2697480" cy="548640"/>
          </a:xfrm>
          <a:prstGeom prst="rect">
            <a:avLst/>
          </a:prstGeom>
          <a:noFill/>
          <a:ln/>
        </p:spPr>
        <p:txBody>
          <a:bodyPr wrap="square" lIns="0" tIns="0" rIns="0" bIns="0" rtlCol="0" anchor="ctr"/>
          <a:lstStyle/>
          <a:p>
            <a:pPr algn="l" indent="0" marL="0">
              <a:buNone/>
            </a:pPr>
            <a:r>
              <a:rPr lang="en-US" sz="1600" b="1" dirty="0">
                <a:solidFill>
                  <a:schemeClr val="accent1"/>
                </a:solidFill>
              </a:rPr>
              <a:t>Expected questions</a:t>
            </a:r>
            <a:endParaRPr lang="en-US" sz="1600" dirty="0"/>
          </a:p>
        </p:txBody>
      </p:sp>
      <p:sp>
        <p:nvSpPr>
          <p:cNvPr id="20" name="Text 17"/>
          <p:cNvSpPr txBox="1"/>
          <p:nvPr/>
        </p:nvSpPr>
        <p:spPr>
          <a:xfrm>
            <a:off x="8229600" y="3456432"/>
            <a:ext cx="3200400" cy="2487168"/>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tx1"/>
                </a:solidFill>
              </a:rPr>
              <a:t>Pregnancy / breastfeeding? Not recommended.</a:t>
            </a:r>
            <a:endParaRPr lang="en-US" sz="1400" dirty="0"/>
          </a:p>
          <a:p>
            <a:pPr algn="l" marL="342900" indent="-342900">
              <a:spcAft>
                <a:spcPts val="600"/>
              </a:spcAft>
              <a:buSzPct val="100000"/>
              <a:buChar char="•"/>
            </a:pPr>
            <a:r>
              <a:rPr lang="en-US" sz="1600" dirty="0">
                <a:solidFill>
                  <a:schemeClr val="tx1"/>
                </a:solidFill>
              </a:rPr>
              <a:t>Dose? As directed on the pack.</a:t>
            </a:r>
            <a:endParaRPr lang="en-US" sz="1400" dirty="0"/>
          </a:p>
          <a:p>
            <a:pPr algn="l" marL="342900" indent="-342900">
              <a:spcAft>
                <a:spcPts val="600"/>
              </a:spcAft>
              <a:buSzPct val="100000"/>
              <a:buChar char="•"/>
            </a:pPr>
            <a:r>
              <a:rPr lang="en-US" sz="1600" dirty="0">
                <a:solidFill>
                  <a:schemeClr val="tx1"/>
                </a:solidFill>
              </a:rPr>
              <a:t>For men? No — a women’s product.</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Femina — product profile</a:t>
            </a:r>
            <a:endParaRPr lang="en-US" sz="3200" dirty="0"/>
          </a:p>
        </p:txBody>
      </p:sp>
      <p:pic>
        <p:nvPicPr>
          <p:cNvPr id="4" name="femina image" descr="preencoded.png">    </p:cNvPr>
          <p:cNvPicPr>
            <a:picLocks noChangeAspect="1"/>
          </p:cNvPicPr>
          <p:nvPr/>
        </p:nvPicPr>
        <p:blipFill>
          <a:blip r:embed="rId1"/>
          <a:stretch>
            <a:fillRect/>
          </a:stretch>
        </p:blipFill>
        <p:spPr>
          <a:xfrm>
            <a:off x="851266" y="1280160"/>
            <a:ext cx="3052348" cy="4754880"/>
          </a:xfrm>
          <a:prstGeom prst="rect">
            <a:avLst/>
          </a:prstGeom>
        </p:spPr>
      </p:pic>
      <p:sp>
        <p:nvSpPr>
          <p:cNvPr id="5" name="Shape 1"/>
          <p:cNvSpPr/>
          <p:nvPr/>
        </p:nvSpPr>
        <p:spPr>
          <a:xfrm>
            <a:off x="4572000" y="1325880"/>
            <a:ext cx="7040880" cy="457200"/>
          </a:xfrm>
          <a:prstGeom prst="rect">
            <a:avLst/>
          </a:prstGeom>
          <a:solidFill>
            <a:schemeClr val="accent1">
              <a:alpha val="7000"/>
            </a:schemeClr>
          </a:solidFill>
          <a:ln w="12700">
            <a:solidFill>
              <a:schemeClr val="accent1">
                <a:alpha val="0"/>
              </a:schemeClr>
            </a:solidFill>
            <a:prstDash val="solid"/>
          </a:ln>
        </p:spPr>
      </p:sp>
      <p:sp>
        <p:nvSpPr>
          <p:cNvPr id="6" name="Text 2"/>
          <p:cNvSpPr txBox="1"/>
          <p:nvPr/>
        </p:nvSpPr>
        <p:spPr>
          <a:xfrm>
            <a:off x="4663440" y="13258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Brand name</a:t>
            </a:r>
            <a:endParaRPr lang="en-US" sz="1300" dirty="0"/>
          </a:p>
        </p:txBody>
      </p:sp>
      <p:sp>
        <p:nvSpPr>
          <p:cNvPr id="7" name="Text 3"/>
          <p:cNvSpPr txBox="1"/>
          <p:nvPr/>
        </p:nvSpPr>
        <p:spPr>
          <a:xfrm>
            <a:off x="6858000" y="1325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AVIANCE Femina — Feminine Hygiene Foaming Cleanser</a:t>
            </a:r>
            <a:endParaRPr lang="en-US" sz="1300" dirty="0"/>
          </a:p>
        </p:txBody>
      </p:sp>
      <p:sp>
        <p:nvSpPr>
          <p:cNvPr id="8" name="Text 4"/>
          <p:cNvSpPr txBox="1"/>
          <p:nvPr/>
        </p:nvSpPr>
        <p:spPr>
          <a:xfrm>
            <a:off x="4663440" y="17830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Category</a:t>
            </a:r>
            <a:endParaRPr lang="en-US" sz="1300" dirty="0"/>
          </a:p>
        </p:txBody>
      </p:sp>
      <p:sp>
        <p:nvSpPr>
          <p:cNvPr id="9" name="Text 5"/>
          <p:cNvSpPr txBox="1"/>
          <p:nvPr/>
        </p:nvSpPr>
        <p:spPr>
          <a:xfrm>
            <a:off x="6858000" y="1783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Cosmetic (skin products)</a:t>
            </a:r>
            <a:endParaRPr lang="en-US" sz="1300" dirty="0"/>
          </a:p>
        </p:txBody>
      </p:sp>
      <p:sp>
        <p:nvSpPr>
          <p:cNvPr id="10" name="Shape 6"/>
          <p:cNvSpPr/>
          <p:nvPr/>
        </p:nvSpPr>
        <p:spPr>
          <a:xfrm>
            <a:off x="4572000" y="2240280"/>
            <a:ext cx="7040880" cy="457200"/>
          </a:xfrm>
          <a:prstGeom prst="rect">
            <a:avLst/>
          </a:prstGeom>
          <a:solidFill>
            <a:schemeClr val="accent1">
              <a:alpha val="7000"/>
            </a:schemeClr>
          </a:solidFill>
          <a:ln w="12700">
            <a:solidFill>
              <a:schemeClr val="accent1">
                <a:alpha val="0"/>
              </a:schemeClr>
            </a:solidFill>
            <a:prstDash val="solid"/>
          </a:ln>
        </p:spPr>
      </p:sp>
      <p:sp>
        <p:nvSpPr>
          <p:cNvPr id="11" name="Text 7"/>
          <p:cNvSpPr txBox="1"/>
          <p:nvPr/>
        </p:nvSpPr>
        <p:spPr>
          <a:xfrm>
            <a:off x="4663440" y="22402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Form &amp; size</a:t>
            </a:r>
            <a:endParaRPr lang="en-US" sz="1300" dirty="0"/>
          </a:p>
        </p:txBody>
      </p:sp>
      <p:sp>
        <p:nvSpPr>
          <p:cNvPr id="12" name="Text 8"/>
          <p:cNvSpPr txBox="1"/>
          <p:nvPr/>
        </p:nvSpPr>
        <p:spPr>
          <a:xfrm>
            <a:off x="6858000" y="2240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Foaming cleanser · 200 ml</a:t>
            </a:r>
            <a:endParaRPr lang="en-US" sz="1300" dirty="0"/>
          </a:p>
        </p:txBody>
      </p:sp>
      <p:sp>
        <p:nvSpPr>
          <p:cNvPr id="13" name="Text 9"/>
          <p:cNvSpPr txBox="1"/>
          <p:nvPr/>
        </p:nvSpPr>
        <p:spPr>
          <a:xfrm>
            <a:off x="4663440" y="26974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pH</a:t>
            </a:r>
            <a:endParaRPr lang="en-US" sz="1300" dirty="0"/>
          </a:p>
        </p:txBody>
      </p:sp>
      <p:sp>
        <p:nvSpPr>
          <p:cNvPr id="14" name="Text 10"/>
          <p:cNvSpPr txBox="1"/>
          <p:nvPr/>
        </p:nvSpPr>
        <p:spPr>
          <a:xfrm>
            <a:off x="6858000" y="2697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3.5 – 4.5</a:t>
            </a:r>
            <a:endParaRPr lang="en-US" sz="1300" dirty="0"/>
          </a:p>
        </p:txBody>
      </p:sp>
      <p:sp>
        <p:nvSpPr>
          <p:cNvPr id="15" name="Shape 11"/>
          <p:cNvSpPr/>
          <p:nvPr/>
        </p:nvSpPr>
        <p:spPr>
          <a:xfrm>
            <a:off x="4572000" y="3154680"/>
            <a:ext cx="7040880" cy="457200"/>
          </a:xfrm>
          <a:prstGeom prst="rect">
            <a:avLst/>
          </a:prstGeom>
          <a:solidFill>
            <a:schemeClr val="accent1">
              <a:alpha val="7000"/>
            </a:schemeClr>
          </a:solidFill>
          <a:ln w="12700">
            <a:solidFill>
              <a:schemeClr val="accent1">
                <a:alpha val="0"/>
              </a:schemeClr>
            </a:solidFill>
            <a:prstDash val="solid"/>
          </a:ln>
        </p:spPr>
      </p:sp>
      <p:sp>
        <p:nvSpPr>
          <p:cNvPr id="16" name="Text 12"/>
          <p:cNvSpPr txBox="1"/>
          <p:nvPr/>
        </p:nvSpPr>
        <p:spPr>
          <a:xfrm>
            <a:off x="4663440" y="31546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Free from</a:t>
            </a:r>
            <a:endParaRPr lang="en-US" sz="1300" dirty="0"/>
          </a:p>
        </p:txBody>
      </p:sp>
      <p:sp>
        <p:nvSpPr>
          <p:cNvPr id="17" name="Text 13"/>
          <p:cNvSpPr txBox="1"/>
          <p:nvPr/>
        </p:nvSpPr>
        <p:spPr>
          <a:xfrm>
            <a:off x="6858000" y="3154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Alcohol · parabens · gluten</a:t>
            </a:r>
            <a:endParaRPr lang="en-US" sz="1300" dirty="0"/>
          </a:p>
        </p:txBody>
      </p:sp>
      <p:sp>
        <p:nvSpPr>
          <p:cNvPr id="18" name="Text 14"/>
          <p:cNvSpPr txBox="1"/>
          <p:nvPr/>
        </p:nvSpPr>
        <p:spPr>
          <a:xfrm>
            <a:off x="4663440" y="36118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SFDA notification</a:t>
            </a:r>
            <a:endParaRPr lang="en-US" sz="1300" dirty="0"/>
          </a:p>
        </p:txBody>
      </p:sp>
      <p:sp>
        <p:nvSpPr>
          <p:cNvPr id="19" name="Text 15"/>
          <p:cNvSpPr txBox="1"/>
          <p:nvPr/>
        </p:nvSpPr>
        <p:spPr>
          <a:xfrm>
            <a:off x="6858000" y="3611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CN-2023-36519 (valid to 23/11/2027)</a:t>
            </a:r>
            <a:endParaRPr lang="en-US" sz="1300" dirty="0"/>
          </a:p>
        </p:txBody>
      </p:sp>
      <p:sp>
        <p:nvSpPr>
          <p:cNvPr id="20" name="Shape 16"/>
          <p:cNvSpPr/>
          <p:nvPr/>
        </p:nvSpPr>
        <p:spPr>
          <a:xfrm>
            <a:off x="4572000" y="4069080"/>
            <a:ext cx="7040880" cy="457200"/>
          </a:xfrm>
          <a:prstGeom prst="rect">
            <a:avLst/>
          </a:prstGeom>
          <a:solidFill>
            <a:schemeClr val="accent1">
              <a:alpha val="7000"/>
            </a:schemeClr>
          </a:solidFill>
          <a:ln w="12700">
            <a:solidFill>
              <a:schemeClr val="accent1">
                <a:alpha val="0"/>
              </a:schemeClr>
            </a:solidFill>
            <a:prstDash val="solid"/>
          </a:ln>
        </p:spPr>
      </p:sp>
      <p:sp>
        <p:nvSpPr>
          <p:cNvPr id="21" name="Text 17"/>
          <p:cNvSpPr txBox="1"/>
          <p:nvPr/>
        </p:nvSpPr>
        <p:spPr>
          <a:xfrm>
            <a:off x="4663440" y="40690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Barcode</a:t>
            </a:r>
            <a:endParaRPr lang="en-US" sz="1300" dirty="0"/>
          </a:p>
        </p:txBody>
      </p:sp>
      <p:sp>
        <p:nvSpPr>
          <p:cNvPr id="22" name="Text 18"/>
          <p:cNvSpPr txBox="1"/>
          <p:nvPr/>
        </p:nvSpPr>
        <p:spPr>
          <a:xfrm>
            <a:off x="6858000" y="4069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6772505023146</a:t>
            </a:r>
            <a:endParaRPr lang="en-US" sz="1300" dirty="0"/>
          </a:p>
        </p:txBody>
      </p:sp>
      <p:sp>
        <p:nvSpPr>
          <p:cNvPr id="23" name="Text 19"/>
          <p:cNvSpPr txBox="1"/>
          <p:nvPr/>
        </p:nvSpPr>
        <p:spPr>
          <a:xfrm>
            <a:off x="4663440" y="45262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Use</a:t>
            </a:r>
            <a:endParaRPr lang="en-US" sz="1300" dirty="0"/>
          </a:p>
        </p:txBody>
      </p:sp>
      <p:sp>
        <p:nvSpPr>
          <p:cNvPr id="24" name="Text 20"/>
          <p:cNvSpPr txBox="1"/>
          <p:nvPr/>
        </p:nvSpPr>
        <p:spPr>
          <a:xfrm>
            <a:off x="6858000" y="4526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Twice daily, diluted or neat</a:t>
            </a:r>
            <a:endParaRPr lang="en-US" sz="1300" dirty="0"/>
          </a:p>
        </p:txBody>
      </p:sp>
      <p:sp>
        <p:nvSpPr>
          <p:cNvPr id="25" name="Shape 21"/>
          <p:cNvSpPr/>
          <p:nvPr/>
        </p:nvSpPr>
        <p:spPr>
          <a:xfrm>
            <a:off x="4572000" y="4983480"/>
            <a:ext cx="7040880" cy="457200"/>
          </a:xfrm>
          <a:prstGeom prst="rect">
            <a:avLst/>
          </a:prstGeom>
          <a:solidFill>
            <a:schemeClr val="accent1">
              <a:alpha val="7000"/>
            </a:schemeClr>
          </a:solidFill>
          <a:ln w="12700">
            <a:solidFill>
              <a:schemeClr val="accent1">
                <a:alpha val="0"/>
              </a:schemeClr>
            </a:solidFill>
            <a:prstDash val="solid"/>
          </a:ln>
        </p:spPr>
      </p:sp>
      <p:sp>
        <p:nvSpPr>
          <p:cNvPr id="26" name="Text 22"/>
          <p:cNvSpPr txBox="1"/>
          <p:nvPr/>
        </p:nvSpPr>
        <p:spPr>
          <a:xfrm>
            <a:off x="4663440" y="49834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Manufacturer</a:t>
            </a:r>
            <a:endParaRPr lang="en-US" sz="1300" dirty="0"/>
          </a:p>
        </p:txBody>
      </p:sp>
      <p:sp>
        <p:nvSpPr>
          <p:cNvPr id="27" name="Text 23"/>
          <p:cNvSpPr txBox="1"/>
          <p:nvPr/>
        </p:nvSpPr>
        <p:spPr>
          <a:xfrm>
            <a:off x="6858000" y="4983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Brand International — Egypt</a:t>
            </a:r>
            <a:endParaRPr lang="en-US" sz="1300" dirty="0"/>
          </a:p>
        </p:txBody>
      </p:sp>
      <p:sp>
        <p:nvSpPr>
          <p:cNvPr id="28" name="Text 24"/>
          <p:cNvSpPr txBox="1"/>
          <p:nvPr/>
        </p:nvSpPr>
        <p:spPr>
          <a:xfrm>
            <a:off x="4663440" y="5440680"/>
            <a:ext cx="2103120" cy="457200"/>
          </a:xfrm>
          <a:prstGeom prst="rect">
            <a:avLst/>
          </a:prstGeom>
          <a:noFill/>
          <a:ln/>
        </p:spPr>
        <p:txBody>
          <a:bodyPr wrap="square" lIns="0" tIns="76200" rIns="0" bIns="0" rtlCol="0" anchor="ctr"/>
          <a:lstStyle/>
          <a:p>
            <a:pPr algn="l" indent="0" marL="0">
              <a:buNone/>
            </a:pPr>
            <a:r>
              <a:rPr lang="en-US" sz="1300" b="1" dirty="0">
                <a:solidFill>
                  <a:schemeClr val="accent1"/>
                </a:solidFill>
              </a:rPr>
              <a:t>Public price</a:t>
            </a:r>
            <a:endParaRPr lang="en-US" sz="1300" dirty="0"/>
          </a:p>
        </p:txBody>
      </p:sp>
      <p:sp>
        <p:nvSpPr>
          <p:cNvPr id="29" name="Text 25"/>
          <p:cNvSpPr txBox="1"/>
          <p:nvPr/>
        </p:nvSpPr>
        <p:spPr>
          <a:xfrm>
            <a:off x="6858000" y="5440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SAR 65 (excl. VAT)</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Femina — science: the natural vaginal defence system</a:t>
            </a:r>
            <a:endParaRPr lang="en-US" sz="3200" dirty="0"/>
          </a:p>
        </p:txBody>
      </p:sp>
      <p:sp>
        <p:nvSpPr>
          <p:cNvPr id="4" name="Shape 1"/>
          <p:cNvSpPr/>
          <p:nvPr/>
        </p:nvSpPr>
        <p:spPr>
          <a:xfrm>
            <a:off x="548640" y="1325880"/>
            <a:ext cx="283464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5" name="Text 2"/>
          <p:cNvSpPr txBox="1"/>
          <p:nvPr/>
        </p:nvSpPr>
        <p:spPr>
          <a:xfrm>
            <a:off x="548640" y="1435608"/>
            <a:ext cx="2834640" cy="1028700"/>
          </a:xfrm>
          <a:prstGeom prst="rect">
            <a:avLst/>
          </a:prstGeom>
          <a:noFill/>
          <a:ln/>
        </p:spPr>
        <p:txBody>
          <a:bodyPr wrap="square" lIns="0" tIns="0" rIns="0" bIns="0" rtlCol="0" anchor="ctr"/>
          <a:lstStyle/>
          <a:p>
            <a:pPr algn="ctr" indent="0" marL="0">
              <a:buNone/>
            </a:pPr>
            <a:r>
              <a:rPr lang="en-US" sz="3200" b="1" dirty="0">
                <a:solidFill>
                  <a:schemeClr val="accent1"/>
                </a:solidFill>
              </a:rPr>
              <a:t>95%</a:t>
            </a:r>
            <a:endParaRPr lang="en-US" sz="3200" dirty="0"/>
          </a:p>
        </p:txBody>
      </p:sp>
      <p:sp>
        <p:nvSpPr>
          <p:cNvPr id="6" name="Text 3"/>
          <p:cNvSpPr txBox="1"/>
          <p:nvPr/>
        </p:nvSpPr>
        <p:spPr>
          <a:xfrm>
            <a:off x="640080" y="2468880"/>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of healthy flora</a:t>
            </a:r>
            <a:endParaRPr lang="en-US" sz="1400" dirty="0"/>
          </a:p>
        </p:txBody>
      </p:sp>
      <p:sp>
        <p:nvSpPr>
          <p:cNvPr id="7" name="Text 4"/>
          <p:cNvSpPr txBox="1"/>
          <p:nvPr/>
        </p:nvSpPr>
        <p:spPr>
          <a:xfrm>
            <a:off x="685800" y="2834640"/>
            <a:ext cx="2560320" cy="685800"/>
          </a:xfrm>
          <a:prstGeom prst="rect">
            <a:avLst/>
          </a:prstGeom>
          <a:noFill/>
          <a:ln/>
        </p:spPr>
        <p:txBody>
          <a:bodyPr wrap="square" lIns="0" tIns="0" rIns="0" bIns="0" rtlCol="0" anchor="t"/>
          <a:lstStyle/>
          <a:p>
            <a:pPr algn="ctr" indent="0" marL="0">
              <a:buNone/>
            </a:pPr>
            <a:r>
              <a:rPr lang="en-US" sz="1200" dirty="0">
                <a:solidFill>
                  <a:schemeClr val="accent5"/>
                </a:solidFill>
              </a:rPr>
              <a:t>Lactobacilli</a:t>
            </a:r>
            <a:endParaRPr lang="en-US" sz="1200" dirty="0"/>
          </a:p>
        </p:txBody>
      </p:sp>
      <p:sp>
        <p:nvSpPr>
          <p:cNvPr id="8" name="Shape 5"/>
          <p:cNvSpPr/>
          <p:nvPr/>
        </p:nvSpPr>
        <p:spPr>
          <a:xfrm>
            <a:off x="3566160" y="1325880"/>
            <a:ext cx="283464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9" name="Text 6"/>
          <p:cNvSpPr txBox="1"/>
          <p:nvPr/>
        </p:nvSpPr>
        <p:spPr>
          <a:xfrm>
            <a:off x="3566160" y="1435608"/>
            <a:ext cx="2834640" cy="1028700"/>
          </a:xfrm>
          <a:prstGeom prst="rect">
            <a:avLst/>
          </a:prstGeom>
          <a:noFill/>
          <a:ln/>
        </p:spPr>
        <p:txBody>
          <a:bodyPr wrap="square" lIns="0" tIns="0" rIns="0" bIns="0" rtlCol="0" anchor="ctr"/>
          <a:lstStyle/>
          <a:p>
            <a:pPr algn="ctr" indent="0" marL="0">
              <a:buNone/>
            </a:pPr>
            <a:r>
              <a:rPr lang="en-US" sz="3200" b="1" dirty="0">
                <a:solidFill>
                  <a:schemeClr val="accent1"/>
                </a:solidFill>
              </a:rPr>
              <a:t>3.8–4.5</a:t>
            </a:r>
            <a:endParaRPr lang="en-US" sz="3200" dirty="0"/>
          </a:p>
        </p:txBody>
      </p:sp>
      <p:sp>
        <p:nvSpPr>
          <p:cNvPr id="10" name="Text 7"/>
          <p:cNvSpPr txBox="1"/>
          <p:nvPr/>
        </p:nvSpPr>
        <p:spPr>
          <a:xfrm>
            <a:off x="3657600" y="2468880"/>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Normal vaginal pH</a:t>
            </a:r>
            <a:endParaRPr lang="en-US" sz="1400" dirty="0"/>
          </a:p>
        </p:txBody>
      </p:sp>
      <p:sp>
        <p:nvSpPr>
          <p:cNvPr id="11" name="Text 8"/>
          <p:cNvSpPr txBox="1"/>
          <p:nvPr/>
        </p:nvSpPr>
        <p:spPr>
          <a:xfrm>
            <a:off x="3703320" y="2834640"/>
            <a:ext cx="2560320" cy="685800"/>
          </a:xfrm>
          <a:prstGeom prst="rect">
            <a:avLst/>
          </a:prstGeom>
          <a:noFill/>
          <a:ln/>
        </p:spPr>
        <p:txBody>
          <a:bodyPr wrap="square" lIns="0" tIns="0" rIns="0" bIns="0" rtlCol="0" anchor="t"/>
          <a:lstStyle/>
          <a:p>
            <a:pPr algn="ctr" indent="0" marL="0">
              <a:buNone/>
            </a:pPr>
            <a:r>
              <a:rPr lang="en-US" sz="1200" dirty="0">
                <a:solidFill>
                  <a:schemeClr val="accent5"/>
                </a:solidFill>
              </a:rPr>
              <a:t>Acidic environment that protects</a:t>
            </a:r>
            <a:endParaRPr lang="en-US" sz="1200" dirty="0"/>
          </a:p>
        </p:txBody>
      </p:sp>
      <p:sp>
        <p:nvSpPr>
          <p:cNvPr id="12" name="Shape 9"/>
          <p:cNvSpPr/>
          <p:nvPr/>
        </p:nvSpPr>
        <p:spPr>
          <a:xfrm>
            <a:off x="6583680" y="1325880"/>
            <a:ext cx="2834640" cy="2286000"/>
          </a:xfrm>
          <a:prstGeom prst="roundRect">
            <a:avLst>
              <a:gd name="adj" fmla="val 4800"/>
            </a:avLst>
          </a:prstGeom>
          <a:solidFill>
            <a:schemeClr val="accent1">
              <a:alpha val="8000"/>
            </a:schemeClr>
          </a:solidFill>
          <a:ln w="9525">
            <a:solidFill>
              <a:schemeClr val="accent1">
                <a:alpha val="25000"/>
              </a:schemeClr>
            </a:solidFill>
            <a:prstDash val="solid"/>
          </a:ln>
        </p:spPr>
      </p:sp>
      <p:sp>
        <p:nvSpPr>
          <p:cNvPr id="13" name="Text 10"/>
          <p:cNvSpPr txBox="1"/>
          <p:nvPr/>
        </p:nvSpPr>
        <p:spPr>
          <a:xfrm>
            <a:off x="6583680" y="1435608"/>
            <a:ext cx="2834640" cy="1028700"/>
          </a:xfrm>
          <a:prstGeom prst="rect">
            <a:avLst/>
          </a:prstGeom>
          <a:noFill/>
          <a:ln/>
        </p:spPr>
        <p:txBody>
          <a:bodyPr wrap="square" lIns="0" tIns="0" rIns="0" bIns="0" rtlCol="0" anchor="ctr"/>
          <a:lstStyle/>
          <a:p>
            <a:pPr algn="ctr" indent="0" marL="0">
              <a:buNone/>
            </a:pPr>
            <a:r>
              <a:rPr lang="en-US" sz="3200" b="1" dirty="0">
                <a:solidFill>
                  <a:schemeClr val="accent1"/>
                </a:solidFill>
              </a:rPr>
              <a:t>pH 3.5–4.5</a:t>
            </a:r>
            <a:endParaRPr lang="en-US" sz="3200" dirty="0"/>
          </a:p>
        </p:txBody>
      </p:sp>
      <p:sp>
        <p:nvSpPr>
          <p:cNvPr id="14" name="Text 11"/>
          <p:cNvSpPr txBox="1"/>
          <p:nvPr/>
        </p:nvSpPr>
        <p:spPr>
          <a:xfrm>
            <a:off x="6675120" y="2468880"/>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Femina pH</a:t>
            </a:r>
            <a:endParaRPr lang="en-US" sz="1400" dirty="0"/>
          </a:p>
        </p:txBody>
      </p:sp>
      <p:sp>
        <p:nvSpPr>
          <p:cNvPr id="15" name="Text 12"/>
          <p:cNvSpPr txBox="1"/>
          <p:nvPr/>
        </p:nvSpPr>
        <p:spPr>
          <a:xfrm>
            <a:off x="6720840" y="2834640"/>
            <a:ext cx="2560320" cy="685800"/>
          </a:xfrm>
          <a:prstGeom prst="rect">
            <a:avLst/>
          </a:prstGeom>
          <a:noFill/>
          <a:ln/>
        </p:spPr>
        <p:txBody>
          <a:bodyPr wrap="square" lIns="0" tIns="0" rIns="0" bIns="0" rtlCol="0" anchor="t"/>
          <a:lstStyle/>
          <a:p>
            <a:pPr algn="ctr" indent="0" marL="0">
              <a:buNone/>
            </a:pPr>
            <a:r>
              <a:rPr lang="en-US" sz="1200" dirty="0">
                <a:solidFill>
                  <a:schemeClr val="accent5"/>
                </a:solidFill>
              </a:rPr>
              <a:t>Compatible with the natural environment</a:t>
            </a:r>
            <a:endParaRPr lang="en-US" sz="1200" dirty="0"/>
          </a:p>
        </p:txBody>
      </p:sp>
      <p:sp>
        <p:nvSpPr>
          <p:cNvPr id="16" name="Shape 13"/>
          <p:cNvSpPr/>
          <p:nvPr/>
        </p:nvSpPr>
        <p:spPr>
          <a:xfrm>
            <a:off x="9601200" y="1325880"/>
            <a:ext cx="2011680" cy="2286000"/>
          </a:xfrm>
          <a:prstGeom prst="roundRect">
            <a:avLst>
              <a:gd name="adj" fmla="val 5455"/>
            </a:avLst>
          </a:prstGeom>
          <a:solidFill>
            <a:schemeClr val="accent1">
              <a:alpha val="6000"/>
            </a:schemeClr>
          </a:solidFill>
          <a:ln w="9525">
            <a:solidFill>
              <a:schemeClr val="accent1">
                <a:alpha val="25000"/>
              </a:schemeClr>
            </a:solidFill>
            <a:prstDash val="solid"/>
          </a:ln>
        </p:spPr>
      </p:sp>
      <p:sp>
        <p:nvSpPr>
          <p:cNvPr id="17" name="Text 14"/>
          <p:cNvSpPr txBox="1"/>
          <p:nvPr/>
        </p:nvSpPr>
        <p:spPr>
          <a:xfrm>
            <a:off x="9692640" y="1417320"/>
            <a:ext cx="1828800" cy="2103120"/>
          </a:xfrm>
          <a:prstGeom prst="rect">
            <a:avLst/>
          </a:prstGeom>
          <a:noFill/>
          <a:ln/>
        </p:spPr>
        <p:txBody>
          <a:bodyPr wrap="square" lIns="0" tIns="0" rIns="0" bIns="0" rtlCol="0" anchor="ctr"/>
          <a:lstStyle/>
          <a:p>
            <a:pPr algn="l" indent="0" marL="0">
              <a:buNone/>
            </a:pPr>
            <a:r>
              <a:rPr lang="en-US" sz="1200" dirty="0">
                <a:solidFill>
                  <a:schemeClr val="tx1"/>
                </a:solidFill>
              </a:rPr>
              <a:t>Chen, 2017: international guidelines support gentle daily external cleansing with a pH-appropriate wash</a:t>
            </a:r>
            <a:endParaRPr lang="en-US" sz="1200" dirty="0"/>
          </a:p>
        </p:txBody>
      </p:sp>
      <p:sp>
        <p:nvSpPr>
          <p:cNvPr id="18" name="Shape 15"/>
          <p:cNvSpPr/>
          <p:nvPr/>
        </p:nvSpPr>
        <p:spPr>
          <a:xfrm>
            <a:off x="548640" y="3840480"/>
            <a:ext cx="544068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19" name="Shape 16"/>
          <p:cNvSpPr/>
          <p:nvPr/>
        </p:nvSpPr>
        <p:spPr>
          <a:xfrm>
            <a:off x="713232" y="4005072"/>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713232" y="4005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1298448" y="3950208"/>
            <a:ext cx="4572000" cy="548640"/>
          </a:xfrm>
          <a:prstGeom prst="rect">
            <a:avLst/>
          </a:prstGeom>
          <a:noFill/>
          <a:ln/>
        </p:spPr>
        <p:txBody>
          <a:bodyPr wrap="square" lIns="0" tIns="0" rIns="0" bIns="0" rtlCol="0" anchor="ctr"/>
          <a:lstStyle/>
          <a:p>
            <a:pPr algn="l" indent="0" marL="0">
              <a:buNone/>
            </a:pPr>
            <a:r>
              <a:rPr lang="en-US" sz="1600" b="1" dirty="0">
                <a:solidFill>
                  <a:schemeClr val="accent1"/>
                </a:solidFill>
              </a:rPr>
              <a:t>How does acidity protect?</a:t>
            </a:r>
            <a:endParaRPr lang="en-US" sz="1600" dirty="0"/>
          </a:p>
        </p:txBody>
      </p:sp>
      <p:sp>
        <p:nvSpPr>
          <p:cNvPr id="22" name="Text 19"/>
          <p:cNvSpPr txBox="1"/>
          <p:nvPr/>
        </p:nvSpPr>
        <p:spPr>
          <a:xfrm>
            <a:off x="731520" y="4553712"/>
            <a:ext cx="5074920" cy="1435608"/>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Lactic acid produced by lactobacilli keeps the environment acidic, limiting the growth of harmful microbes and their adhesion to vaginal cells.</a:t>
            </a:r>
            <a:endParaRPr lang="en-US" sz="1400" dirty="0"/>
          </a:p>
        </p:txBody>
      </p:sp>
      <p:sp>
        <p:nvSpPr>
          <p:cNvPr id="23" name="Shape 20"/>
          <p:cNvSpPr/>
          <p:nvPr/>
        </p:nvSpPr>
        <p:spPr>
          <a:xfrm>
            <a:off x="6172200" y="3840480"/>
            <a:ext cx="5440680" cy="2240280"/>
          </a:xfrm>
          <a:prstGeom prst="roundRect">
            <a:avLst>
              <a:gd name="adj" fmla="val 4898"/>
            </a:avLst>
          </a:prstGeom>
          <a:solidFill>
            <a:schemeClr val="accent1">
              <a:alpha val="8000"/>
            </a:schemeClr>
          </a:solidFill>
          <a:ln w="9525">
            <a:solidFill>
              <a:schemeClr val="accent1">
                <a:alpha val="25000"/>
              </a:schemeClr>
            </a:solidFill>
            <a:prstDash val="solid"/>
          </a:ln>
        </p:spPr>
      </p:sp>
      <p:sp>
        <p:nvSpPr>
          <p:cNvPr id="24" name="Shape 21"/>
          <p:cNvSpPr/>
          <p:nvPr/>
        </p:nvSpPr>
        <p:spPr>
          <a:xfrm>
            <a:off x="6336792" y="4005072"/>
            <a:ext cx="457200" cy="457200"/>
          </a:xfrm>
          <a:prstGeom prst="ellipse">
            <a:avLst/>
          </a:prstGeom>
          <a:solidFill>
            <a:schemeClr val="accent1"/>
          </a:solidFill>
          <a:ln w="12700">
            <a:solidFill>
              <a:schemeClr val="accent1"/>
            </a:solidFill>
            <a:prstDash val="solid"/>
          </a:ln>
        </p:spPr>
      </p:sp>
      <p:sp>
        <p:nvSpPr>
          <p:cNvPr id="25" name="Text 22"/>
          <p:cNvSpPr txBox="1"/>
          <p:nvPr/>
        </p:nvSpPr>
        <p:spPr>
          <a:xfrm>
            <a:off x="6336792" y="4005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6" name="Text 23"/>
          <p:cNvSpPr txBox="1"/>
          <p:nvPr/>
        </p:nvSpPr>
        <p:spPr>
          <a:xfrm>
            <a:off x="6922008" y="3950208"/>
            <a:ext cx="4572000" cy="548640"/>
          </a:xfrm>
          <a:prstGeom prst="rect">
            <a:avLst/>
          </a:prstGeom>
          <a:noFill/>
          <a:ln/>
        </p:spPr>
        <p:txBody>
          <a:bodyPr wrap="square" lIns="0" tIns="0" rIns="0" bIns="0" rtlCol="0" anchor="ctr"/>
          <a:lstStyle/>
          <a:p>
            <a:pPr algn="l" indent="0" marL="0">
              <a:buNone/>
            </a:pPr>
            <a:r>
              <a:rPr lang="en-US" sz="1600" b="1" dirty="0">
                <a:solidFill>
                  <a:schemeClr val="accent1"/>
                </a:solidFill>
              </a:rPr>
              <a:t>What disturbs the balance?</a:t>
            </a:r>
            <a:endParaRPr lang="en-US" sz="1600" dirty="0"/>
          </a:p>
        </p:txBody>
      </p:sp>
      <p:sp>
        <p:nvSpPr>
          <p:cNvPr id="27" name="Text 24"/>
          <p:cNvSpPr txBox="1"/>
          <p:nvPr/>
        </p:nvSpPr>
        <p:spPr>
          <a:xfrm>
            <a:off x="6355080" y="4553712"/>
            <a:ext cx="5074920" cy="1435608"/>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Alkaline soap, antibiotics, hormonal changes (pregnancy, menstruation, menopause) and excessive internal douching.</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Femina — formula: 4 roles in one product</a:t>
            </a:r>
            <a:endParaRPr lang="en-US" sz="3200" dirty="0"/>
          </a:p>
        </p:txBody>
      </p:sp>
      <p:sp>
        <p:nvSpPr>
          <p:cNvPr id="4" name="Shape 1"/>
          <p:cNvSpPr/>
          <p:nvPr/>
        </p:nvSpPr>
        <p:spPr>
          <a:xfrm>
            <a:off x="54864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5" name="Shape 2"/>
          <p:cNvSpPr/>
          <p:nvPr/>
        </p:nvSpPr>
        <p:spPr>
          <a:xfrm>
            <a:off x="713232" y="1490472"/>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1323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9844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1"/>
                </a:solidFill>
              </a:rPr>
              <a:t>Antiseptic</a:t>
            </a:r>
            <a:endParaRPr lang="en-US" sz="1500" dirty="0"/>
          </a:p>
        </p:txBody>
      </p:sp>
      <p:sp>
        <p:nvSpPr>
          <p:cNvPr id="8" name="Text 5"/>
          <p:cNvSpPr txBox="1"/>
          <p:nvPr/>
        </p:nvSpPr>
        <p:spPr>
          <a:xfrm>
            <a:off x="731520" y="2039112"/>
            <a:ext cx="2286000" cy="230428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Chlorhexidine 0.2%</a:t>
            </a:r>
            <a:endParaRPr lang="en-US" sz="1500" dirty="0"/>
          </a:p>
          <a:p>
            <a:pPr algn="l" indent="0" marL="0">
              <a:spcAft>
                <a:spcPts val="400"/>
              </a:spcAft>
              <a:buNone/>
            </a:pPr>
            <a:r>
              <a:rPr lang="en-US" sz="1500" dirty="0">
                <a:solidFill>
                  <a:schemeClr val="tx1"/>
                </a:solidFill>
              </a:rPr>
              <a:t>Tea tree oil 1%</a:t>
            </a:r>
            <a:endParaRPr lang="en-US" sz="1500" dirty="0"/>
          </a:p>
          <a:p>
            <a:pPr algn="l" indent="0" marL="0">
              <a:spcAft>
                <a:spcPts val="400"/>
              </a:spcAft>
              <a:buNone/>
            </a:pPr>
            <a:r>
              <a:rPr lang="en-US" sz="1500" dirty="0">
                <a:solidFill>
                  <a:schemeClr val="tx1"/>
                </a:solidFill>
              </a:rPr>
              <a:t>Thyme oil 1%</a:t>
            </a:r>
            <a:endParaRPr lang="en-US" sz="1500" dirty="0"/>
          </a:p>
          <a:p>
            <a:pPr algn="l" indent="0" marL="0">
              <a:spcAft>
                <a:spcPts val="400"/>
              </a:spcAft>
              <a:buNone/>
            </a:pPr>
            <a:r>
              <a:rPr lang="en-US" sz="1500" dirty="0">
                <a:solidFill>
                  <a:schemeClr val="tx1"/>
                </a:solidFill>
              </a:rPr>
              <a:t>Neem oil 3%</a:t>
            </a:r>
            <a:endParaRPr lang="en-US" sz="1500" dirty="0"/>
          </a:p>
        </p:txBody>
      </p:sp>
      <p:sp>
        <p:nvSpPr>
          <p:cNvPr id="9" name="Shape 6"/>
          <p:cNvSpPr/>
          <p:nvPr/>
        </p:nvSpPr>
        <p:spPr>
          <a:xfrm>
            <a:off x="336042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10" name="Shape 7"/>
          <p:cNvSpPr/>
          <p:nvPr/>
        </p:nvSpPr>
        <p:spPr>
          <a:xfrm>
            <a:off x="3525012" y="1490472"/>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352501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11022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1"/>
                </a:solidFill>
              </a:rPr>
              <a:t>Soothing &amp; anti-itch</a:t>
            </a:r>
            <a:endParaRPr lang="en-US" sz="1500" dirty="0"/>
          </a:p>
        </p:txBody>
      </p:sp>
      <p:sp>
        <p:nvSpPr>
          <p:cNvPr id="13" name="Text 10"/>
          <p:cNvSpPr txBox="1"/>
          <p:nvPr/>
        </p:nvSpPr>
        <p:spPr>
          <a:xfrm>
            <a:off x="3543300" y="2039112"/>
            <a:ext cx="2286000" cy="230428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Chamomile 1%</a:t>
            </a:r>
            <a:endParaRPr lang="en-US" sz="1500" dirty="0"/>
          </a:p>
          <a:p>
            <a:pPr algn="l" indent="0" marL="0">
              <a:spcAft>
                <a:spcPts val="400"/>
              </a:spcAft>
              <a:buNone/>
            </a:pPr>
            <a:r>
              <a:rPr lang="en-US" sz="1500" dirty="0">
                <a:solidFill>
                  <a:schemeClr val="tx1"/>
                </a:solidFill>
              </a:rPr>
              <a:t>Bisabolol 1%</a:t>
            </a:r>
            <a:endParaRPr lang="en-US" sz="1500" dirty="0"/>
          </a:p>
          <a:p>
            <a:pPr algn="l" indent="0" marL="0">
              <a:spcAft>
                <a:spcPts val="400"/>
              </a:spcAft>
              <a:buNone/>
            </a:pPr>
            <a:r>
              <a:rPr lang="en-US" sz="1500" dirty="0">
                <a:solidFill>
                  <a:schemeClr val="tx1"/>
                </a:solidFill>
              </a:rPr>
              <a:t>Aloe vera 1%</a:t>
            </a:r>
            <a:endParaRPr lang="en-US" sz="1500" dirty="0"/>
          </a:p>
          <a:p>
            <a:pPr algn="l" indent="0" marL="0">
              <a:spcAft>
                <a:spcPts val="400"/>
              </a:spcAft>
              <a:buNone/>
            </a:pPr>
            <a:r>
              <a:rPr lang="en-US" sz="1500" dirty="0">
                <a:solidFill>
                  <a:schemeClr val="tx1"/>
                </a:solidFill>
              </a:rPr>
              <a:t>Licorice 1%</a:t>
            </a:r>
            <a:endParaRPr lang="en-US" sz="1500" dirty="0"/>
          </a:p>
          <a:p>
            <a:pPr algn="l" indent="0" marL="0">
              <a:spcAft>
                <a:spcPts val="400"/>
              </a:spcAft>
              <a:buNone/>
            </a:pPr>
            <a:r>
              <a:rPr lang="en-US" sz="1500" dirty="0">
                <a:solidFill>
                  <a:schemeClr val="tx1"/>
                </a:solidFill>
              </a:rPr>
              <a:t>Menthol 0.3%</a:t>
            </a:r>
            <a:endParaRPr lang="en-US" sz="1500" dirty="0"/>
          </a:p>
        </p:txBody>
      </p:sp>
      <p:sp>
        <p:nvSpPr>
          <p:cNvPr id="14" name="Shape 11"/>
          <p:cNvSpPr/>
          <p:nvPr/>
        </p:nvSpPr>
        <p:spPr>
          <a:xfrm>
            <a:off x="617220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15" name="Shape 12"/>
          <p:cNvSpPr/>
          <p:nvPr/>
        </p:nvSpPr>
        <p:spPr>
          <a:xfrm>
            <a:off x="6336792" y="1490472"/>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633679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692200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1"/>
                </a:solidFill>
              </a:rPr>
              <a:t>Moisture &amp; barrier</a:t>
            </a:r>
            <a:endParaRPr lang="en-US" sz="1500" dirty="0"/>
          </a:p>
        </p:txBody>
      </p:sp>
      <p:sp>
        <p:nvSpPr>
          <p:cNvPr id="18" name="Text 15"/>
          <p:cNvSpPr txBox="1"/>
          <p:nvPr/>
        </p:nvSpPr>
        <p:spPr>
          <a:xfrm>
            <a:off x="6355080" y="2039112"/>
            <a:ext cx="2286000" cy="230428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Glycerin 5%</a:t>
            </a:r>
            <a:endParaRPr lang="en-US" sz="1500" dirty="0"/>
          </a:p>
          <a:p>
            <a:pPr algn="l" indent="0" marL="0">
              <a:spcAft>
                <a:spcPts val="400"/>
              </a:spcAft>
              <a:buNone/>
            </a:pPr>
            <a:r>
              <a:rPr lang="en-US" sz="1500" dirty="0">
                <a:solidFill>
                  <a:schemeClr val="tx1"/>
                </a:solidFill>
              </a:rPr>
              <a:t>Ceramide 2%</a:t>
            </a:r>
            <a:endParaRPr lang="en-US" sz="1500" dirty="0"/>
          </a:p>
          <a:p>
            <a:pPr algn="l" indent="0" marL="0">
              <a:spcAft>
                <a:spcPts val="400"/>
              </a:spcAft>
              <a:buNone/>
            </a:pPr>
            <a:r>
              <a:rPr lang="en-US" sz="1500" dirty="0">
                <a:solidFill>
                  <a:schemeClr val="tx1"/>
                </a:solidFill>
              </a:rPr>
              <a:t>D-Panthenol 1%</a:t>
            </a:r>
            <a:endParaRPr lang="en-US" sz="1500" dirty="0"/>
          </a:p>
          <a:p>
            <a:pPr algn="l" indent="0" marL="0">
              <a:spcAft>
                <a:spcPts val="400"/>
              </a:spcAft>
              <a:buNone/>
            </a:pPr>
            <a:r>
              <a:rPr lang="en-US" sz="1500" dirty="0">
                <a:solidFill>
                  <a:schemeClr val="tx1"/>
                </a:solidFill>
              </a:rPr>
              <a:t>Allantoin 1%</a:t>
            </a:r>
            <a:endParaRPr lang="en-US" sz="1500" dirty="0"/>
          </a:p>
          <a:p>
            <a:pPr algn="l" indent="0" marL="0">
              <a:spcAft>
                <a:spcPts val="400"/>
              </a:spcAft>
              <a:buNone/>
            </a:pPr>
            <a:r>
              <a:rPr lang="en-US" sz="1500" dirty="0">
                <a:solidFill>
                  <a:schemeClr val="tx1"/>
                </a:solidFill>
              </a:rPr>
              <a:t>Vitamin E 1%</a:t>
            </a:r>
            <a:endParaRPr lang="en-US" sz="1500" dirty="0"/>
          </a:p>
        </p:txBody>
      </p:sp>
      <p:sp>
        <p:nvSpPr>
          <p:cNvPr id="19" name="Shape 16"/>
          <p:cNvSpPr/>
          <p:nvPr/>
        </p:nvSpPr>
        <p:spPr>
          <a:xfrm>
            <a:off x="8983980" y="1325880"/>
            <a:ext cx="2651760" cy="3108960"/>
          </a:xfrm>
          <a:prstGeom prst="roundRect">
            <a:avLst>
              <a:gd name="adj" fmla="val 4138"/>
            </a:avLst>
          </a:prstGeom>
          <a:solidFill>
            <a:schemeClr val="accent1">
              <a:alpha val="8000"/>
            </a:schemeClr>
          </a:solidFill>
          <a:ln w="9525">
            <a:solidFill>
              <a:schemeClr val="accent1">
                <a:alpha val="25000"/>
              </a:schemeClr>
            </a:solidFill>
            <a:prstDash val="solid"/>
          </a:ln>
        </p:spPr>
      </p:sp>
      <p:sp>
        <p:nvSpPr>
          <p:cNvPr id="20" name="Shape 17"/>
          <p:cNvSpPr/>
          <p:nvPr/>
        </p:nvSpPr>
        <p:spPr>
          <a:xfrm>
            <a:off x="9148572" y="1490472"/>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914857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973378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1"/>
                </a:solidFill>
              </a:rPr>
              <a:t>Cleansing &amp; pH</a:t>
            </a:r>
            <a:endParaRPr lang="en-US" sz="1500" dirty="0"/>
          </a:p>
        </p:txBody>
      </p:sp>
      <p:sp>
        <p:nvSpPr>
          <p:cNvPr id="23" name="Text 20"/>
          <p:cNvSpPr txBox="1"/>
          <p:nvPr/>
        </p:nvSpPr>
        <p:spPr>
          <a:xfrm>
            <a:off x="9166860" y="2039112"/>
            <a:ext cx="2286000" cy="230428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Gentle foaming base</a:t>
            </a:r>
            <a:endParaRPr lang="en-US" sz="1500" dirty="0"/>
          </a:p>
          <a:p>
            <a:pPr algn="l" indent="0" marL="0">
              <a:spcAft>
                <a:spcPts val="400"/>
              </a:spcAft>
              <a:buNone/>
            </a:pPr>
            <a:r>
              <a:rPr lang="en-US" sz="1500" dirty="0">
                <a:solidFill>
                  <a:schemeClr val="tx1"/>
                </a:solidFill>
              </a:rPr>
              <a:t>Lactic acid 0.5%</a:t>
            </a:r>
            <a:endParaRPr lang="en-US" sz="1500" dirty="0"/>
          </a:p>
          <a:p>
            <a:pPr algn="l" indent="0" marL="0">
              <a:spcAft>
                <a:spcPts val="400"/>
              </a:spcAft>
              <a:buNone/>
            </a:pPr>
            <a:r>
              <a:rPr lang="en-US" sz="1500" dirty="0">
                <a:solidFill>
                  <a:schemeClr val="tx1"/>
                </a:solidFill>
              </a:rPr>
              <a:t>Glycolic acid 0.5%</a:t>
            </a:r>
            <a:endParaRPr lang="en-US" sz="1500" dirty="0"/>
          </a:p>
          <a:p>
            <a:pPr algn="l" indent="0" marL="0">
              <a:spcAft>
                <a:spcPts val="400"/>
              </a:spcAft>
              <a:buNone/>
            </a:pPr>
            <a:r>
              <a:rPr lang="en-US" sz="1500" dirty="0">
                <a:solidFill>
                  <a:schemeClr val="tx1"/>
                </a:solidFill>
              </a:rPr>
              <a:t>pH 3.5–4.5</a:t>
            </a:r>
            <a:endParaRPr lang="en-US" sz="1500" dirty="0"/>
          </a:p>
        </p:txBody>
      </p:sp>
      <p:sp>
        <p:nvSpPr>
          <p:cNvPr id="24" name="Shape 21"/>
          <p:cNvSpPr/>
          <p:nvPr/>
        </p:nvSpPr>
        <p:spPr>
          <a:xfrm>
            <a:off x="548640" y="4663440"/>
            <a:ext cx="11064240" cy="1371600"/>
          </a:xfrm>
          <a:prstGeom prst="roundRect">
            <a:avLst>
              <a:gd name="adj" fmla="val 8000"/>
            </a:avLst>
          </a:prstGeom>
          <a:solidFill>
            <a:schemeClr val="accent1">
              <a:alpha val="6000"/>
            </a:schemeClr>
          </a:solidFill>
          <a:ln w="9525">
            <a:solidFill>
              <a:schemeClr val="accent1">
                <a:alpha val="25000"/>
              </a:schemeClr>
            </a:solidFill>
            <a:prstDash val="solid"/>
          </a:ln>
        </p:spPr>
      </p:sp>
      <p:sp>
        <p:nvSpPr>
          <p:cNvPr id="25" name="Text 22"/>
          <p:cNvSpPr txBox="1"/>
          <p:nvPr/>
        </p:nvSpPr>
        <p:spPr>
          <a:xfrm>
            <a:off x="731520" y="4709160"/>
            <a:ext cx="10698480" cy="1280160"/>
          </a:xfrm>
          <a:prstGeom prst="rect">
            <a:avLst/>
          </a:prstGeom>
          <a:noFill/>
          <a:ln/>
        </p:spPr>
        <p:txBody>
          <a:bodyPr wrap="square" lIns="0" tIns="0" rIns="0" bIns="0" rtlCol="0" anchor="ctr"/>
          <a:lstStyle/>
          <a:p>
            <a:pPr algn="l" indent="0" marL="0">
              <a:buNone/>
            </a:pPr>
            <a:r>
              <a:rPr lang="en-US" sz="1500" b="1" dirty="0">
                <a:solidFill>
                  <a:schemeClr val="accent1"/>
                </a:solidFill>
              </a:rPr>
              <a:t>Evidence: </a:t>
            </a:r>
            <a:pPr algn="l" indent="0" marL="0">
              <a:buNone/>
            </a:pPr>
            <a:r>
              <a:rPr lang="en-US" sz="1500" dirty="0">
                <a:solidFill>
                  <a:schemeClr val="tx1"/>
                </a:solidFill>
              </a:rPr>
              <a:t>tea tree oil has broad antibacterial and antifungal activity including Candida (Carson, 2006); panthenol restores and moisturises the skin barrier (Proksch, 2017).</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Femina — use and presentation</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1"/>
          </a:solidFill>
          <a:ln w="12700">
            <a:solidFill>
              <a:schemeClr val="accent1"/>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l" indent="0" marL="0">
              <a:spcAft>
                <a:spcPts val="400"/>
              </a:spcAft>
              <a:buNone/>
            </a:pPr>
            <a:r>
              <a:rPr lang="en-US" sz="1200" b="1" dirty="0">
                <a:solidFill>
                  <a:schemeClr val="bg1"/>
                </a:solidFill>
              </a:rPr>
              <a:t>KEY SELLING POINT</a:t>
            </a:r>
            <a:endParaRPr lang="en-US" sz="1200" dirty="0"/>
          </a:p>
          <a:p>
            <a:pPr algn="l" indent="0" marL="0">
              <a:spcAft>
                <a:spcPts val="400"/>
              </a:spcAft>
              <a:buNone/>
            </a:pPr>
            <a:r>
              <a:rPr lang="en-US" sz="1800" b="1" dirty="0">
                <a:solidFill>
                  <a:schemeClr val="bg1"/>
                </a:solidFill>
              </a:rPr>
              <a:t>pH-balanced intimate foam (pH 3.5–4.5), alcohol- and paraben-free</a:t>
            </a:r>
            <a:endParaRPr lang="en-US" sz="1200" dirty="0"/>
          </a:p>
        </p:txBody>
      </p:sp>
      <p:sp>
        <p:nvSpPr>
          <p:cNvPr id="6" name="Shape 3"/>
          <p:cNvSpPr/>
          <p:nvPr/>
        </p:nvSpPr>
        <p:spPr>
          <a:xfrm>
            <a:off x="548640" y="2743200"/>
            <a:ext cx="356616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7" name="Shape 4"/>
          <p:cNvSpPr/>
          <p:nvPr/>
        </p:nvSpPr>
        <p:spPr>
          <a:xfrm>
            <a:off x="713232" y="2907792"/>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713232"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298448" y="2852928"/>
            <a:ext cx="2697480" cy="548640"/>
          </a:xfrm>
          <a:prstGeom prst="rect">
            <a:avLst/>
          </a:prstGeom>
          <a:noFill/>
          <a:ln/>
        </p:spPr>
        <p:txBody>
          <a:bodyPr wrap="square" lIns="0" tIns="0" rIns="0" bIns="0" rtlCol="0" anchor="ctr"/>
          <a:lstStyle/>
          <a:p>
            <a:pPr algn="l" indent="0" marL="0">
              <a:buNone/>
            </a:pPr>
            <a:r>
              <a:rPr lang="en-US" sz="1600" b="1" dirty="0">
                <a:solidFill>
                  <a:schemeClr val="accent1"/>
                </a:solidFill>
              </a:rPr>
              <a:t>Suitable for</a:t>
            </a:r>
            <a:endParaRPr lang="en-US" sz="1600" dirty="0"/>
          </a:p>
        </p:txBody>
      </p:sp>
      <p:sp>
        <p:nvSpPr>
          <p:cNvPr id="10" name="Text 7"/>
          <p:cNvSpPr txBox="1"/>
          <p:nvPr/>
        </p:nvSpPr>
        <p:spPr>
          <a:xfrm>
            <a:off x="731520" y="3456432"/>
            <a:ext cx="3200400" cy="2487168"/>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tx1"/>
                </a:solidFill>
              </a:rPr>
              <a:t>Daily and menstrual hygiene</a:t>
            </a:r>
            <a:endParaRPr lang="en-US" sz="1400" dirty="0"/>
          </a:p>
          <a:p>
            <a:pPr algn="l" marL="342900" indent="-342900">
              <a:spcAft>
                <a:spcPts val="600"/>
              </a:spcAft>
              <a:buSzPct val="100000"/>
              <a:buChar char="•"/>
            </a:pPr>
            <a:r>
              <a:rPr lang="en-US" sz="1600" dirty="0">
                <a:solidFill>
                  <a:schemeClr val="tx1"/>
                </a:solidFill>
              </a:rPr>
              <a:t>Pregnancy and postpartum</a:t>
            </a:r>
            <a:endParaRPr lang="en-US" sz="1400" dirty="0"/>
          </a:p>
          <a:p>
            <a:pPr algn="l" marL="342900" indent="-342900">
              <a:spcAft>
                <a:spcPts val="600"/>
              </a:spcAft>
              <a:buSzPct val="100000"/>
              <a:buChar char="•"/>
            </a:pPr>
            <a:r>
              <a:rPr lang="en-US" sz="1600" dirty="0">
                <a:solidFill>
                  <a:schemeClr val="tx1"/>
                </a:solidFill>
              </a:rPr>
              <a:t>Dryness at menopause</a:t>
            </a:r>
            <a:endParaRPr lang="en-US" sz="1400" dirty="0"/>
          </a:p>
          <a:p>
            <a:pPr algn="l" marL="342900" indent="-342900">
              <a:spcAft>
                <a:spcPts val="600"/>
              </a:spcAft>
              <a:buSzPct val="100000"/>
              <a:buChar char="•"/>
            </a:pPr>
            <a:r>
              <a:rPr lang="en-US" sz="1600" dirty="0">
                <a:solidFill>
                  <a:schemeClr val="tx1"/>
                </a:solidFill>
              </a:rPr>
              <a:t>Discharge and unpleasant odour</a:t>
            </a:r>
            <a:endParaRPr lang="en-US" sz="1400" dirty="0"/>
          </a:p>
        </p:txBody>
      </p:sp>
      <p:sp>
        <p:nvSpPr>
          <p:cNvPr id="11" name="Shape 8"/>
          <p:cNvSpPr/>
          <p:nvPr/>
        </p:nvSpPr>
        <p:spPr>
          <a:xfrm>
            <a:off x="4297680" y="2743200"/>
            <a:ext cx="356616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2" name="Shape 9"/>
          <p:cNvSpPr/>
          <p:nvPr/>
        </p:nvSpPr>
        <p:spPr>
          <a:xfrm>
            <a:off x="4462272" y="2907792"/>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4462272"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047488" y="2852928"/>
            <a:ext cx="2697480" cy="548640"/>
          </a:xfrm>
          <a:prstGeom prst="rect">
            <a:avLst/>
          </a:prstGeom>
          <a:noFill/>
          <a:ln/>
        </p:spPr>
        <p:txBody>
          <a:bodyPr wrap="square" lIns="0" tIns="0" rIns="0" bIns="0" rtlCol="0" anchor="ctr"/>
          <a:lstStyle/>
          <a:p>
            <a:pPr algn="l" indent="0" marL="0">
              <a:buNone/>
            </a:pPr>
            <a:r>
              <a:rPr lang="en-US" sz="1600" b="1" dirty="0">
                <a:solidFill>
                  <a:schemeClr val="accent1"/>
                </a:solidFill>
              </a:rPr>
              <a:t>How to use</a:t>
            </a:r>
            <a:endParaRPr lang="en-US" sz="1600" dirty="0"/>
          </a:p>
        </p:txBody>
      </p:sp>
      <p:sp>
        <p:nvSpPr>
          <p:cNvPr id="15" name="Text 12"/>
          <p:cNvSpPr txBox="1"/>
          <p:nvPr/>
        </p:nvSpPr>
        <p:spPr>
          <a:xfrm>
            <a:off x="4480560" y="3456432"/>
            <a:ext cx="3200400" cy="2487168"/>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tx1"/>
                </a:solidFill>
              </a:rPr>
              <a:t>Twice daily</a:t>
            </a:r>
            <a:endParaRPr lang="en-US" sz="1400" dirty="0"/>
          </a:p>
          <a:p>
            <a:pPr algn="l" marL="342900" indent="-342900">
              <a:spcAft>
                <a:spcPts val="600"/>
              </a:spcAft>
              <a:buSzPct val="100000"/>
              <a:buChar char="•"/>
            </a:pPr>
            <a:r>
              <a:rPr lang="en-US" sz="1600" dirty="0">
                <a:solidFill>
                  <a:schemeClr val="tx1"/>
                </a:solidFill>
              </a:rPr>
              <a:t>Diluted with water or neat</a:t>
            </a:r>
            <a:endParaRPr lang="en-US" sz="1400" dirty="0"/>
          </a:p>
          <a:p>
            <a:pPr algn="l" marL="342900" indent="-342900">
              <a:spcAft>
                <a:spcPts val="600"/>
              </a:spcAft>
              <a:buSzPct val="100000"/>
              <a:buChar char="•"/>
            </a:pPr>
            <a:r>
              <a:rPr lang="en-US" sz="1600" dirty="0">
                <a:solidFill>
                  <a:schemeClr val="tx1"/>
                </a:solidFill>
              </a:rPr>
              <a:t>External area only, then rinse</a:t>
            </a:r>
            <a:endParaRPr lang="en-US" sz="1400" dirty="0"/>
          </a:p>
        </p:txBody>
      </p:sp>
      <p:sp>
        <p:nvSpPr>
          <p:cNvPr id="16" name="Shape 13"/>
          <p:cNvSpPr/>
          <p:nvPr/>
        </p:nvSpPr>
        <p:spPr>
          <a:xfrm>
            <a:off x="8046720" y="2743200"/>
            <a:ext cx="3566160" cy="3291840"/>
          </a:xfrm>
          <a:prstGeom prst="roundRect">
            <a:avLst>
              <a:gd name="adj" fmla="val 3333"/>
            </a:avLst>
          </a:prstGeom>
          <a:solidFill>
            <a:schemeClr val="accent1">
              <a:alpha val="8000"/>
            </a:schemeClr>
          </a:solidFill>
          <a:ln w="9525">
            <a:solidFill>
              <a:schemeClr val="accent1">
                <a:alpha val="25000"/>
              </a:schemeClr>
            </a:solidFill>
            <a:prstDash val="solid"/>
          </a:ln>
        </p:spPr>
      </p:sp>
      <p:sp>
        <p:nvSpPr>
          <p:cNvPr id="17" name="Shape 14"/>
          <p:cNvSpPr/>
          <p:nvPr/>
        </p:nvSpPr>
        <p:spPr>
          <a:xfrm>
            <a:off x="8211312" y="2907792"/>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8211312" y="29077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8796528" y="2852928"/>
            <a:ext cx="2697480" cy="548640"/>
          </a:xfrm>
          <a:prstGeom prst="rect">
            <a:avLst/>
          </a:prstGeom>
          <a:noFill/>
          <a:ln/>
        </p:spPr>
        <p:txBody>
          <a:bodyPr wrap="square" lIns="0" tIns="0" rIns="0" bIns="0" rtlCol="0" anchor="ctr"/>
          <a:lstStyle/>
          <a:p>
            <a:pPr algn="l" indent="0" marL="0">
              <a:buNone/>
            </a:pPr>
            <a:r>
              <a:rPr lang="en-US" sz="1600" b="1" dirty="0">
                <a:solidFill>
                  <a:schemeClr val="accent1"/>
                </a:solidFill>
              </a:rPr>
              <a:t>Strengths</a:t>
            </a:r>
            <a:endParaRPr lang="en-US" sz="1600" dirty="0"/>
          </a:p>
        </p:txBody>
      </p:sp>
      <p:sp>
        <p:nvSpPr>
          <p:cNvPr id="20" name="Text 17"/>
          <p:cNvSpPr txBox="1"/>
          <p:nvPr/>
        </p:nvSpPr>
        <p:spPr>
          <a:xfrm>
            <a:off x="8229600" y="3456432"/>
            <a:ext cx="3200400" cy="2487168"/>
          </a:xfrm>
          <a:prstGeom prst="rect">
            <a:avLst/>
          </a:prstGeom>
          <a:noFill/>
          <a:ln/>
        </p:spPr>
        <p:txBody>
          <a:bodyPr wrap="square" lIns="0" tIns="0" rIns="0" bIns="0" rtlCol="0" anchor="t"/>
          <a:lstStyle/>
          <a:p>
            <a:pPr algn="l" marL="342900" indent="-342900">
              <a:spcAft>
                <a:spcPts val="600"/>
              </a:spcAft>
              <a:buSzPct val="100000"/>
              <a:buChar char="•"/>
            </a:pPr>
            <a:r>
              <a:rPr lang="en-US" sz="1600" dirty="0">
                <a:solidFill>
                  <a:schemeClr val="tx1"/>
                </a:solidFill>
              </a:rPr>
              <a:t>Pleasant, fresh scent</a:t>
            </a:r>
            <a:endParaRPr lang="en-US" sz="1400" dirty="0"/>
          </a:p>
          <a:p>
            <a:pPr algn="l" marL="342900" indent="-342900">
              <a:spcAft>
                <a:spcPts val="600"/>
              </a:spcAft>
              <a:buSzPct val="100000"/>
              <a:buChar char="•"/>
            </a:pPr>
            <a:r>
              <a:rPr lang="en-US" sz="1600" dirty="0">
                <a:solidFill>
                  <a:schemeClr val="tx1"/>
                </a:solidFill>
              </a:rPr>
              <a:t>No staining (unlike iodine)</a:t>
            </a:r>
            <a:endParaRPr lang="en-US" sz="1400" dirty="0"/>
          </a:p>
          <a:p>
            <a:pPr algn="l" marL="342900" indent="-342900">
              <a:spcAft>
                <a:spcPts val="600"/>
              </a:spcAft>
              <a:buSzPct val="100000"/>
              <a:buChar char="•"/>
            </a:pPr>
            <a:r>
              <a:rPr lang="en-US" sz="1600" dirty="0">
                <a:solidFill>
                  <a:schemeClr val="tx1"/>
                </a:solidFill>
              </a:rPr>
              <a:t>Large 200 ml size</a:t>
            </a:r>
            <a:endParaRPr lang="en-US" sz="1400" dirty="0"/>
          </a:p>
          <a:p>
            <a:pPr algn="l" marL="342900" indent="-342900">
              <a:spcAft>
                <a:spcPts val="600"/>
              </a:spcAft>
              <a:buSzPct val="100000"/>
              <a:buChar char="•"/>
            </a:pPr>
            <a:r>
              <a:rPr lang="en-US" sz="1600" dirty="0">
                <a:solidFill>
                  <a:schemeClr val="tx1"/>
                </a:solidFill>
              </a:rPr>
              <a:t>Complements Fem-Arosa</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6492240" cy="1097280"/>
          </a:xfrm>
          <a:prstGeom prst="rect">
            <a:avLst/>
          </a:prstGeom>
          <a:noFill/>
          <a:ln/>
        </p:spPr>
        <p:txBody>
          <a:bodyPr wrap="square" rtlCol="0" anchor="b"/>
          <a:lstStyle/>
          <a:p>
            <a:pPr algn="l" indent="0" marL="0">
              <a:buNone/>
            </a:pPr>
            <a:r>
              <a:rPr lang="en-US" sz="4400" b="1" dirty="0">
                <a:solidFill>
                  <a:schemeClr val="bg1"/>
                </a:solidFill>
              </a:rPr>
              <a:t>Dermatology &amp; Hair</a:t>
            </a:r>
            <a:endParaRPr lang="en-US" sz="4400" dirty="0"/>
          </a:p>
        </p:txBody>
      </p:sp>
      <p:sp>
        <p:nvSpPr>
          <p:cNvPr id="3" name="Text 1"/>
          <p:cNvSpPr txBox="1"/>
          <p:nvPr/>
        </p:nvSpPr>
        <p:spPr>
          <a:xfrm>
            <a:off x="548640" y="3383280"/>
            <a:ext cx="6492240" cy="914400"/>
          </a:xfrm>
          <a:prstGeom prst="rect">
            <a:avLst/>
          </a:prstGeom>
          <a:noFill/>
          <a:ln/>
        </p:spPr>
        <p:txBody>
          <a:bodyPr wrap="square" rtlCol="0" anchor="t"/>
          <a:lstStyle/>
          <a:p>
            <a:pPr algn="l" indent="0" marL="0">
              <a:buNone/>
            </a:pPr>
            <a:r>
              <a:rPr lang="en-US" sz="2000" dirty="0">
                <a:solidFill>
                  <a:schemeClr val="bg1"/>
                </a:solidFill>
              </a:rPr>
              <a:t>Octo and E-Panthen — scalp and dry skin in the same visit</a:t>
            </a:r>
            <a:endParaRPr lang="en-US" sz="2000" dirty="0"/>
          </a:p>
        </p:txBody>
      </p:sp>
      <p:sp>
        <p:nvSpPr>
          <p:cNvPr id="4" name="Shape 2"/>
          <p:cNvSpPr/>
          <p:nvPr/>
        </p:nvSpPr>
        <p:spPr>
          <a:xfrm>
            <a:off x="7406640" y="822960"/>
            <a:ext cx="4206240" cy="5212080"/>
          </a:xfrm>
          <a:prstGeom prst="roundRect">
            <a:avLst>
              <a:gd name="adj" fmla="val 5435"/>
            </a:avLst>
          </a:prstGeom>
          <a:solidFill>
            <a:schemeClr val="bg1"/>
          </a:solidFill>
          <a:ln w="12700">
            <a:solidFill>
              <a:schemeClr val="bg1"/>
            </a:solidFill>
            <a:prstDash val="solid"/>
          </a:ln>
        </p:spPr>
      </p:sp>
      <p:pic>
        <p:nvPicPr>
          <p:cNvPr id="5" name="octo image" descr="preencoded.png">    </p:cNvPr>
          <p:cNvPicPr>
            <a:picLocks noChangeAspect="1"/>
          </p:cNvPicPr>
          <p:nvPr/>
        </p:nvPicPr>
        <p:blipFill>
          <a:blip r:embed="rId1"/>
          <a:stretch>
            <a:fillRect/>
          </a:stretch>
        </p:blipFill>
        <p:spPr>
          <a:xfrm>
            <a:off x="7589520" y="2174240"/>
            <a:ext cx="1828800" cy="2509520"/>
          </a:xfrm>
          <a:prstGeom prst="rect">
            <a:avLst/>
          </a:prstGeom>
        </p:spPr>
      </p:pic>
      <p:pic>
        <p:nvPicPr>
          <p:cNvPr id="6" name="epanthen image" descr="preencoded.png">    </p:cNvPr>
          <p:cNvPicPr>
            <a:picLocks noChangeAspect="1"/>
          </p:cNvPicPr>
          <p:nvPr/>
        </p:nvPicPr>
        <p:blipFill>
          <a:blip r:embed="rId2"/>
          <a:stretch>
            <a:fillRect/>
          </a:stretch>
        </p:blipFill>
        <p:spPr>
          <a:xfrm>
            <a:off x="9509760" y="2524760"/>
            <a:ext cx="1828800" cy="1808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Octo — product profile</a:t>
            </a:r>
            <a:endParaRPr lang="en-US" sz="3200" dirty="0"/>
          </a:p>
        </p:txBody>
      </p:sp>
      <p:pic>
        <p:nvPicPr>
          <p:cNvPr id="4" name="octo image" descr="preencoded.png">    </p:cNvPr>
          <p:cNvPicPr>
            <a:picLocks noChangeAspect="1"/>
          </p:cNvPicPr>
          <p:nvPr/>
        </p:nvPicPr>
        <p:blipFill>
          <a:blip r:embed="rId1"/>
          <a:stretch>
            <a:fillRect/>
          </a:stretch>
        </p:blipFill>
        <p:spPr>
          <a:xfrm>
            <a:off x="644893" y="1280160"/>
            <a:ext cx="3465095" cy="4754880"/>
          </a:xfrm>
          <a:prstGeom prst="rect">
            <a:avLst/>
          </a:prstGeom>
        </p:spPr>
      </p:pic>
      <p:sp>
        <p:nvSpPr>
          <p:cNvPr id="5" name="Shape 1"/>
          <p:cNvSpPr/>
          <p:nvPr/>
        </p:nvSpPr>
        <p:spPr>
          <a:xfrm>
            <a:off x="4572000" y="1325880"/>
            <a:ext cx="7040880" cy="457200"/>
          </a:xfrm>
          <a:prstGeom prst="rect">
            <a:avLst/>
          </a:prstGeom>
          <a:solidFill>
            <a:schemeClr val="accent2">
              <a:alpha val="7000"/>
            </a:schemeClr>
          </a:solidFill>
          <a:ln w="12700">
            <a:solidFill>
              <a:schemeClr val="accent2">
                <a:alpha val="0"/>
              </a:schemeClr>
            </a:solidFill>
            <a:prstDash val="solid"/>
          </a:ln>
        </p:spPr>
      </p:sp>
      <p:sp>
        <p:nvSpPr>
          <p:cNvPr id="6" name="Text 2"/>
          <p:cNvSpPr txBox="1"/>
          <p:nvPr/>
        </p:nvSpPr>
        <p:spPr>
          <a:xfrm>
            <a:off x="4663440" y="13258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Brand name</a:t>
            </a:r>
            <a:endParaRPr lang="en-US" sz="1300" dirty="0"/>
          </a:p>
        </p:txBody>
      </p:sp>
      <p:sp>
        <p:nvSpPr>
          <p:cNvPr id="7" name="Text 3"/>
          <p:cNvSpPr txBox="1"/>
          <p:nvPr/>
        </p:nvSpPr>
        <p:spPr>
          <a:xfrm>
            <a:off x="6858000" y="1325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AVIANCE Octo Anti-Dandruff Shampoo</a:t>
            </a:r>
            <a:endParaRPr lang="en-US" sz="1300" dirty="0"/>
          </a:p>
        </p:txBody>
      </p:sp>
      <p:sp>
        <p:nvSpPr>
          <p:cNvPr id="8" name="Text 4"/>
          <p:cNvSpPr txBox="1"/>
          <p:nvPr/>
        </p:nvSpPr>
        <p:spPr>
          <a:xfrm>
            <a:off x="4663440" y="17830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Category</a:t>
            </a:r>
            <a:endParaRPr lang="en-US" sz="1300" dirty="0"/>
          </a:p>
        </p:txBody>
      </p:sp>
      <p:sp>
        <p:nvSpPr>
          <p:cNvPr id="9" name="Text 5"/>
          <p:cNvSpPr txBox="1"/>
          <p:nvPr/>
        </p:nvSpPr>
        <p:spPr>
          <a:xfrm>
            <a:off x="6858000" y="1783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Hair &amp; scalp cosmetic</a:t>
            </a:r>
            <a:endParaRPr lang="en-US" sz="1300" dirty="0"/>
          </a:p>
        </p:txBody>
      </p:sp>
      <p:sp>
        <p:nvSpPr>
          <p:cNvPr id="10" name="Shape 6"/>
          <p:cNvSpPr/>
          <p:nvPr/>
        </p:nvSpPr>
        <p:spPr>
          <a:xfrm>
            <a:off x="4572000" y="2240280"/>
            <a:ext cx="7040880" cy="457200"/>
          </a:xfrm>
          <a:prstGeom prst="rect">
            <a:avLst/>
          </a:prstGeom>
          <a:solidFill>
            <a:schemeClr val="accent2">
              <a:alpha val="7000"/>
            </a:schemeClr>
          </a:solidFill>
          <a:ln w="12700">
            <a:solidFill>
              <a:schemeClr val="accent2">
                <a:alpha val="0"/>
              </a:schemeClr>
            </a:solidFill>
            <a:prstDash val="solid"/>
          </a:ln>
        </p:spPr>
      </p:sp>
      <p:sp>
        <p:nvSpPr>
          <p:cNvPr id="11" name="Text 7"/>
          <p:cNvSpPr txBox="1"/>
          <p:nvPr/>
        </p:nvSpPr>
        <p:spPr>
          <a:xfrm>
            <a:off x="4663440" y="22402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Size</a:t>
            </a:r>
            <a:endParaRPr lang="en-US" sz="1300" dirty="0"/>
          </a:p>
        </p:txBody>
      </p:sp>
      <p:sp>
        <p:nvSpPr>
          <p:cNvPr id="12" name="Text 8"/>
          <p:cNvSpPr txBox="1"/>
          <p:nvPr/>
        </p:nvSpPr>
        <p:spPr>
          <a:xfrm>
            <a:off x="6858000" y="2240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200 ml</a:t>
            </a:r>
            <a:endParaRPr lang="en-US" sz="1300" dirty="0"/>
          </a:p>
        </p:txBody>
      </p:sp>
      <p:sp>
        <p:nvSpPr>
          <p:cNvPr id="13" name="Text 9"/>
          <p:cNvSpPr txBox="1"/>
          <p:nvPr/>
        </p:nvSpPr>
        <p:spPr>
          <a:xfrm>
            <a:off x="4663440" y="26974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Actives</a:t>
            </a:r>
            <a:endParaRPr lang="en-US" sz="1300" dirty="0"/>
          </a:p>
        </p:txBody>
      </p:sp>
      <p:sp>
        <p:nvSpPr>
          <p:cNvPr id="14" name="Text 10"/>
          <p:cNvSpPr txBox="1"/>
          <p:nvPr/>
        </p:nvSpPr>
        <p:spPr>
          <a:xfrm>
            <a:off x="6858000" y="2697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Piroctone olamine · ZPT · Selenium sulfide · Salicylic acid</a:t>
            </a:r>
            <a:endParaRPr lang="en-US" sz="1300" dirty="0"/>
          </a:p>
        </p:txBody>
      </p:sp>
      <p:sp>
        <p:nvSpPr>
          <p:cNvPr id="15" name="Shape 11"/>
          <p:cNvSpPr/>
          <p:nvPr/>
        </p:nvSpPr>
        <p:spPr>
          <a:xfrm>
            <a:off x="4572000" y="3154680"/>
            <a:ext cx="7040880" cy="457200"/>
          </a:xfrm>
          <a:prstGeom prst="rect">
            <a:avLst/>
          </a:prstGeom>
          <a:solidFill>
            <a:schemeClr val="accent2">
              <a:alpha val="7000"/>
            </a:schemeClr>
          </a:solidFill>
          <a:ln w="12700">
            <a:solidFill>
              <a:schemeClr val="accent2">
                <a:alpha val="0"/>
              </a:schemeClr>
            </a:solidFill>
            <a:prstDash val="solid"/>
          </a:ln>
        </p:spPr>
      </p:sp>
      <p:sp>
        <p:nvSpPr>
          <p:cNvPr id="16" name="Text 12"/>
          <p:cNvSpPr txBox="1"/>
          <p:nvPr/>
        </p:nvSpPr>
        <p:spPr>
          <a:xfrm>
            <a:off x="4663440" y="31546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pH</a:t>
            </a:r>
            <a:endParaRPr lang="en-US" sz="1300" dirty="0"/>
          </a:p>
        </p:txBody>
      </p:sp>
      <p:sp>
        <p:nvSpPr>
          <p:cNvPr id="17" name="Text 13"/>
          <p:cNvSpPr txBox="1"/>
          <p:nvPr/>
        </p:nvSpPr>
        <p:spPr>
          <a:xfrm>
            <a:off x="6858000" y="3154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5.5</a:t>
            </a:r>
            <a:endParaRPr lang="en-US" sz="1300" dirty="0"/>
          </a:p>
        </p:txBody>
      </p:sp>
      <p:sp>
        <p:nvSpPr>
          <p:cNvPr id="18" name="Text 14"/>
          <p:cNvSpPr txBox="1"/>
          <p:nvPr/>
        </p:nvSpPr>
        <p:spPr>
          <a:xfrm>
            <a:off x="4663440" y="36118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SFDA notification</a:t>
            </a:r>
            <a:endParaRPr lang="en-US" sz="1300" dirty="0"/>
          </a:p>
        </p:txBody>
      </p:sp>
      <p:sp>
        <p:nvSpPr>
          <p:cNvPr id="19" name="Text 15"/>
          <p:cNvSpPr txBox="1"/>
          <p:nvPr/>
        </p:nvSpPr>
        <p:spPr>
          <a:xfrm>
            <a:off x="6858000" y="3611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CN-2023-84129 (valid to 23/11/2027)</a:t>
            </a:r>
            <a:endParaRPr lang="en-US" sz="1300" dirty="0"/>
          </a:p>
        </p:txBody>
      </p:sp>
      <p:sp>
        <p:nvSpPr>
          <p:cNvPr id="20" name="Shape 16"/>
          <p:cNvSpPr/>
          <p:nvPr/>
        </p:nvSpPr>
        <p:spPr>
          <a:xfrm>
            <a:off x="4572000" y="4069080"/>
            <a:ext cx="7040880" cy="457200"/>
          </a:xfrm>
          <a:prstGeom prst="rect">
            <a:avLst/>
          </a:prstGeom>
          <a:solidFill>
            <a:schemeClr val="accent2">
              <a:alpha val="7000"/>
            </a:schemeClr>
          </a:solidFill>
          <a:ln w="12700">
            <a:solidFill>
              <a:schemeClr val="accent2">
                <a:alpha val="0"/>
              </a:schemeClr>
            </a:solidFill>
            <a:prstDash val="solid"/>
          </a:ln>
        </p:spPr>
      </p:sp>
      <p:sp>
        <p:nvSpPr>
          <p:cNvPr id="21" name="Text 17"/>
          <p:cNvSpPr txBox="1"/>
          <p:nvPr/>
        </p:nvSpPr>
        <p:spPr>
          <a:xfrm>
            <a:off x="4663440" y="40690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Barcode</a:t>
            </a:r>
            <a:endParaRPr lang="en-US" sz="1300" dirty="0"/>
          </a:p>
        </p:txBody>
      </p:sp>
      <p:sp>
        <p:nvSpPr>
          <p:cNvPr id="22" name="Text 18"/>
          <p:cNvSpPr txBox="1"/>
          <p:nvPr/>
        </p:nvSpPr>
        <p:spPr>
          <a:xfrm>
            <a:off x="6858000" y="4069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6772505023108</a:t>
            </a:r>
            <a:endParaRPr lang="en-US" sz="1300" dirty="0"/>
          </a:p>
        </p:txBody>
      </p:sp>
      <p:sp>
        <p:nvSpPr>
          <p:cNvPr id="23" name="Text 19"/>
          <p:cNvSpPr txBox="1"/>
          <p:nvPr/>
        </p:nvSpPr>
        <p:spPr>
          <a:xfrm>
            <a:off x="4663440" y="45262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Use</a:t>
            </a:r>
            <a:endParaRPr lang="en-US" sz="1300" dirty="0"/>
          </a:p>
        </p:txBody>
      </p:sp>
      <p:sp>
        <p:nvSpPr>
          <p:cNvPr id="24" name="Text 20"/>
          <p:cNvSpPr txBox="1"/>
          <p:nvPr/>
        </p:nvSpPr>
        <p:spPr>
          <a:xfrm>
            <a:off x="6858000" y="4526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2–3 times weekly</a:t>
            </a:r>
            <a:endParaRPr lang="en-US" sz="1300" dirty="0"/>
          </a:p>
        </p:txBody>
      </p:sp>
      <p:sp>
        <p:nvSpPr>
          <p:cNvPr id="25" name="Shape 21"/>
          <p:cNvSpPr/>
          <p:nvPr/>
        </p:nvSpPr>
        <p:spPr>
          <a:xfrm>
            <a:off x="4572000" y="4983480"/>
            <a:ext cx="7040880" cy="457200"/>
          </a:xfrm>
          <a:prstGeom prst="rect">
            <a:avLst/>
          </a:prstGeom>
          <a:solidFill>
            <a:schemeClr val="accent2">
              <a:alpha val="7000"/>
            </a:schemeClr>
          </a:solidFill>
          <a:ln w="12700">
            <a:solidFill>
              <a:schemeClr val="accent2">
                <a:alpha val="0"/>
              </a:schemeClr>
            </a:solidFill>
            <a:prstDash val="solid"/>
          </a:ln>
        </p:spPr>
      </p:sp>
      <p:sp>
        <p:nvSpPr>
          <p:cNvPr id="26" name="Text 22"/>
          <p:cNvSpPr txBox="1"/>
          <p:nvPr/>
        </p:nvSpPr>
        <p:spPr>
          <a:xfrm>
            <a:off x="4663440" y="49834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Manufacturer</a:t>
            </a:r>
            <a:endParaRPr lang="en-US" sz="1300" dirty="0"/>
          </a:p>
        </p:txBody>
      </p:sp>
      <p:sp>
        <p:nvSpPr>
          <p:cNvPr id="27" name="Text 23"/>
          <p:cNvSpPr txBox="1"/>
          <p:nvPr/>
        </p:nvSpPr>
        <p:spPr>
          <a:xfrm>
            <a:off x="6858000" y="4983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Brand International — Egypt</a:t>
            </a:r>
            <a:endParaRPr lang="en-US" sz="1300" dirty="0"/>
          </a:p>
        </p:txBody>
      </p:sp>
      <p:sp>
        <p:nvSpPr>
          <p:cNvPr id="28" name="Text 24"/>
          <p:cNvSpPr txBox="1"/>
          <p:nvPr/>
        </p:nvSpPr>
        <p:spPr>
          <a:xfrm>
            <a:off x="4663440" y="54406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Public price</a:t>
            </a:r>
            <a:endParaRPr lang="en-US" sz="1300" dirty="0"/>
          </a:p>
        </p:txBody>
      </p:sp>
      <p:sp>
        <p:nvSpPr>
          <p:cNvPr id="29" name="Text 25"/>
          <p:cNvSpPr txBox="1"/>
          <p:nvPr/>
        </p:nvSpPr>
        <p:spPr>
          <a:xfrm>
            <a:off x="6858000" y="5440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SAR 55 (excl. VAT)</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Octo — science: dandruff</a:t>
            </a:r>
            <a:endParaRPr lang="en-US" sz="3200" dirty="0"/>
          </a:p>
        </p:txBody>
      </p:sp>
      <p:sp>
        <p:nvSpPr>
          <p:cNvPr id="4" name="Shape 1"/>
          <p:cNvSpPr/>
          <p:nvPr/>
        </p:nvSpPr>
        <p:spPr>
          <a:xfrm>
            <a:off x="548640" y="1325880"/>
            <a:ext cx="2834640" cy="2103120"/>
          </a:xfrm>
          <a:prstGeom prst="roundRect">
            <a:avLst>
              <a:gd name="adj" fmla="val 5217"/>
            </a:avLst>
          </a:prstGeom>
          <a:solidFill>
            <a:schemeClr val="accent2">
              <a:alpha val="8000"/>
            </a:schemeClr>
          </a:solidFill>
          <a:ln w="9525">
            <a:solidFill>
              <a:schemeClr val="accent2">
                <a:alpha val="25000"/>
              </a:schemeClr>
            </a:solidFill>
            <a:prstDash val="solid"/>
          </a:ln>
        </p:spPr>
      </p:sp>
      <p:sp>
        <p:nvSpPr>
          <p:cNvPr id="5" name="Text 2"/>
          <p:cNvSpPr txBox="1"/>
          <p:nvPr/>
        </p:nvSpPr>
        <p:spPr>
          <a:xfrm>
            <a:off x="548640" y="1435608"/>
            <a:ext cx="2834640" cy="946404"/>
          </a:xfrm>
          <a:prstGeom prst="rect">
            <a:avLst/>
          </a:prstGeom>
          <a:noFill/>
          <a:ln/>
        </p:spPr>
        <p:txBody>
          <a:bodyPr wrap="square" lIns="0" tIns="0" rIns="0" bIns="0" rtlCol="0" anchor="ctr"/>
          <a:lstStyle/>
          <a:p>
            <a:pPr algn="ctr" indent="0" marL="0">
              <a:buNone/>
            </a:pPr>
            <a:r>
              <a:rPr lang="en-US" sz="3200" b="1" dirty="0">
                <a:solidFill>
                  <a:schemeClr val="accent2"/>
                </a:solidFill>
              </a:rPr>
              <a:t>50%+</a:t>
            </a:r>
            <a:endParaRPr lang="en-US" sz="3200" dirty="0"/>
          </a:p>
        </p:txBody>
      </p:sp>
      <p:sp>
        <p:nvSpPr>
          <p:cNvPr id="6" name="Text 3"/>
          <p:cNvSpPr txBox="1"/>
          <p:nvPr/>
        </p:nvSpPr>
        <p:spPr>
          <a:xfrm>
            <a:off x="640080" y="2377440"/>
            <a:ext cx="2651760" cy="365760"/>
          </a:xfrm>
          <a:prstGeom prst="rect">
            <a:avLst/>
          </a:prstGeom>
          <a:noFill/>
          <a:ln/>
        </p:spPr>
        <p:txBody>
          <a:bodyPr wrap="square" lIns="0" tIns="0" rIns="0" bIns="0" rtlCol="0" anchor="ctr"/>
          <a:lstStyle/>
          <a:p>
            <a:pPr algn="ctr" indent="0" marL="0">
              <a:buNone/>
            </a:pPr>
            <a:r>
              <a:rPr lang="en-US" sz="1400" b="1" dirty="0">
                <a:solidFill>
                  <a:schemeClr val="tx1"/>
                </a:solidFill>
              </a:rPr>
              <a:t>of people</a:t>
            </a:r>
            <a:endParaRPr lang="en-US" sz="1400" dirty="0"/>
          </a:p>
        </p:txBody>
      </p:sp>
      <p:sp>
        <p:nvSpPr>
          <p:cNvPr id="7" name="Text 4"/>
          <p:cNvSpPr txBox="1"/>
          <p:nvPr/>
        </p:nvSpPr>
        <p:spPr>
          <a:xfrm>
            <a:off x="685800" y="2743200"/>
            <a:ext cx="2560320" cy="594360"/>
          </a:xfrm>
          <a:prstGeom prst="rect">
            <a:avLst/>
          </a:prstGeom>
          <a:noFill/>
          <a:ln/>
        </p:spPr>
        <p:txBody>
          <a:bodyPr wrap="square" lIns="0" tIns="0" rIns="0" bIns="0" rtlCol="0" anchor="t"/>
          <a:lstStyle/>
          <a:p>
            <a:pPr algn="ctr" indent="0" marL="0">
              <a:buNone/>
            </a:pPr>
            <a:r>
              <a:rPr lang="en-US" sz="1200" dirty="0">
                <a:solidFill>
                  <a:schemeClr val="accent5"/>
                </a:solidFill>
              </a:rPr>
              <a:t>have moderate-to-severe dandruff</a:t>
            </a:r>
            <a:endParaRPr lang="en-US" sz="1200" dirty="0"/>
          </a:p>
        </p:txBody>
      </p:sp>
      <p:sp>
        <p:nvSpPr>
          <p:cNvPr id="8" name="Shape 5"/>
          <p:cNvSpPr/>
          <p:nvPr/>
        </p:nvSpPr>
        <p:spPr>
          <a:xfrm>
            <a:off x="3566160" y="1325880"/>
            <a:ext cx="8046720" cy="2103120"/>
          </a:xfrm>
          <a:prstGeom prst="roundRect">
            <a:avLst>
              <a:gd name="adj" fmla="val 5217"/>
            </a:avLst>
          </a:prstGeom>
          <a:solidFill>
            <a:schemeClr val="accent2">
              <a:alpha val="8000"/>
            </a:schemeClr>
          </a:solidFill>
          <a:ln w="9525">
            <a:solidFill>
              <a:schemeClr val="accent2">
                <a:alpha val="25000"/>
              </a:schemeClr>
            </a:solidFill>
            <a:prstDash val="solid"/>
          </a:ln>
        </p:spPr>
      </p:sp>
      <p:sp>
        <p:nvSpPr>
          <p:cNvPr id="9" name="Text 6"/>
          <p:cNvSpPr txBox="1"/>
          <p:nvPr/>
        </p:nvSpPr>
        <p:spPr>
          <a:xfrm>
            <a:off x="3749040" y="1417320"/>
            <a:ext cx="7680960" cy="1920240"/>
          </a:xfrm>
          <a:prstGeom prst="rect">
            <a:avLst/>
          </a:prstGeom>
          <a:noFill/>
          <a:ln/>
        </p:spPr>
        <p:txBody>
          <a:bodyPr wrap="square" lIns="0" tIns="0" rIns="0" bIns="0" rtlCol="0" anchor="ctr"/>
          <a:lstStyle/>
          <a:p>
            <a:pPr algn="l" indent="0" marL="0">
              <a:buNone/>
            </a:pPr>
            <a:r>
              <a:rPr lang="en-US" sz="1600" b="1" dirty="0">
                <a:solidFill>
                  <a:schemeClr val="accent2"/>
                </a:solidFill>
              </a:rPr>
              <a:t>How does dandruff develop?</a:t>
            </a:r>
            <a:endParaRPr lang="en-US" sz="1600" dirty="0"/>
          </a:p>
          <a:p>
            <a:pPr algn="l" indent="0" marL="0">
              <a:buNone/>
            </a:pPr>
            <a:r>
              <a:rPr lang="en-US" sz="1400" dirty="0">
                <a:solidFill>
                  <a:schemeClr val="tx1"/>
                </a:solidFill>
              </a:rPr>
              <a:t>Malassezia breaks scalp oils into irritating fatty acids, so scalp cells turn over faster than normal and form visible flakes around the hair shaft. It is more common in adolescents and young adults and worsens in winter.</a:t>
            </a:r>
            <a:endParaRPr lang="en-US" sz="1600" dirty="0"/>
          </a:p>
        </p:txBody>
      </p:sp>
      <p:sp>
        <p:nvSpPr>
          <p:cNvPr id="10" name="Text 7"/>
          <p:cNvSpPr txBox="1"/>
          <p:nvPr/>
        </p:nvSpPr>
        <p:spPr>
          <a:xfrm>
            <a:off x="548640" y="3611880"/>
            <a:ext cx="11064240" cy="457200"/>
          </a:xfrm>
          <a:prstGeom prst="rect">
            <a:avLst/>
          </a:prstGeom>
          <a:noFill/>
          <a:ln/>
        </p:spPr>
        <p:txBody>
          <a:bodyPr wrap="square" lIns="0" tIns="0" rIns="0" bIns="0" rtlCol="0" anchor="ctr"/>
          <a:lstStyle/>
          <a:p>
            <a:pPr algn="l" indent="0" marL="0">
              <a:buNone/>
            </a:pPr>
            <a:r>
              <a:rPr lang="en-US" sz="1800" b="1" dirty="0">
                <a:solidFill>
                  <a:schemeClr val="tx2"/>
                </a:solidFill>
              </a:rPr>
              <a:t>Ways to control dandruff — Octo covers all three</a:t>
            </a:r>
            <a:endParaRPr lang="en-US" sz="1800" dirty="0"/>
          </a:p>
        </p:txBody>
      </p:sp>
      <p:sp>
        <p:nvSpPr>
          <p:cNvPr id="11" name="Shape 8"/>
          <p:cNvSpPr/>
          <p:nvPr/>
        </p:nvSpPr>
        <p:spPr>
          <a:xfrm>
            <a:off x="548640" y="4160520"/>
            <a:ext cx="3566160" cy="1920240"/>
          </a:xfrm>
          <a:prstGeom prst="roundRect">
            <a:avLst>
              <a:gd name="adj" fmla="val 5714"/>
            </a:avLst>
          </a:prstGeom>
          <a:solidFill>
            <a:schemeClr val="accent2">
              <a:alpha val="10000"/>
            </a:schemeClr>
          </a:solidFill>
          <a:ln w="9525">
            <a:solidFill>
              <a:schemeClr val="accent2">
                <a:alpha val="25000"/>
              </a:schemeClr>
            </a:solidFill>
            <a:prstDash val="solid"/>
          </a:ln>
        </p:spPr>
      </p:sp>
      <p:sp>
        <p:nvSpPr>
          <p:cNvPr id="12" name="Shape 9"/>
          <p:cNvSpPr/>
          <p:nvPr/>
        </p:nvSpPr>
        <p:spPr>
          <a:xfrm>
            <a:off x="731520" y="4297680"/>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73152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11"/>
          <p:cNvSpPr txBox="1"/>
          <p:nvPr/>
        </p:nvSpPr>
        <p:spPr>
          <a:xfrm>
            <a:off x="1325880" y="4279392"/>
            <a:ext cx="2651760" cy="457200"/>
          </a:xfrm>
          <a:prstGeom prst="rect">
            <a:avLst/>
          </a:prstGeom>
          <a:noFill/>
          <a:ln/>
        </p:spPr>
        <p:txBody>
          <a:bodyPr wrap="square" lIns="0" tIns="0" rIns="0" bIns="0" rtlCol="0" anchor="ctr"/>
          <a:lstStyle/>
          <a:p>
            <a:pPr algn="l" indent="0" marL="0">
              <a:buNone/>
            </a:pPr>
            <a:r>
              <a:rPr lang="en-US" sz="1600" b="1" dirty="0">
                <a:solidFill>
                  <a:schemeClr val="accent2"/>
                </a:solidFill>
              </a:rPr>
              <a:t>Antifungal</a:t>
            </a:r>
            <a:endParaRPr lang="en-US" sz="1600" dirty="0"/>
          </a:p>
        </p:txBody>
      </p:sp>
      <p:sp>
        <p:nvSpPr>
          <p:cNvPr id="15" name="Text 12"/>
          <p:cNvSpPr txBox="1"/>
          <p:nvPr/>
        </p:nvSpPr>
        <p:spPr>
          <a:xfrm>
            <a:off x="731520" y="4800600"/>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Reduces Malassezia</a:t>
            </a:r>
            <a:endParaRPr lang="en-US" sz="1400" dirty="0"/>
          </a:p>
        </p:txBody>
      </p:sp>
      <p:sp>
        <p:nvSpPr>
          <p:cNvPr id="16" name="Text 13"/>
          <p:cNvSpPr txBox="1"/>
          <p:nvPr/>
        </p:nvSpPr>
        <p:spPr>
          <a:xfrm>
            <a:off x="731520" y="5349240"/>
            <a:ext cx="3200400" cy="457200"/>
          </a:xfrm>
          <a:prstGeom prst="rect">
            <a:avLst/>
          </a:prstGeom>
          <a:noFill/>
          <a:ln/>
        </p:spPr>
        <p:txBody>
          <a:bodyPr wrap="square" lIns="0" tIns="0" rIns="0" bIns="0" rtlCol="0" anchor="ctr"/>
          <a:lstStyle/>
          <a:p>
            <a:pPr algn="l" indent="0" marL="0">
              <a:buNone/>
            </a:pPr>
            <a:r>
              <a:rPr lang="en-US" sz="1300" b="1" dirty="0">
                <a:solidFill>
                  <a:schemeClr val="accent5"/>
                </a:solidFill>
              </a:rPr>
              <a:t>Piroctone olamine · ZPT</a:t>
            </a:r>
            <a:endParaRPr lang="en-US" sz="1300" dirty="0"/>
          </a:p>
        </p:txBody>
      </p:sp>
      <p:sp>
        <p:nvSpPr>
          <p:cNvPr id="17" name="Shape 14"/>
          <p:cNvSpPr/>
          <p:nvPr/>
        </p:nvSpPr>
        <p:spPr>
          <a:xfrm>
            <a:off x="4297680" y="4160520"/>
            <a:ext cx="3566160" cy="1920240"/>
          </a:xfrm>
          <a:prstGeom prst="roundRect">
            <a:avLst>
              <a:gd name="adj" fmla="val 5714"/>
            </a:avLst>
          </a:prstGeom>
          <a:solidFill>
            <a:schemeClr val="accent2">
              <a:alpha val="10000"/>
            </a:schemeClr>
          </a:solidFill>
          <a:ln w="9525">
            <a:solidFill>
              <a:schemeClr val="accent2">
                <a:alpha val="25000"/>
              </a:schemeClr>
            </a:solidFill>
            <a:prstDash val="solid"/>
          </a:ln>
        </p:spPr>
      </p:sp>
      <p:sp>
        <p:nvSpPr>
          <p:cNvPr id="18" name="Shape 15"/>
          <p:cNvSpPr/>
          <p:nvPr/>
        </p:nvSpPr>
        <p:spPr>
          <a:xfrm>
            <a:off x="4480560" y="4297680"/>
            <a:ext cx="457200" cy="457200"/>
          </a:xfrm>
          <a:prstGeom prst="ellipse">
            <a:avLst/>
          </a:prstGeom>
          <a:solidFill>
            <a:schemeClr val="accent2"/>
          </a:solidFill>
          <a:ln w="12700">
            <a:solidFill>
              <a:schemeClr val="accent2"/>
            </a:solidFill>
            <a:prstDash val="solid"/>
          </a:ln>
        </p:spPr>
      </p:sp>
      <p:sp>
        <p:nvSpPr>
          <p:cNvPr id="19" name="Text 16"/>
          <p:cNvSpPr txBox="1"/>
          <p:nvPr/>
        </p:nvSpPr>
        <p:spPr>
          <a:xfrm>
            <a:off x="448056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5074920" y="4279392"/>
            <a:ext cx="2651760" cy="457200"/>
          </a:xfrm>
          <a:prstGeom prst="rect">
            <a:avLst/>
          </a:prstGeom>
          <a:noFill/>
          <a:ln/>
        </p:spPr>
        <p:txBody>
          <a:bodyPr wrap="square" lIns="0" tIns="0" rIns="0" bIns="0" rtlCol="0" anchor="ctr"/>
          <a:lstStyle/>
          <a:p>
            <a:pPr algn="l" indent="0" marL="0">
              <a:buNone/>
            </a:pPr>
            <a:r>
              <a:rPr lang="en-US" sz="1600" b="1" dirty="0">
                <a:solidFill>
                  <a:schemeClr val="accent2"/>
                </a:solidFill>
              </a:rPr>
              <a:t>Cytostatic</a:t>
            </a:r>
            <a:endParaRPr lang="en-US" sz="1600" dirty="0"/>
          </a:p>
        </p:txBody>
      </p:sp>
      <p:sp>
        <p:nvSpPr>
          <p:cNvPr id="21" name="Text 18"/>
          <p:cNvSpPr txBox="1"/>
          <p:nvPr/>
        </p:nvSpPr>
        <p:spPr>
          <a:xfrm>
            <a:off x="4480560" y="4800600"/>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Slows excessive scaling</a:t>
            </a:r>
            <a:endParaRPr lang="en-US" sz="1400" dirty="0"/>
          </a:p>
        </p:txBody>
      </p:sp>
      <p:sp>
        <p:nvSpPr>
          <p:cNvPr id="22" name="Text 19"/>
          <p:cNvSpPr txBox="1"/>
          <p:nvPr/>
        </p:nvSpPr>
        <p:spPr>
          <a:xfrm>
            <a:off x="4480560" y="5349240"/>
            <a:ext cx="3200400" cy="457200"/>
          </a:xfrm>
          <a:prstGeom prst="rect">
            <a:avLst/>
          </a:prstGeom>
          <a:noFill/>
          <a:ln/>
        </p:spPr>
        <p:txBody>
          <a:bodyPr wrap="square" lIns="0" tIns="0" rIns="0" bIns="0" rtlCol="0" anchor="ctr"/>
          <a:lstStyle/>
          <a:p>
            <a:pPr algn="l" indent="0" marL="0">
              <a:buNone/>
            </a:pPr>
            <a:r>
              <a:rPr lang="en-US" sz="1300" b="1" dirty="0">
                <a:solidFill>
                  <a:schemeClr val="accent5"/>
                </a:solidFill>
              </a:rPr>
              <a:t>Selenium sulfide</a:t>
            </a:r>
            <a:endParaRPr lang="en-US" sz="1300" dirty="0"/>
          </a:p>
        </p:txBody>
      </p:sp>
      <p:sp>
        <p:nvSpPr>
          <p:cNvPr id="23" name="Shape 20"/>
          <p:cNvSpPr/>
          <p:nvPr/>
        </p:nvSpPr>
        <p:spPr>
          <a:xfrm>
            <a:off x="8046720" y="4160520"/>
            <a:ext cx="3566160" cy="1920240"/>
          </a:xfrm>
          <a:prstGeom prst="roundRect">
            <a:avLst>
              <a:gd name="adj" fmla="val 5714"/>
            </a:avLst>
          </a:prstGeom>
          <a:solidFill>
            <a:schemeClr val="accent2">
              <a:alpha val="10000"/>
            </a:schemeClr>
          </a:solidFill>
          <a:ln w="9525">
            <a:solidFill>
              <a:schemeClr val="accent2">
                <a:alpha val="25000"/>
              </a:schemeClr>
            </a:solidFill>
            <a:prstDash val="solid"/>
          </a:ln>
        </p:spPr>
      </p:sp>
      <p:sp>
        <p:nvSpPr>
          <p:cNvPr id="24" name="Shape 21"/>
          <p:cNvSpPr/>
          <p:nvPr/>
        </p:nvSpPr>
        <p:spPr>
          <a:xfrm>
            <a:off x="8229600" y="4297680"/>
            <a:ext cx="457200" cy="457200"/>
          </a:xfrm>
          <a:prstGeom prst="ellipse">
            <a:avLst/>
          </a:prstGeom>
          <a:solidFill>
            <a:schemeClr val="accent2"/>
          </a:solidFill>
          <a:ln w="12700">
            <a:solidFill>
              <a:schemeClr val="accent2"/>
            </a:solidFill>
            <a:prstDash val="solid"/>
          </a:ln>
        </p:spPr>
      </p:sp>
      <p:sp>
        <p:nvSpPr>
          <p:cNvPr id="25" name="Text 22"/>
          <p:cNvSpPr txBox="1"/>
          <p:nvPr/>
        </p:nvSpPr>
        <p:spPr>
          <a:xfrm>
            <a:off x="8229600" y="42976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6" name="Text 23"/>
          <p:cNvSpPr txBox="1"/>
          <p:nvPr/>
        </p:nvSpPr>
        <p:spPr>
          <a:xfrm>
            <a:off x="8823960" y="4279392"/>
            <a:ext cx="2651760" cy="457200"/>
          </a:xfrm>
          <a:prstGeom prst="rect">
            <a:avLst/>
          </a:prstGeom>
          <a:noFill/>
          <a:ln/>
        </p:spPr>
        <p:txBody>
          <a:bodyPr wrap="square" lIns="0" tIns="0" rIns="0" bIns="0" rtlCol="0" anchor="ctr"/>
          <a:lstStyle/>
          <a:p>
            <a:pPr algn="l" indent="0" marL="0">
              <a:buNone/>
            </a:pPr>
            <a:r>
              <a:rPr lang="en-US" sz="1600" b="1" dirty="0">
                <a:solidFill>
                  <a:schemeClr val="accent2"/>
                </a:solidFill>
              </a:rPr>
              <a:t>Keratolytic</a:t>
            </a:r>
            <a:endParaRPr lang="en-US" sz="1600" dirty="0"/>
          </a:p>
        </p:txBody>
      </p:sp>
      <p:sp>
        <p:nvSpPr>
          <p:cNvPr id="27" name="Text 24"/>
          <p:cNvSpPr txBox="1"/>
          <p:nvPr/>
        </p:nvSpPr>
        <p:spPr>
          <a:xfrm>
            <a:off x="8229600" y="4800600"/>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Loosens and removes flakes</a:t>
            </a:r>
            <a:endParaRPr lang="en-US" sz="1400" dirty="0"/>
          </a:p>
        </p:txBody>
      </p:sp>
      <p:sp>
        <p:nvSpPr>
          <p:cNvPr id="28" name="Text 25"/>
          <p:cNvSpPr txBox="1"/>
          <p:nvPr/>
        </p:nvSpPr>
        <p:spPr>
          <a:xfrm>
            <a:off x="8229600" y="5349240"/>
            <a:ext cx="3200400" cy="457200"/>
          </a:xfrm>
          <a:prstGeom prst="rect">
            <a:avLst/>
          </a:prstGeom>
          <a:noFill/>
          <a:ln/>
        </p:spPr>
        <p:txBody>
          <a:bodyPr wrap="square" lIns="0" tIns="0" rIns="0" bIns="0" rtlCol="0" anchor="ctr"/>
          <a:lstStyle/>
          <a:p>
            <a:pPr algn="l" indent="0" marL="0">
              <a:buNone/>
            </a:pPr>
            <a:r>
              <a:rPr lang="en-US" sz="1300" b="1" dirty="0">
                <a:solidFill>
                  <a:schemeClr val="accent5"/>
                </a:solidFill>
              </a:rPr>
              <a:t>Salicylic acid</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Octo — the four-active formula</a:t>
            </a:r>
            <a:endParaRPr lang="en-US" sz="3200" dirty="0"/>
          </a:p>
        </p:txBody>
      </p:sp>
      <p:sp>
        <p:nvSpPr>
          <p:cNvPr id="4" name="Shape 1"/>
          <p:cNvSpPr/>
          <p:nvPr/>
        </p:nvSpPr>
        <p:spPr>
          <a:xfrm>
            <a:off x="54864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5" name="Text 2"/>
          <p:cNvSpPr txBox="1"/>
          <p:nvPr/>
        </p:nvSpPr>
        <p:spPr>
          <a:xfrm>
            <a:off x="54864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0.7%</a:t>
            </a:r>
            <a:endParaRPr lang="en-US" sz="3600" dirty="0"/>
          </a:p>
        </p:txBody>
      </p:sp>
      <p:sp>
        <p:nvSpPr>
          <p:cNvPr id="6" name="Text 3"/>
          <p:cNvSpPr txBox="1"/>
          <p:nvPr/>
        </p:nvSpPr>
        <p:spPr>
          <a:xfrm>
            <a:off x="54864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Piroctone Olamine</a:t>
            </a:r>
            <a:endParaRPr lang="en-US" sz="1500" dirty="0"/>
          </a:p>
        </p:txBody>
      </p:sp>
      <p:sp>
        <p:nvSpPr>
          <p:cNvPr id="7" name="Text 4"/>
          <p:cNvSpPr txBox="1"/>
          <p:nvPr/>
        </p:nvSpPr>
        <p:spPr>
          <a:xfrm>
            <a:off x="685800" y="2697480"/>
            <a:ext cx="2377440" cy="1280160"/>
          </a:xfrm>
          <a:prstGeom prst="rect">
            <a:avLst/>
          </a:prstGeom>
          <a:noFill/>
          <a:ln/>
        </p:spPr>
        <p:txBody>
          <a:bodyPr wrap="square" lIns="0" tIns="0" rIns="0" bIns="0" rtlCol="0" anchor="t"/>
          <a:lstStyle/>
          <a:p>
            <a:pPr algn="ctr" indent="0" marL="0">
              <a:buNone/>
            </a:pPr>
            <a:r>
              <a:rPr lang="en-US" sz="1300" dirty="0">
                <a:solidFill>
                  <a:schemeClr val="accent5"/>
                </a:solidFill>
              </a:rPr>
              <a:t>Broad antifungal and antibacterial; binds to hair keratin, reducing recurrence</a:t>
            </a:r>
            <a:endParaRPr lang="en-US" sz="1300" dirty="0"/>
          </a:p>
        </p:txBody>
      </p:sp>
      <p:sp>
        <p:nvSpPr>
          <p:cNvPr id="8" name="Shape 5"/>
          <p:cNvSpPr/>
          <p:nvPr/>
        </p:nvSpPr>
        <p:spPr>
          <a:xfrm>
            <a:off x="336042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9" name="Text 6"/>
          <p:cNvSpPr txBox="1"/>
          <p:nvPr/>
        </p:nvSpPr>
        <p:spPr>
          <a:xfrm>
            <a:off x="336042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1%</a:t>
            </a:r>
            <a:endParaRPr lang="en-US" sz="3600" dirty="0"/>
          </a:p>
        </p:txBody>
      </p:sp>
      <p:sp>
        <p:nvSpPr>
          <p:cNvPr id="10" name="Text 7"/>
          <p:cNvSpPr txBox="1"/>
          <p:nvPr/>
        </p:nvSpPr>
        <p:spPr>
          <a:xfrm>
            <a:off x="336042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Zinc Pyrithione</a:t>
            </a:r>
            <a:endParaRPr lang="en-US" sz="1500" dirty="0"/>
          </a:p>
        </p:txBody>
      </p:sp>
      <p:sp>
        <p:nvSpPr>
          <p:cNvPr id="11" name="Text 8"/>
          <p:cNvSpPr txBox="1"/>
          <p:nvPr/>
        </p:nvSpPr>
        <p:spPr>
          <a:xfrm>
            <a:off x="3497580" y="2697480"/>
            <a:ext cx="2377440" cy="1280160"/>
          </a:xfrm>
          <a:prstGeom prst="rect">
            <a:avLst/>
          </a:prstGeom>
          <a:noFill/>
          <a:ln/>
        </p:spPr>
        <p:txBody>
          <a:bodyPr wrap="square" lIns="0" tIns="0" rIns="0" bIns="0" rtlCol="0" anchor="t"/>
          <a:lstStyle/>
          <a:p>
            <a:pPr algn="ctr" indent="0" marL="0">
              <a:buNone/>
            </a:pPr>
            <a:r>
              <a:rPr lang="en-US" sz="1300" dirty="0">
                <a:solidFill>
                  <a:schemeClr val="accent5"/>
                </a:solidFill>
              </a:rPr>
              <a:t>Reference antifungal in anti-dandruff shampoos</a:t>
            </a:r>
            <a:endParaRPr lang="en-US" sz="1300" dirty="0"/>
          </a:p>
        </p:txBody>
      </p:sp>
      <p:sp>
        <p:nvSpPr>
          <p:cNvPr id="12" name="Shape 9"/>
          <p:cNvSpPr/>
          <p:nvPr/>
        </p:nvSpPr>
        <p:spPr>
          <a:xfrm>
            <a:off x="617220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13" name="Text 10"/>
          <p:cNvSpPr txBox="1"/>
          <p:nvPr/>
        </p:nvSpPr>
        <p:spPr>
          <a:xfrm>
            <a:off x="617220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0.5%</a:t>
            </a:r>
            <a:endParaRPr lang="en-US" sz="3600" dirty="0"/>
          </a:p>
        </p:txBody>
      </p:sp>
      <p:sp>
        <p:nvSpPr>
          <p:cNvPr id="14" name="Text 11"/>
          <p:cNvSpPr txBox="1"/>
          <p:nvPr/>
        </p:nvSpPr>
        <p:spPr>
          <a:xfrm>
            <a:off x="617220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Selenium Sulfide</a:t>
            </a:r>
            <a:endParaRPr lang="en-US" sz="1500" dirty="0"/>
          </a:p>
        </p:txBody>
      </p:sp>
      <p:sp>
        <p:nvSpPr>
          <p:cNvPr id="15" name="Text 12"/>
          <p:cNvSpPr txBox="1"/>
          <p:nvPr/>
        </p:nvSpPr>
        <p:spPr>
          <a:xfrm>
            <a:off x="6309360" y="2697480"/>
            <a:ext cx="2377440" cy="1280160"/>
          </a:xfrm>
          <a:prstGeom prst="rect">
            <a:avLst/>
          </a:prstGeom>
          <a:noFill/>
          <a:ln/>
        </p:spPr>
        <p:txBody>
          <a:bodyPr wrap="square" lIns="0" tIns="0" rIns="0" bIns="0" rtlCol="0" anchor="t"/>
          <a:lstStyle/>
          <a:p>
            <a:pPr algn="ctr" indent="0" marL="0">
              <a:buNone/>
            </a:pPr>
            <a:r>
              <a:rPr lang="en-US" sz="1300" dirty="0">
                <a:solidFill>
                  <a:schemeClr val="accent5"/>
                </a:solidFill>
              </a:rPr>
              <a:t>Slows excessive scalp-cell turnover</a:t>
            </a:r>
            <a:endParaRPr lang="en-US" sz="1300" dirty="0"/>
          </a:p>
        </p:txBody>
      </p:sp>
      <p:sp>
        <p:nvSpPr>
          <p:cNvPr id="16" name="Shape 13"/>
          <p:cNvSpPr/>
          <p:nvPr/>
        </p:nvSpPr>
        <p:spPr>
          <a:xfrm>
            <a:off x="8983980" y="1325880"/>
            <a:ext cx="2651760" cy="2743200"/>
          </a:xfrm>
          <a:prstGeom prst="roundRect">
            <a:avLst>
              <a:gd name="adj" fmla="val 4138"/>
            </a:avLst>
          </a:prstGeom>
          <a:solidFill>
            <a:schemeClr val="accent2">
              <a:alpha val="10000"/>
            </a:schemeClr>
          </a:solidFill>
          <a:ln w="9525">
            <a:solidFill>
              <a:schemeClr val="accent2">
                <a:alpha val="25000"/>
              </a:schemeClr>
            </a:solidFill>
            <a:prstDash val="solid"/>
          </a:ln>
        </p:spPr>
      </p:sp>
      <p:sp>
        <p:nvSpPr>
          <p:cNvPr id="17" name="Text 14"/>
          <p:cNvSpPr txBox="1"/>
          <p:nvPr/>
        </p:nvSpPr>
        <p:spPr>
          <a:xfrm>
            <a:off x="8983980" y="1417320"/>
            <a:ext cx="2651760" cy="822960"/>
          </a:xfrm>
          <a:prstGeom prst="rect">
            <a:avLst/>
          </a:prstGeom>
          <a:noFill/>
          <a:ln/>
        </p:spPr>
        <p:txBody>
          <a:bodyPr wrap="square" lIns="0" tIns="0" rIns="0" bIns="0" rtlCol="0" anchor="ctr"/>
          <a:lstStyle/>
          <a:p>
            <a:pPr algn="ctr" indent="0" marL="0">
              <a:buNone/>
            </a:pPr>
            <a:r>
              <a:rPr lang="en-US" sz="3600" b="1" dirty="0">
                <a:solidFill>
                  <a:schemeClr val="accent2"/>
                </a:solidFill>
              </a:rPr>
              <a:t>2%</a:t>
            </a:r>
            <a:endParaRPr lang="en-US" sz="3600" dirty="0"/>
          </a:p>
        </p:txBody>
      </p:sp>
      <p:sp>
        <p:nvSpPr>
          <p:cNvPr id="18" name="Text 15"/>
          <p:cNvSpPr txBox="1"/>
          <p:nvPr/>
        </p:nvSpPr>
        <p:spPr>
          <a:xfrm>
            <a:off x="8983980" y="2240280"/>
            <a:ext cx="2651760" cy="411480"/>
          </a:xfrm>
          <a:prstGeom prst="rect">
            <a:avLst/>
          </a:prstGeom>
          <a:noFill/>
          <a:ln/>
        </p:spPr>
        <p:txBody>
          <a:bodyPr wrap="square" lIns="0" tIns="0" rIns="0" bIns="0" rtlCol="0" anchor="ctr"/>
          <a:lstStyle/>
          <a:p>
            <a:pPr algn="ctr" indent="0" marL="0">
              <a:buNone/>
            </a:pPr>
            <a:r>
              <a:rPr lang="en-US" sz="1500" b="1" dirty="0">
                <a:solidFill>
                  <a:schemeClr val="tx1"/>
                </a:solidFill>
              </a:rPr>
              <a:t>Salicylic Acid</a:t>
            </a:r>
            <a:endParaRPr lang="en-US" sz="1500" dirty="0"/>
          </a:p>
        </p:txBody>
      </p:sp>
      <p:sp>
        <p:nvSpPr>
          <p:cNvPr id="19" name="Text 16"/>
          <p:cNvSpPr txBox="1"/>
          <p:nvPr/>
        </p:nvSpPr>
        <p:spPr>
          <a:xfrm>
            <a:off x="9121140" y="2697480"/>
            <a:ext cx="2377440" cy="1280160"/>
          </a:xfrm>
          <a:prstGeom prst="rect">
            <a:avLst/>
          </a:prstGeom>
          <a:noFill/>
          <a:ln/>
        </p:spPr>
        <p:txBody>
          <a:bodyPr wrap="square" lIns="0" tIns="0" rIns="0" bIns="0" rtlCol="0" anchor="t"/>
          <a:lstStyle/>
          <a:p>
            <a:pPr algn="ctr" indent="0" marL="0">
              <a:buNone/>
            </a:pPr>
            <a:r>
              <a:rPr lang="en-US" sz="1300" dirty="0">
                <a:solidFill>
                  <a:schemeClr val="accent5"/>
                </a:solidFill>
              </a:rPr>
              <a:t>Dissolves flakes so actives reach the scalp</a:t>
            </a:r>
            <a:endParaRPr lang="en-US" sz="1300" dirty="0"/>
          </a:p>
        </p:txBody>
      </p:sp>
      <p:sp>
        <p:nvSpPr>
          <p:cNvPr id="20" name="Shape 17"/>
          <p:cNvSpPr/>
          <p:nvPr/>
        </p:nvSpPr>
        <p:spPr>
          <a:xfrm>
            <a:off x="548640" y="4297680"/>
            <a:ext cx="5440680" cy="1783080"/>
          </a:xfrm>
          <a:prstGeom prst="roundRect">
            <a:avLst>
              <a:gd name="adj" fmla="val 6154"/>
            </a:avLst>
          </a:prstGeom>
          <a:solidFill>
            <a:schemeClr val="accent2">
              <a:alpha val="8000"/>
            </a:schemeClr>
          </a:solidFill>
          <a:ln w="9525">
            <a:solidFill>
              <a:schemeClr val="accent2">
                <a:alpha val="25000"/>
              </a:schemeClr>
            </a:solidFill>
            <a:prstDash val="solid"/>
          </a:ln>
        </p:spPr>
      </p:sp>
      <p:sp>
        <p:nvSpPr>
          <p:cNvPr id="21" name="Shape 18"/>
          <p:cNvSpPr/>
          <p:nvPr/>
        </p:nvSpPr>
        <p:spPr>
          <a:xfrm>
            <a:off x="713232" y="4462272"/>
            <a:ext cx="457200" cy="457200"/>
          </a:xfrm>
          <a:prstGeom prst="ellipse">
            <a:avLst/>
          </a:prstGeom>
          <a:solidFill>
            <a:schemeClr val="accent2"/>
          </a:solidFill>
          <a:ln w="12700">
            <a:solidFill>
              <a:schemeClr val="accent2"/>
            </a:solidFill>
            <a:prstDash val="solid"/>
          </a:ln>
        </p:spPr>
      </p:sp>
      <p:sp>
        <p:nvSpPr>
          <p:cNvPr id="22" name="Text 19"/>
          <p:cNvSpPr txBox="1"/>
          <p:nvPr/>
        </p:nvSpPr>
        <p:spPr>
          <a:xfrm>
            <a:off x="713232" y="4462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3" name="Text 20"/>
          <p:cNvSpPr txBox="1"/>
          <p:nvPr/>
        </p:nvSpPr>
        <p:spPr>
          <a:xfrm>
            <a:off x="1298448" y="4407408"/>
            <a:ext cx="4572000" cy="548640"/>
          </a:xfrm>
          <a:prstGeom prst="rect">
            <a:avLst/>
          </a:prstGeom>
          <a:noFill/>
          <a:ln/>
        </p:spPr>
        <p:txBody>
          <a:bodyPr wrap="square" lIns="0" tIns="0" rIns="0" bIns="0" rtlCol="0" anchor="ctr"/>
          <a:lstStyle/>
          <a:p>
            <a:pPr algn="l" indent="0" marL="0">
              <a:buNone/>
            </a:pPr>
            <a:r>
              <a:rPr lang="en-US" sz="1600" b="1" dirty="0">
                <a:solidFill>
                  <a:schemeClr val="accent2"/>
                </a:solidFill>
              </a:rPr>
              <a:t>Natural antifungal oils</a:t>
            </a:r>
            <a:endParaRPr lang="en-US" sz="1600" dirty="0"/>
          </a:p>
        </p:txBody>
      </p:sp>
      <p:sp>
        <p:nvSpPr>
          <p:cNvPr id="24" name="Text 21"/>
          <p:cNvSpPr txBox="1"/>
          <p:nvPr/>
        </p:nvSpPr>
        <p:spPr>
          <a:xfrm>
            <a:off x="731520" y="5010912"/>
            <a:ext cx="5074920" cy="978408"/>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Tea tree oil 1% · Neem oil 3% · Ginger extract</a:t>
            </a:r>
            <a:endParaRPr lang="en-US" sz="1400" dirty="0"/>
          </a:p>
        </p:txBody>
      </p:sp>
      <p:sp>
        <p:nvSpPr>
          <p:cNvPr id="25" name="Shape 22"/>
          <p:cNvSpPr/>
          <p:nvPr/>
        </p:nvSpPr>
        <p:spPr>
          <a:xfrm>
            <a:off x="6172200" y="4297680"/>
            <a:ext cx="5440680" cy="1783080"/>
          </a:xfrm>
          <a:prstGeom prst="roundRect">
            <a:avLst>
              <a:gd name="adj" fmla="val 6154"/>
            </a:avLst>
          </a:prstGeom>
          <a:solidFill>
            <a:schemeClr val="accent2">
              <a:alpha val="8000"/>
            </a:schemeClr>
          </a:solidFill>
          <a:ln w="9525">
            <a:solidFill>
              <a:schemeClr val="accent2">
                <a:alpha val="25000"/>
              </a:schemeClr>
            </a:solidFill>
            <a:prstDash val="solid"/>
          </a:ln>
        </p:spPr>
      </p:sp>
      <p:sp>
        <p:nvSpPr>
          <p:cNvPr id="26" name="Shape 23"/>
          <p:cNvSpPr/>
          <p:nvPr/>
        </p:nvSpPr>
        <p:spPr>
          <a:xfrm>
            <a:off x="6336792" y="4462272"/>
            <a:ext cx="457200" cy="457200"/>
          </a:xfrm>
          <a:prstGeom prst="ellipse">
            <a:avLst/>
          </a:prstGeom>
          <a:solidFill>
            <a:schemeClr val="accent2"/>
          </a:solidFill>
          <a:ln w="12700">
            <a:solidFill>
              <a:schemeClr val="accent2"/>
            </a:solidFill>
            <a:prstDash val="solid"/>
          </a:ln>
        </p:spPr>
      </p:sp>
      <p:sp>
        <p:nvSpPr>
          <p:cNvPr id="27" name="Text 24"/>
          <p:cNvSpPr txBox="1"/>
          <p:nvPr/>
        </p:nvSpPr>
        <p:spPr>
          <a:xfrm>
            <a:off x="6336792" y="44622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28" name="Text 25"/>
          <p:cNvSpPr txBox="1"/>
          <p:nvPr/>
        </p:nvSpPr>
        <p:spPr>
          <a:xfrm>
            <a:off x="6922008" y="4407408"/>
            <a:ext cx="4572000" cy="548640"/>
          </a:xfrm>
          <a:prstGeom prst="rect">
            <a:avLst/>
          </a:prstGeom>
          <a:noFill/>
          <a:ln/>
        </p:spPr>
        <p:txBody>
          <a:bodyPr wrap="square" lIns="0" tIns="0" rIns="0" bIns="0" rtlCol="0" anchor="ctr"/>
          <a:lstStyle/>
          <a:p>
            <a:pPr algn="l" indent="0" marL="0">
              <a:buNone/>
            </a:pPr>
            <a:r>
              <a:rPr lang="en-US" sz="1600" b="1" dirty="0">
                <a:solidFill>
                  <a:schemeClr val="accent2"/>
                </a:solidFill>
              </a:rPr>
              <a:t>Moisturising &amp; soothing</a:t>
            </a:r>
            <a:endParaRPr lang="en-US" sz="1600" dirty="0"/>
          </a:p>
        </p:txBody>
      </p:sp>
      <p:sp>
        <p:nvSpPr>
          <p:cNvPr id="29" name="Text 26"/>
          <p:cNvSpPr txBox="1"/>
          <p:nvPr/>
        </p:nvSpPr>
        <p:spPr>
          <a:xfrm>
            <a:off x="6355080" y="5010912"/>
            <a:ext cx="5074920" cy="978408"/>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Panthenol · Jojoba · Squalane · Castor oil · Menthol · Peppermint</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Octo — scientific evidence on the ingredients</a:t>
            </a:r>
            <a:endParaRPr lang="en-US" sz="3200" dirty="0"/>
          </a:p>
        </p:txBody>
      </p:sp>
      <p:sp>
        <p:nvSpPr>
          <p:cNvPr id="4" name="Shape 1"/>
          <p:cNvSpPr/>
          <p:nvPr/>
        </p:nvSpPr>
        <p:spPr>
          <a:xfrm>
            <a:off x="548640" y="1325880"/>
            <a:ext cx="3749040" cy="2651760"/>
          </a:xfrm>
          <a:prstGeom prst="roundRect">
            <a:avLst>
              <a:gd name="adj" fmla="val 4138"/>
            </a:avLst>
          </a:prstGeom>
          <a:solidFill>
            <a:schemeClr val="accent2">
              <a:alpha val="8000"/>
            </a:schemeClr>
          </a:solidFill>
          <a:ln w="9525">
            <a:solidFill>
              <a:schemeClr val="accent2">
                <a:alpha val="25000"/>
              </a:schemeClr>
            </a:solidFill>
            <a:prstDash val="solid"/>
          </a:ln>
        </p:spPr>
      </p:sp>
      <p:sp>
        <p:nvSpPr>
          <p:cNvPr id="5" name="Text 2"/>
          <p:cNvSpPr txBox="1"/>
          <p:nvPr/>
        </p:nvSpPr>
        <p:spPr>
          <a:xfrm>
            <a:off x="731520" y="1435608"/>
            <a:ext cx="3383280" cy="365760"/>
          </a:xfrm>
          <a:prstGeom prst="rect">
            <a:avLst/>
          </a:prstGeom>
          <a:noFill/>
          <a:ln/>
        </p:spPr>
        <p:txBody>
          <a:bodyPr wrap="square" lIns="0" tIns="0" rIns="0" bIns="0" rtlCol="0" anchor="ctr"/>
          <a:lstStyle/>
          <a:p>
            <a:pPr algn="l" indent="0" marL="0">
              <a:buNone/>
            </a:pPr>
            <a:r>
              <a:rPr lang="en-US" sz="1400" b="1" dirty="0">
                <a:solidFill>
                  <a:schemeClr val="accent2"/>
                </a:solidFill>
              </a:rPr>
              <a:t>Schmidt-Rose, 2011</a:t>
            </a:r>
            <a:endParaRPr lang="en-US" sz="1400" dirty="0"/>
          </a:p>
        </p:txBody>
      </p:sp>
      <p:sp>
        <p:nvSpPr>
          <p:cNvPr id="6" name="Text 3"/>
          <p:cNvSpPr txBox="1"/>
          <p:nvPr/>
        </p:nvSpPr>
        <p:spPr>
          <a:xfrm>
            <a:off x="731520" y="1828800"/>
            <a:ext cx="3383280" cy="685800"/>
          </a:xfrm>
          <a:prstGeom prst="rect">
            <a:avLst/>
          </a:prstGeom>
          <a:noFill/>
          <a:ln/>
        </p:spPr>
        <p:txBody>
          <a:bodyPr wrap="square" lIns="0" tIns="0" rIns="0" bIns="0" rtlCol="0" anchor="t"/>
          <a:lstStyle/>
          <a:p>
            <a:pPr algn="l" indent="0" marL="0">
              <a:buNone/>
            </a:pPr>
            <a:r>
              <a:rPr lang="en-US" sz="1300" dirty="0">
                <a:solidFill>
                  <a:schemeClr val="accent5"/>
                </a:solidFill>
              </a:rPr>
              <a:t>Moderate-to-severe dandruff · half-head comparison</a:t>
            </a:r>
            <a:endParaRPr lang="en-US" sz="1300" dirty="0"/>
          </a:p>
        </p:txBody>
      </p:sp>
      <p:sp>
        <p:nvSpPr>
          <p:cNvPr id="7" name="Text 4"/>
          <p:cNvSpPr txBox="1"/>
          <p:nvPr/>
        </p:nvSpPr>
        <p:spPr>
          <a:xfrm>
            <a:off x="731520" y="2514600"/>
            <a:ext cx="3383280" cy="1371600"/>
          </a:xfrm>
          <a:prstGeom prst="rect">
            <a:avLst/>
          </a:prstGeom>
          <a:noFill/>
          <a:ln/>
        </p:spPr>
        <p:txBody>
          <a:bodyPr wrap="square" lIns="0" tIns="0" rIns="0" bIns="0" rtlCol="0" anchor="t"/>
          <a:lstStyle/>
          <a:p>
            <a:pPr algn="l" indent="0" marL="0">
              <a:buNone/>
            </a:pPr>
            <a:r>
              <a:rPr lang="en-US" sz="1400" b="1" dirty="0">
                <a:solidFill>
                  <a:schemeClr val="tx1"/>
                </a:solidFill>
              </a:rPr>
              <a:t>Piroctone olamine shampoo reduced dandruff as well as ZPT 1%; 90% reported less itch after 4 weeks</a:t>
            </a:r>
            <a:endParaRPr lang="en-US" sz="1400" dirty="0"/>
          </a:p>
        </p:txBody>
      </p:sp>
      <p:sp>
        <p:nvSpPr>
          <p:cNvPr id="8" name="Shape 5"/>
          <p:cNvSpPr/>
          <p:nvPr/>
        </p:nvSpPr>
        <p:spPr>
          <a:xfrm>
            <a:off x="4480560" y="1325880"/>
            <a:ext cx="3657600" cy="2651760"/>
          </a:xfrm>
          <a:prstGeom prst="roundRect">
            <a:avLst>
              <a:gd name="adj" fmla="val 4138"/>
            </a:avLst>
          </a:prstGeom>
          <a:solidFill>
            <a:schemeClr val="accent2">
              <a:alpha val="8000"/>
            </a:schemeClr>
          </a:solidFill>
          <a:ln w="9525">
            <a:solidFill>
              <a:schemeClr val="accent2">
                <a:alpha val="25000"/>
              </a:schemeClr>
            </a:solidFill>
            <a:prstDash val="solid"/>
          </a:ln>
        </p:spPr>
      </p:sp>
      <p:sp>
        <p:nvSpPr>
          <p:cNvPr id="9" name="Text 6"/>
          <p:cNvSpPr txBox="1"/>
          <p:nvPr/>
        </p:nvSpPr>
        <p:spPr>
          <a:xfrm>
            <a:off x="4663440" y="1435608"/>
            <a:ext cx="3291840" cy="365760"/>
          </a:xfrm>
          <a:prstGeom prst="rect">
            <a:avLst/>
          </a:prstGeom>
          <a:noFill/>
          <a:ln/>
        </p:spPr>
        <p:txBody>
          <a:bodyPr wrap="square" lIns="0" tIns="0" rIns="0" bIns="0" rtlCol="0" anchor="ctr"/>
          <a:lstStyle/>
          <a:p>
            <a:pPr algn="l" indent="0" marL="0">
              <a:buNone/>
            </a:pPr>
            <a:r>
              <a:rPr lang="en-US" sz="1400" b="1" dirty="0">
                <a:solidFill>
                  <a:schemeClr val="accent2"/>
                </a:solidFill>
              </a:rPr>
              <a:t>Danby, 1993 · RCT</a:t>
            </a:r>
            <a:endParaRPr lang="en-US" sz="1400" dirty="0"/>
          </a:p>
        </p:txBody>
      </p:sp>
      <p:sp>
        <p:nvSpPr>
          <p:cNvPr id="10" name="Text 7"/>
          <p:cNvSpPr txBox="1"/>
          <p:nvPr/>
        </p:nvSpPr>
        <p:spPr>
          <a:xfrm>
            <a:off x="4663440" y="1828800"/>
            <a:ext cx="3291840" cy="685800"/>
          </a:xfrm>
          <a:prstGeom prst="rect">
            <a:avLst/>
          </a:prstGeom>
          <a:noFill/>
          <a:ln/>
        </p:spPr>
        <p:txBody>
          <a:bodyPr wrap="square" lIns="0" tIns="0" rIns="0" bIns="0" rtlCol="0" anchor="t"/>
          <a:lstStyle/>
          <a:p>
            <a:pPr algn="l" indent="0" marL="0">
              <a:buNone/>
            </a:pPr>
            <a:r>
              <a:rPr lang="en-US" sz="1300" dirty="0">
                <a:solidFill>
                  <a:schemeClr val="accent5"/>
                </a:solidFill>
              </a:rPr>
              <a:t>246 patients · moderate-to-severe dandruff</a:t>
            </a:r>
            <a:endParaRPr lang="en-US" sz="1300" dirty="0"/>
          </a:p>
        </p:txBody>
      </p:sp>
      <p:sp>
        <p:nvSpPr>
          <p:cNvPr id="11" name="Text 8"/>
          <p:cNvSpPr txBox="1"/>
          <p:nvPr/>
        </p:nvSpPr>
        <p:spPr>
          <a:xfrm>
            <a:off x="4663440" y="2514600"/>
            <a:ext cx="3291840" cy="1371600"/>
          </a:xfrm>
          <a:prstGeom prst="rect">
            <a:avLst/>
          </a:prstGeom>
          <a:noFill/>
          <a:ln/>
        </p:spPr>
        <p:txBody>
          <a:bodyPr wrap="square" lIns="0" tIns="0" rIns="0" bIns="0" rtlCol="0" anchor="t"/>
          <a:lstStyle/>
          <a:p>
            <a:pPr algn="l" indent="0" marL="0">
              <a:buNone/>
            </a:pPr>
            <a:r>
              <a:rPr lang="en-US" sz="1400" b="1" dirty="0">
                <a:solidFill>
                  <a:schemeClr val="tx1"/>
                </a:solidFill>
              </a:rPr>
              <a:t>Selenium sulfide clearly better than placebo at every visit, with less itching</a:t>
            </a:r>
            <a:endParaRPr lang="en-US" sz="1400" dirty="0"/>
          </a:p>
        </p:txBody>
      </p:sp>
      <p:sp>
        <p:nvSpPr>
          <p:cNvPr id="12" name="Shape 9"/>
          <p:cNvSpPr/>
          <p:nvPr/>
        </p:nvSpPr>
        <p:spPr>
          <a:xfrm>
            <a:off x="8321040" y="1325880"/>
            <a:ext cx="3291840" cy="2651760"/>
          </a:xfrm>
          <a:prstGeom prst="roundRect">
            <a:avLst>
              <a:gd name="adj" fmla="val 4138"/>
            </a:avLst>
          </a:prstGeom>
          <a:solidFill>
            <a:schemeClr val="accent2">
              <a:alpha val="8000"/>
            </a:schemeClr>
          </a:solidFill>
          <a:ln w="9525">
            <a:solidFill>
              <a:schemeClr val="accent2">
                <a:alpha val="25000"/>
              </a:schemeClr>
            </a:solidFill>
            <a:prstDash val="solid"/>
          </a:ln>
        </p:spPr>
      </p:sp>
      <p:sp>
        <p:nvSpPr>
          <p:cNvPr id="13" name="Text 10"/>
          <p:cNvSpPr txBox="1"/>
          <p:nvPr/>
        </p:nvSpPr>
        <p:spPr>
          <a:xfrm>
            <a:off x="8503920" y="1435608"/>
            <a:ext cx="2926080" cy="365760"/>
          </a:xfrm>
          <a:prstGeom prst="rect">
            <a:avLst/>
          </a:prstGeom>
          <a:noFill/>
          <a:ln/>
        </p:spPr>
        <p:txBody>
          <a:bodyPr wrap="square" lIns="0" tIns="0" rIns="0" bIns="0" rtlCol="0" anchor="ctr"/>
          <a:lstStyle/>
          <a:p>
            <a:pPr algn="l" indent="0" marL="0">
              <a:buNone/>
            </a:pPr>
            <a:r>
              <a:rPr lang="en-US" sz="1400" b="1" dirty="0">
                <a:solidFill>
                  <a:schemeClr val="accent2"/>
                </a:solidFill>
              </a:rPr>
              <a:t>Satchell, 2002 · RCT</a:t>
            </a:r>
            <a:endParaRPr lang="en-US" sz="1400" dirty="0"/>
          </a:p>
        </p:txBody>
      </p:sp>
      <p:sp>
        <p:nvSpPr>
          <p:cNvPr id="14" name="Text 11"/>
          <p:cNvSpPr txBox="1"/>
          <p:nvPr/>
        </p:nvSpPr>
        <p:spPr>
          <a:xfrm>
            <a:off x="8503920" y="1828800"/>
            <a:ext cx="2926080" cy="685800"/>
          </a:xfrm>
          <a:prstGeom prst="rect">
            <a:avLst/>
          </a:prstGeom>
          <a:noFill/>
          <a:ln/>
        </p:spPr>
        <p:txBody>
          <a:bodyPr wrap="square" lIns="0" tIns="0" rIns="0" bIns="0" rtlCol="0" anchor="t"/>
          <a:lstStyle/>
          <a:p>
            <a:pPr algn="l" indent="0" marL="0">
              <a:buNone/>
            </a:pPr>
            <a:r>
              <a:rPr lang="en-US" sz="1300" dirty="0">
                <a:solidFill>
                  <a:schemeClr val="accent5"/>
                </a:solidFill>
              </a:rPr>
              <a:t>126 patients · 5% tea tree shampoo · 4 weeks</a:t>
            </a:r>
            <a:endParaRPr lang="en-US" sz="1300" dirty="0"/>
          </a:p>
        </p:txBody>
      </p:sp>
      <p:sp>
        <p:nvSpPr>
          <p:cNvPr id="15" name="Text 12"/>
          <p:cNvSpPr txBox="1"/>
          <p:nvPr/>
        </p:nvSpPr>
        <p:spPr>
          <a:xfrm>
            <a:off x="8503920" y="2514600"/>
            <a:ext cx="2926080" cy="1371600"/>
          </a:xfrm>
          <a:prstGeom prst="rect">
            <a:avLst/>
          </a:prstGeom>
          <a:noFill/>
          <a:ln/>
        </p:spPr>
        <p:txBody>
          <a:bodyPr wrap="square" lIns="0" tIns="0" rIns="0" bIns="0" rtlCol="0" anchor="t"/>
          <a:lstStyle/>
          <a:p>
            <a:pPr algn="l" indent="0" marL="0">
              <a:buNone/>
            </a:pPr>
            <a:r>
              <a:rPr lang="en-US" sz="1400" b="1" dirty="0">
                <a:solidFill>
                  <a:schemeClr val="tx1"/>
                </a:solidFill>
              </a:rPr>
              <a:t>41% improvement vs 11% on placebo</a:t>
            </a:r>
            <a:endParaRPr lang="en-US" sz="1400" dirty="0"/>
          </a:p>
        </p:txBody>
      </p:sp>
      <p:sp>
        <p:nvSpPr>
          <p:cNvPr id="16" name="Shape 13"/>
          <p:cNvSpPr/>
          <p:nvPr/>
        </p:nvSpPr>
        <p:spPr>
          <a:xfrm>
            <a:off x="548640" y="4206240"/>
            <a:ext cx="11064240" cy="1874520"/>
          </a:xfrm>
          <a:prstGeom prst="roundRect">
            <a:avLst>
              <a:gd name="adj" fmla="val 5854"/>
            </a:avLst>
          </a:prstGeom>
          <a:solidFill>
            <a:schemeClr val="accent2">
              <a:alpha val="7000"/>
            </a:schemeClr>
          </a:solidFill>
          <a:ln w="9525">
            <a:solidFill>
              <a:schemeClr val="accent2">
                <a:alpha val="25000"/>
              </a:schemeClr>
            </a:solidFill>
            <a:prstDash val="solid"/>
          </a:ln>
        </p:spPr>
      </p:sp>
      <p:sp>
        <p:nvSpPr>
          <p:cNvPr id="17" name="Text 14"/>
          <p:cNvSpPr txBox="1"/>
          <p:nvPr/>
        </p:nvSpPr>
        <p:spPr>
          <a:xfrm>
            <a:off x="731520" y="4297680"/>
            <a:ext cx="10698480" cy="1691640"/>
          </a:xfrm>
          <a:prstGeom prst="rect">
            <a:avLst/>
          </a:prstGeom>
          <a:noFill/>
          <a:ln/>
        </p:spPr>
        <p:txBody>
          <a:bodyPr wrap="square" lIns="0" tIns="0" rIns="0" bIns="0" rtlCol="0" anchor="ctr"/>
          <a:lstStyle/>
          <a:p>
            <a:pPr algn="l" indent="0" marL="0">
              <a:buNone/>
            </a:pPr>
            <a:r>
              <a:rPr lang="en-US" sz="1500" b="1" dirty="0">
                <a:solidFill>
                  <a:schemeClr val="accent2"/>
                </a:solidFill>
              </a:rPr>
              <a:t>Supplier data on Octopirox: </a:t>
            </a:r>
            <a:endParaRPr lang="en-US" sz="1500" dirty="0"/>
          </a:p>
          <a:p>
            <a:pPr algn="l" indent="0" marL="0">
              <a:buNone/>
            </a:pPr>
            <a:r>
              <a:rPr lang="en-US" sz="1500" dirty="0">
                <a:solidFill>
                  <a:schemeClr val="tx1"/>
                </a:solidFill>
              </a:rPr>
              <a:t>fast action and high efficacy · low recurrence because it binds to hair keratin and is also antibacterial · non-irritating to the eyes · negligible systemic absorption.</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Octo — use and presentation</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2"/>
          </a:solidFill>
          <a:ln w="12700">
            <a:solidFill>
              <a:schemeClr val="accent2"/>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l" indent="0" marL="0">
              <a:spcAft>
                <a:spcPts val="400"/>
              </a:spcAft>
              <a:buNone/>
            </a:pPr>
            <a:r>
              <a:rPr lang="en-US" sz="1200" b="1" dirty="0">
                <a:solidFill>
                  <a:schemeClr val="bg1"/>
                </a:solidFill>
              </a:rPr>
              <a:t>KEY SELLING POINT</a:t>
            </a:r>
            <a:endParaRPr lang="en-US" sz="1200" dirty="0"/>
          </a:p>
          <a:p>
            <a:pPr algn="l" indent="0" marL="0">
              <a:spcAft>
                <a:spcPts val="400"/>
              </a:spcAft>
              <a:buNone/>
            </a:pPr>
            <a:r>
              <a:rPr lang="en-US" sz="1800" b="1" dirty="0">
                <a:solidFill>
                  <a:schemeClr val="bg1"/>
                </a:solidFill>
              </a:rPr>
              <a:t>Four anti-dandruff actives in one shampoo, at scalp-friendly pH 5.5</a:t>
            </a:r>
            <a:endParaRPr lang="en-US" sz="1200" dirty="0"/>
          </a:p>
        </p:txBody>
      </p:sp>
      <p:sp>
        <p:nvSpPr>
          <p:cNvPr id="6" name="Shape 3"/>
          <p:cNvSpPr/>
          <p:nvPr/>
        </p:nvSpPr>
        <p:spPr>
          <a:xfrm>
            <a:off x="548640" y="2743200"/>
            <a:ext cx="3566160" cy="1645920"/>
          </a:xfrm>
          <a:prstGeom prst="roundRect">
            <a:avLst>
              <a:gd name="adj" fmla="val 6667"/>
            </a:avLst>
          </a:prstGeom>
          <a:solidFill>
            <a:schemeClr val="accent2">
              <a:alpha val="10000"/>
            </a:schemeClr>
          </a:solidFill>
          <a:ln w="9525">
            <a:solidFill>
              <a:schemeClr val="accent2">
                <a:alpha val="25000"/>
              </a:schemeClr>
            </a:solidFill>
            <a:prstDash val="solid"/>
          </a:ln>
        </p:spPr>
      </p:sp>
      <p:sp>
        <p:nvSpPr>
          <p:cNvPr id="7" name="Text 4"/>
          <p:cNvSpPr txBox="1"/>
          <p:nvPr/>
        </p:nvSpPr>
        <p:spPr>
          <a:xfrm>
            <a:off x="548640" y="2834640"/>
            <a:ext cx="3566160" cy="411480"/>
          </a:xfrm>
          <a:prstGeom prst="rect">
            <a:avLst/>
          </a:prstGeom>
          <a:noFill/>
          <a:ln/>
        </p:spPr>
        <p:txBody>
          <a:bodyPr wrap="square" lIns="0" tIns="0" rIns="0" bIns="0" rtlCol="0" anchor="ctr"/>
          <a:lstStyle/>
          <a:p>
            <a:pPr algn="ctr" indent="0" marL="0">
              <a:buNone/>
            </a:pPr>
            <a:r>
              <a:rPr lang="en-US" sz="1500" b="1" dirty="0">
                <a:solidFill>
                  <a:schemeClr val="accent2"/>
                </a:solidFill>
              </a:rPr>
              <a:t>Treatment</a:t>
            </a:r>
            <a:endParaRPr lang="en-US" sz="1500" dirty="0"/>
          </a:p>
        </p:txBody>
      </p:sp>
      <p:sp>
        <p:nvSpPr>
          <p:cNvPr id="8" name="Text 5"/>
          <p:cNvSpPr txBox="1"/>
          <p:nvPr/>
        </p:nvSpPr>
        <p:spPr>
          <a:xfrm>
            <a:off x="548640" y="3291840"/>
            <a:ext cx="3566160" cy="457200"/>
          </a:xfrm>
          <a:prstGeom prst="rect">
            <a:avLst/>
          </a:prstGeom>
          <a:noFill/>
          <a:ln/>
        </p:spPr>
        <p:txBody>
          <a:bodyPr wrap="square" lIns="0" tIns="0" rIns="0" bIns="0" rtlCol="0" anchor="ctr"/>
          <a:lstStyle/>
          <a:p>
            <a:pPr algn="ctr" indent="0" marL="0">
              <a:buNone/>
            </a:pPr>
            <a:r>
              <a:rPr lang="en-US" sz="2000" b="1" dirty="0">
                <a:solidFill>
                  <a:schemeClr val="tx1"/>
                </a:solidFill>
              </a:rPr>
              <a:t>2–3 times weekly</a:t>
            </a:r>
            <a:endParaRPr lang="en-US" sz="2000" dirty="0"/>
          </a:p>
        </p:txBody>
      </p:sp>
      <p:sp>
        <p:nvSpPr>
          <p:cNvPr id="9" name="Text 6"/>
          <p:cNvSpPr txBox="1"/>
          <p:nvPr/>
        </p:nvSpPr>
        <p:spPr>
          <a:xfrm>
            <a:off x="548640" y="3794760"/>
            <a:ext cx="3566160" cy="411480"/>
          </a:xfrm>
          <a:prstGeom prst="rect">
            <a:avLst/>
          </a:prstGeom>
          <a:noFill/>
          <a:ln/>
        </p:spPr>
        <p:txBody>
          <a:bodyPr wrap="square" lIns="0" tIns="0" rIns="0" bIns="0" rtlCol="0" anchor="ctr"/>
          <a:lstStyle/>
          <a:p>
            <a:pPr algn="ctr" indent="0" marL="0">
              <a:buNone/>
            </a:pPr>
            <a:r>
              <a:rPr lang="en-US" sz="1400" dirty="0">
                <a:solidFill>
                  <a:schemeClr val="accent5"/>
                </a:solidFill>
              </a:rPr>
              <a:t>for 3 weeks</a:t>
            </a:r>
            <a:endParaRPr lang="en-US" sz="1400" dirty="0"/>
          </a:p>
        </p:txBody>
      </p:sp>
      <p:sp>
        <p:nvSpPr>
          <p:cNvPr id="10" name="Shape 7"/>
          <p:cNvSpPr/>
          <p:nvPr/>
        </p:nvSpPr>
        <p:spPr>
          <a:xfrm>
            <a:off x="4297680" y="2743200"/>
            <a:ext cx="3566160" cy="1645920"/>
          </a:xfrm>
          <a:prstGeom prst="roundRect">
            <a:avLst>
              <a:gd name="adj" fmla="val 6667"/>
            </a:avLst>
          </a:prstGeom>
          <a:solidFill>
            <a:schemeClr val="accent2">
              <a:alpha val="10000"/>
            </a:schemeClr>
          </a:solidFill>
          <a:ln w="9525">
            <a:solidFill>
              <a:schemeClr val="accent2">
                <a:alpha val="25000"/>
              </a:schemeClr>
            </a:solidFill>
            <a:prstDash val="solid"/>
          </a:ln>
        </p:spPr>
      </p:sp>
      <p:sp>
        <p:nvSpPr>
          <p:cNvPr id="11" name="Text 8"/>
          <p:cNvSpPr txBox="1"/>
          <p:nvPr/>
        </p:nvSpPr>
        <p:spPr>
          <a:xfrm>
            <a:off x="4297680" y="2834640"/>
            <a:ext cx="3566160" cy="411480"/>
          </a:xfrm>
          <a:prstGeom prst="rect">
            <a:avLst/>
          </a:prstGeom>
          <a:noFill/>
          <a:ln/>
        </p:spPr>
        <p:txBody>
          <a:bodyPr wrap="square" lIns="0" tIns="0" rIns="0" bIns="0" rtlCol="0" anchor="ctr"/>
          <a:lstStyle/>
          <a:p>
            <a:pPr algn="ctr" indent="0" marL="0">
              <a:buNone/>
            </a:pPr>
            <a:r>
              <a:rPr lang="en-US" sz="1500" b="1" dirty="0">
                <a:solidFill>
                  <a:schemeClr val="accent2"/>
                </a:solidFill>
              </a:rPr>
              <a:t>Prevention</a:t>
            </a:r>
            <a:endParaRPr lang="en-US" sz="1500" dirty="0"/>
          </a:p>
        </p:txBody>
      </p:sp>
      <p:sp>
        <p:nvSpPr>
          <p:cNvPr id="12" name="Text 9"/>
          <p:cNvSpPr txBox="1"/>
          <p:nvPr/>
        </p:nvSpPr>
        <p:spPr>
          <a:xfrm>
            <a:off x="4297680" y="3291840"/>
            <a:ext cx="3566160" cy="457200"/>
          </a:xfrm>
          <a:prstGeom prst="rect">
            <a:avLst/>
          </a:prstGeom>
          <a:noFill/>
          <a:ln/>
        </p:spPr>
        <p:txBody>
          <a:bodyPr wrap="square" lIns="0" tIns="0" rIns="0" bIns="0" rtlCol="0" anchor="ctr"/>
          <a:lstStyle/>
          <a:p>
            <a:pPr algn="ctr" indent="0" marL="0">
              <a:buNone/>
            </a:pPr>
            <a:r>
              <a:rPr lang="en-US" sz="2000" b="1" dirty="0">
                <a:solidFill>
                  <a:schemeClr val="tx1"/>
                </a:solidFill>
              </a:rPr>
              <a:t>Once weekly</a:t>
            </a:r>
            <a:endParaRPr lang="en-US" sz="2000" dirty="0"/>
          </a:p>
        </p:txBody>
      </p:sp>
      <p:sp>
        <p:nvSpPr>
          <p:cNvPr id="13" name="Text 10"/>
          <p:cNvSpPr txBox="1"/>
          <p:nvPr/>
        </p:nvSpPr>
        <p:spPr>
          <a:xfrm>
            <a:off x="4297680" y="3794760"/>
            <a:ext cx="3566160" cy="411480"/>
          </a:xfrm>
          <a:prstGeom prst="rect">
            <a:avLst/>
          </a:prstGeom>
          <a:noFill/>
          <a:ln/>
        </p:spPr>
        <p:txBody>
          <a:bodyPr wrap="square" lIns="0" tIns="0" rIns="0" bIns="0" rtlCol="0" anchor="ctr"/>
          <a:lstStyle/>
          <a:p>
            <a:pPr algn="ctr" indent="0" marL="0">
              <a:buNone/>
            </a:pPr>
            <a:r>
              <a:rPr lang="en-US" sz="1400" dirty="0">
                <a:solidFill>
                  <a:schemeClr val="accent5"/>
                </a:solidFill>
              </a:rPr>
              <a:t>for 3 months</a:t>
            </a:r>
            <a:endParaRPr lang="en-US" sz="1400" dirty="0"/>
          </a:p>
        </p:txBody>
      </p:sp>
      <p:sp>
        <p:nvSpPr>
          <p:cNvPr id="14" name="Shape 11"/>
          <p:cNvSpPr/>
          <p:nvPr/>
        </p:nvSpPr>
        <p:spPr>
          <a:xfrm>
            <a:off x="8046720" y="2743200"/>
            <a:ext cx="3566160" cy="1645920"/>
          </a:xfrm>
          <a:prstGeom prst="roundRect">
            <a:avLst>
              <a:gd name="adj" fmla="val 6667"/>
            </a:avLst>
          </a:prstGeom>
          <a:solidFill>
            <a:schemeClr val="accent2">
              <a:alpha val="10000"/>
            </a:schemeClr>
          </a:solidFill>
          <a:ln w="9525">
            <a:solidFill>
              <a:schemeClr val="accent2">
                <a:alpha val="25000"/>
              </a:schemeClr>
            </a:solidFill>
            <a:prstDash val="solid"/>
          </a:ln>
        </p:spPr>
      </p:sp>
      <p:sp>
        <p:nvSpPr>
          <p:cNvPr id="15" name="Text 12"/>
          <p:cNvSpPr txBox="1"/>
          <p:nvPr/>
        </p:nvSpPr>
        <p:spPr>
          <a:xfrm>
            <a:off x="8046720" y="2834640"/>
            <a:ext cx="3566160" cy="411480"/>
          </a:xfrm>
          <a:prstGeom prst="rect">
            <a:avLst/>
          </a:prstGeom>
          <a:noFill/>
          <a:ln/>
        </p:spPr>
        <p:txBody>
          <a:bodyPr wrap="square" lIns="0" tIns="0" rIns="0" bIns="0" rtlCol="0" anchor="ctr"/>
          <a:lstStyle/>
          <a:p>
            <a:pPr algn="ctr" indent="0" marL="0">
              <a:buNone/>
            </a:pPr>
            <a:r>
              <a:rPr lang="en-US" sz="1500" b="1" dirty="0">
                <a:solidFill>
                  <a:schemeClr val="accent2"/>
                </a:solidFill>
              </a:rPr>
              <a:t>How to use</a:t>
            </a:r>
            <a:endParaRPr lang="en-US" sz="1500" dirty="0"/>
          </a:p>
        </p:txBody>
      </p:sp>
      <p:sp>
        <p:nvSpPr>
          <p:cNvPr id="16" name="Text 13"/>
          <p:cNvSpPr txBox="1"/>
          <p:nvPr/>
        </p:nvSpPr>
        <p:spPr>
          <a:xfrm>
            <a:off x="8046720" y="3291840"/>
            <a:ext cx="3566160" cy="457200"/>
          </a:xfrm>
          <a:prstGeom prst="rect">
            <a:avLst/>
          </a:prstGeom>
          <a:noFill/>
          <a:ln/>
        </p:spPr>
        <p:txBody>
          <a:bodyPr wrap="square" lIns="0" tIns="0" rIns="0" bIns="0" rtlCol="0" anchor="ctr"/>
          <a:lstStyle/>
          <a:p>
            <a:pPr algn="ctr" indent="0" marL="0">
              <a:buNone/>
            </a:pPr>
            <a:r>
              <a:rPr lang="en-US" sz="2000" b="1" dirty="0">
                <a:solidFill>
                  <a:schemeClr val="tx1"/>
                </a:solidFill>
              </a:rPr>
              <a:t>Lather on the scalp</a:t>
            </a:r>
            <a:endParaRPr lang="en-US" sz="2000" dirty="0"/>
          </a:p>
        </p:txBody>
      </p:sp>
      <p:sp>
        <p:nvSpPr>
          <p:cNvPr id="17" name="Text 14"/>
          <p:cNvSpPr txBox="1"/>
          <p:nvPr/>
        </p:nvSpPr>
        <p:spPr>
          <a:xfrm>
            <a:off x="8046720" y="3794760"/>
            <a:ext cx="3566160" cy="411480"/>
          </a:xfrm>
          <a:prstGeom prst="rect">
            <a:avLst/>
          </a:prstGeom>
          <a:noFill/>
          <a:ln/>
        </p:spPr>
        <p:txBody>
          <a:bodyPr wrap="square" lIns="0" tIns="0" rIns="0" bIns="0" rtlCol="0" anchor="ctr"/>
          <a:lstStyle/>
          <a:p>
            <a:pPr algn="ctr" indent="0" marL="0">
              <a:buNone/>
            </a:pPr>
            <a:r>
              <a:rPr lang="en-US" sz="1400" dirty="0">
                <a:solidFill>
                  <a:schemeClr val="accent5"/>
                </a:solidFill>
              </a:rPr>
              <a:t>leave 3–5 min, then rinse</a:t>
            </a:r>
            <a:endParaRPr lang="en-US" sz="1400" dirty="0"/>
          </a:p>
        </p:txBody>
      </p:sp>
      <p:sp>
        <p:nvSpPr>
          <p:cNvPr id="18" name="Shape 15"/>
          <p:cNvSpPr/>
          <p:nvPr/>
        </p:nvSpPr>
        <p:spPr>
          <a:xfrm>
            <a:off x="548640" y="4572000"/>
            <a:ext cx="5440680" cy="1508760"/>
          </a:xfrm>
          <a:prstGeom prst="roundRect">
            <a:avLst>
              <a:gd name="adj" fmla="val 7273"/>
            </a:avLst>
          </a:prstGeom>
          <a:solidFill>
            <a:schemeClr val="accent2">
              <a:alpha val="8000"/>
            </a:schemeClr>
          </a:solidFill>
          <a:ln w="9525">
            <a:solidFill>
              <a:schemeClr val="accent2">
                <a:alpha val="25000"/>
              </a:schemeClr>
            </a:solidFill>
            <a:prstDash val="solid"/>
          </a:ln>
        </p:spPr>
      </p:sp>
      <p:sp>
        <p:nvSpPr>
          <p:cNvPr id="19" name="Shape 16"/>
          <p:cNvSpPr/>
          <p:nvPr/>
        </p:nvSpPr>
        <p:spPr>
          <a:xfrm>
            <a:off x="713232" y="4736592"/>
            <a:ext cx="457200" cy="457200"/>
          </a:xfrm>
          <a:prstGeom prst="ellipse">
            <a:avLst/>
          </a:prstGeom>
          <a:solidFill>
            <a:schemeClr val="accent2"/>
          </a:solidFill>
          <a:ln w="12700">
            <a:solidFill>
              <a:schemeClr val="accent2"/>
            </a:solidFill>
            <a:prstDash val="solid"/>
          </a:ln>
        </p:spPr>
      </p:sp>
      <p:sp>
        <p:nvSpPr>
          <p:cNvPr id="20" name="Text 17"/>
          <p:cNvSpPr txBox="1"/>
          <p:nvPr/>
        </p:nvSpPr>
        <p:spPr>
          <a:xfrm>
            <a:off x="713232" y="47365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1298448" y="4681728"/>
            <a:ext cx="4572000" cy="548640"/>
          </a:xfrm>
          <a:prstGeom prst="rect">
            <a:avLst/>
          </a:prstGeom>
          <a:noFill/>
          <a:ln/>
        </p:spPr>
        <p:txBody>
          <a:bodyPr wrap="square" lIns="0" tIns="0" rIns="0" bIns="0" rtlCol="0" anchor="ctr"/>
          <a:lstStyle/>
          <a:p>
            <a:pPr algn="l" indent="0" marL="0">
              <a:buNone/>
            </a:pPr>
            <a:r>
              <a:rPr lang="en-US" sz="1600" b="1" dirty="0">
                <a:solidFill>
                  <a:schemeClr val="accent2"/>
                </a:solidFill>
              </a:rPr>
              <a:t>Target doctor</a:t>
            </a:r>
            <a:endParaRPr lang="en-US" sz="1600" dirty="0"/>
          </a:p>
        </p:txBody>
      </p:sp>
      <p:sp>
        <p:nvSpPr>
          <p:cNvPr id="22" name="Text 19"/>
          <p:cNvSpPr txBox="1"/>
          <p:nvPr/>
        </p:nvSpPr>
        <p:spPr>
          <a:xfrm>
            <a:off x="731520" y="5285232"/>
            <a:ext cx="5074920" cy="704088"/>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Dermatology · pharmacies · dandruff and seborrhoeic scalp patients</a:t>
            </a:r>
            <a:endParaRPr lang="en-US" sz="1400" dirty="0"/>
          </a:p>
        </p:txBody>
      </p:sp>
      <p:sp>
        <p:nvSpPr>
          <p:cNvPr id="23" name="Shape 20"/>
          <p:cNvSpPr/>
          <p:nvPr/>
        </p:nvSpPr>
        <p:spPr>
          <a:xfrm>
            <a:off x="6172200" y="4572000"/>
            <a:ext cx="5440680" cy="1508760"/>
          </a:xfrm>
          <a:prstGeom prst="roundRect">
            <a:avLst>
              <a:gd name="adj" fmla="val 7273"/>
            </a:avLst>
          </a:prstGeom>
          <a:solidFill>
            <a:schemeClr val="accent2">
              <a:alpha val="8000"/>
            </a:schemeClr>
          </a:solidFill>
          <a:ln w="9525">
            <a:solidFill>
              <a:schemeClr val="accent2">
                <a:alpha val="25000"/>
              </a:schemeClr>
            </a:solidFill>
            <a:prstDash val="solid"/>
          </a:ln>
        </p:spPr>
      </p:sp>
      <p:sp>
        <p:nvSpPr>
          <p:cNvPr id="24" name="Shape 21"/>
          <p:cNvSpPr/>
          <p:nvPr/>
        </p:nvSpPr>
        <p:spPr>
          <a:xfrm>
            <a:off x="6336792" y="4736592"/>
            <a:ext cx="457200" cy="457200"/>
          </a:xfrm>
          <a:prstGeom prst="ellipse">
            <a:avLst/>
          </a:prstGeom>
          <a:solidFill>
            <a:schemeClr val="accent2"/>
          </a:solidFill>
          <a:ln w="12700">
            <a:solidFill>
              <a:schemeClr val="accent2"/>
            </a:solidFill>
            <a:prstDash val="solid"/>
          </a:ln>
        </p:spPr>
      </p:sp>
      <p:sp>
        <p:nvSpPr>
          <p:cNvPr id="25" name="Text 22"/>
          <p:cNvSpPr txBox="1"/>
          <p:nvPr/>
        </p:nvSpPr>
        <p:spPr>
          <a:xfrm>
            <a:off x="6336792" y="47365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6" name="Text 23"/>
          <p:cNvSpPr txBox="1"/>
          <p:nvPr/>
        </p:nvSpPr>
        <p:spPr>
          <a:xfrm>
            <a:off x="6922008" y="4681728"/>
            <a:ext cx="4572000" cy="548640"/>
          </a:xfrm>
          <a:prstGeom prst="rect">
            <a:avLst/>
          </a:prstGeom>
          <a:noFill/>
          <a:ln/>
        </p:spPr>
        <p:txBody>
          <a:bodyPr wrap="square" lIns="0" tIns="0" rIns="0" bIns="0" rtlCol="0" anchor="ctr"/>
          <a:lstStyle/>
          <a:p>
            <a:pPr algn="l" indent="0" marL="0">
              <a:buNone/>
            </a:pPr>
            <a:r>
              <a:rPr lang="en-US" sz="1600" b="1" dirty="0">
                <a:solidFill>
                  <a:schemeClr val="accent2"/>
                </a:solidFill>
              </a:rPr>
              <a:t>Cross-selling</a:t>
            </a:r>
            <a:endParaRPr lang="en-US" sz="1600" dirty="0"/>
          </a:p>
        </p:txBody>
      </p:sp>
      <p:sp>
        <p:nvSpPr>
          <p:cNvPr id="27" name="Text 24"/>
          <p:cNvSpPr txBox="1"/>
          <p:nvPr/>
        </p:nvSpPr>
        <p:spPr>
          <a:xfrm>
            <a:off x="6355080" y="5285232"/>
            <a:ext cx="5074920" cy="704088"/>
          </a:xfrm>
          <a:prstGeom prst="rect">
            <a:avLst/>
          </a:prstGeom>
          <a:noFill/>
          <a:ln/>
        </p:spPr>
        <p:txBody>
          <a:bodyPr wrap="square" lIns="0" tIns="0" rIns="0" bIns="0" rtlCol="0" anchor="t"/>
          <a:lstStyle/>
          <a:p>
            <a:pPr algn="l" indent="0" marL="0">
              <a:spcAft>
                <a:spcPts val="400"/>
              </a:spcAft>
              <a:buNone/>
            </a:pPr>
            <a:r>
              <a:rPr lang="en-US" sz="1400" dirty="0">
                <a:solidFill>
                  <a:schemeClr val="tx1"/>
                </a:solidFill>
              </a:rPr>
              <a:t>Present E-Panthen with Octo in the same visit</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E-Panthen — product profile</a:t>
            </a:r>
            <a:endParaRPr lang="en-US" sz="3200" dirty="0"/>
          </a:p>
        </p:txBody>
      </p:sp>
      <p:pic>
        <p:nvPicPr>
          <p:cNvPr id="4" name="epanthen image" descr="preencoded.png">    </p:cNvPr>
          <p:cNvPicPr>
            <a:picLocks noChangeAspect="1"/>
          </p:cNvPicPr>
          <p:nvPr/>
        </p:nvPicPr>
        <p:blipFill>
          <a:blip r:embed="rId1"/>
          <a:stretch>
            <a:fillRect/>
          </a:stretch>
        </p:blipFill>
        <p:spPr>
          <a:xfrm>
            <a:off x="548640" y="1849120"/>
            <a:ext cx="3657600" cy="3616960"/>
          </a:xfrm>
          <a:prstGeom prst="rect">
            <a:avLst/>
          </a:prstGeom>
        </p:spPr>
      </p:pic>
      <p:sp>
        <p:nvSpPr>
          <p:cNvPr id="5" name="Shape 1"/>
          <p:cNvSpPr/>
          <p:nvPr/>
        </p:nvSpPr>
        <p:spPr>
          <a:xfrm>
            <a:off x="4572000" y="1325880"/>
            <a:ext cx="7040880" cy="457200"/>
          </a:xfrm>
          <a:prstGeom prst="rect">
            <a:avLst/>
          </a:prstGeom>
          <a:solidFill>
            <a:schemeClr val="accent2">
              <a:alpha val="7000"/>
            </a:schemeClr>
          </a:solidFill>
          <a:ln w="12700">
            <a:solidFill>
              <a:schemeClr val="accent2">
                <a:alpha val="0"/>
              </a:schemeClr>
            </a:solidFill>
            <a:prstDash val="solid"/>
          </a:ln>
        </p:spPr>
      </p:sp>
      <p:sp>
        <p:nvSpPr>
          <p:cNvPr id="6" name="Text 2"/>
          <p:cNvSpPr txBox="1"/>
          <p:nvPr/>
        </p:nvSpPr>
        <p:spPr>
          <a:xfrm>
            <a:off x="4663440" y="13258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Brand name</a:t>
            </a:r>
            <a:endParaRPr lang="en-US" sz="1300" dirty="0"/>
          </a:p>
        </p:txBody>
      </p:sp>
      <p:sp>
        <p:nvSpPr>
          <p:cNvPr id="7" name="Text 3"/>
          <p:cNvSpPr txBox="1"/>
          <p:nvPr/>
        </p:nvSpPr>
        <p:spPr>
          <a:xfrm>
            <a:off x="6858000" y="1325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E-Panthen Moisturizing Cream</a:t>
            </a:r>
            <a:endParaRPr lang="en-US" sz="1300" dirty="0"/>
          </a:p>
        </p:txBody>
      </p:sp>
      <p:sp>
        <p:nvSpPr>
          <p:cNvPr id="8" name="Text 4"/>
          <p:cNvSpPr txBox="1"/>
          <p:nvPr/>
        </p:nvSpPr>
        <p:spPr>
          <a:xfrm>
            <a:off x="4663440" y="17830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Brand</a:t>
            </a:r>
            <a:endParaRPr lang="en-US" sz="1300" dirty="0"/>
          </a:p>
        </p:txBody>
      </p:sp>
      <p:sp>
        <p:nvSpPr>
          <p:cNvPr id="9" name="Text 5"/>
          <p:cNvSpPr txBox="1"/>
          <p:nvPr/>
        </p:nvSpPr>
        <p:spPr>
          <a:xfrm>
            <a:off x="6858000" y="1783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Dr Organic</a:t>
            </a:r>
            <a:endParaRPr lang="en-US" sz="1300" dirty="0"/>
          </a:p>
        </p:txBody>
      </p:sp>
      <p:sp>
        <p:nvSpPr>
          <p:cNvPr id="10" name="Shape 6"/>
          <p:cNvSpPr/>
          <p:nvPr/>
        </p:nvSpPr>
        <p:spPr>
          <a:xfrm>
            <a:off x="4572000" y="2240280"/>
            <a:ext cx="7040880" cy="457200"/>
          </a:xfrm>
          <a:prstGeom prst="rect">
            <a:avLst/>
          </a:prstGeom>
          <a:solidFill>
            <a:schemeClr val="accent2">
              <a:alpha val="7000"/>
            </a:schemeClr>
          </a:solidFill>
          <a:ln w="12700">
            <a:solidFill>
              <a:schemeClr val="accent2">
                <a:alpha val="0"/>
              </a:schemeClr>
            </a:solidFill>
            <a:prstDash val="solid"/>
          </a:ln>
        </p:spPr>
      </p:sp>
      <p:sp>
        <p:nvSpPr>
          <p:cNvPr id="11" name="Text 7"/>
          <p:cNvSpPr txBox="1"/>
          <p:nvPr/>
        </p:nvSpPr>
        <p:spPr>
          <a:xfrm>
            <a:off x="4663440" y="22402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Category</a:t>
            </a:r>
            <a:endParaRPr lang="en-US" sz="1300" dirty="0"/>
          </a:p>
        </p:txBody>
      </p:sp>
      <p:sp>
        <p:nvSpPr>
          <p:cNvPr id="12" name="Text 8"/>
          <p:cNvSpPr txBox="1"/>
          <p:nvPr/>
        </p:nvSpPr>
        <p:spPr>
          <a:xfrm>
            <a:off x="6858000" y="2240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Skin-care cosmetic</a:t>
            </a:r>
            <a:endParaRPr lang="en-US" sz="1300" dirty="0"/>
          </a:p>
        </p:txBody>
      </p:sp>
      <p:sp>
        <p:nvSpPr>
          <p:cNvPr id="13" name="Text 9"/>
          <p:cNvSpPr txBox="1"/>
          <p:nvPr/>
        </p:nvSpPr>
        <p:spPr>
          <a:xfrm>
            <a:off x="4663440" y="26974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Size</a:t>
            </a:r>
            <a:endParaRPr lang="en-US" sz="1300" dirty="0"/>
          </a:p>
        </p:txBody>
      </p:sp>
      <p:sp>
        <p:nvSpPr>
          <p:cNvPr id="14" name="Text 10"/>
          <p:cNvSpPr txBox="1"/>
          <p:nvPr/>
        </p:nvSpPr>
        <p:spPr>
          <a:xfrm>
            <a:off x="6858000" y="2697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40 g</a:t>
            </a:r>
            <a:endParaRPr lang="en-US" sz="1300" dirty="0"/>
          </a:p>
        </p:txBody>
      </p:sp>
      <p:sp>
        <p:nvSpPr>
          <p:cNvPr id="15" name="Shape 11"/>
          <p:cNvSpPr/>
          <p:nvPr/>
        </p:nvSpPr>
        <p:spPr>
          <a:xfrm>
            <a:off x="4572000" y="3154680"/>
            <a:ext cx="7040880" cy="457200"/>
          </a:xfrm>
          <a:prstGeom prst="rect">
            <a:avLst/>
          </a:prstGeom>
          <a:solidFill>
            <a:schemeClr val="accent2">
              <a:alpha val="7000"/>
            </a:schemeClr>
          </a:solidFill>
          <a:ln w="12700">
            <a:solidFill>
              <a:schemeClr val="accent2">
                <a:alpha val="0"/>
              </a:schemeClr>
            </a:solidFill>
            <a:prstDash val="solid"/>
          </a:ln>
        </p:spPr>
      </p:sp>
      <p:sp>
        <p:nvSpPr>
          <p:cNvPr id="16" name="Text 12"/>
          <p:cNvSpPr txBox="1"/>
          <p:nvPr/>
        </p:nvSpPr>
        <p:spPr>
          <a:xfrm>
            <a:off x="4663440" y="31546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Key active</a:t>
            </a:r>
            <a:endParaRPr lang="en-US" sz="1300" dirty="0"/>
          </a:p>
        </p:txBody>
      </p:sp>
      <p:sp>
        <p:nvSpPr>
          <p:cNvPr id="17" name="Text 13"/>
          <p:cNvSpPr txBox="1"/>
          <p:nvPr/>
        </p:nvSpPr>
        <p:spPr>
          <a:xfrm>
            <a:off x="6858000" y="3154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5% D-Panthenol + Vitamin E</a:t>
            </a:r>
            <a:endParaRPr lang="en-US" sz="1300" dirty="0"/>
          </a:p>
        </p:txBody>
      </p:sp>
      <p:sp>
        <p:nvSpPr>
          <p:cNvPr id="18" name="Text 14"/>
          <p:cNvSpPr txBox="1"/>
          <p:nvPr/>
        </p:nvSpPr>
        <p:spPr>
          <a:xfrm>
            <a:off x="4663440" y="36118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SFDA notification</a:t>
            </a:r>
            <a:endParaRPr lang="en-US" sz="1300" dirty="0"/>
          </a:p>
        </p:txBody>
      </p:sp>
      <p:sp>
        <p:nvSpPr>
          <p:cNvPr id="19" name="Text 15"/>
          <p:cNvSpPr txBox="1"/>
          <p:nvPr/>
        </p:nvSpPr>
        <p:spPr>
          <a:xfrm>
            <a:off x="6858000" y="3611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CN-2026-65086 (valid to 12/5/2031)</a:t>
            </a:r>
            <a:endParaRPr lang="en-US" sz="1300" dirty="0"/>
          </a:p>
        </p:txBody>
      </p:sp>
      <p:sp>
        <p:nvSpPr>
          <p:cNvPr id="20" name="Shape 16"/>
          <p:cNvSpPr/>
          <p:nvPr/>
        </p:nvSpPr>
        <p:spPr>
          <a:xfrm>
            <a:off x="4572000" y="4069080"/>
            <a:ext cx="7040880" cy="457200"/>
          </a:xfrm>
          <a:prstGeom prst="rect">
            <a:avLst/>
          </a:prstGeom>
          <a:solidFill>
            <a:schemeClr val="accent2">
              <a:alpha val="7000"/>
            </a:schemeClr>
          </a:solidFill>
          <a:ln w="12700">
            <a:solidFill>
              <a:schemeClr val="accent2">
                <a:alpha val="0"/>
              </a:schemeClr>
            </a:solidFill>
            <a:prstDash val="solid"/>
          </a:ln>
        </p:spPr>
      </p:sp>
      <p:sp>
        <p:nvSpPr>
          <p:cNvPr id="21" name="Text 17"/>
          <p:cNvSpPr txBox="1"/>
          <p:nvPr/>
        </p:nvSpPr>
        <p:spPr>
          <a:xfrm>
            <a:off x="4663440" y="40690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Barcode</a:t>
            </a:r>
            <a:endParaRPr lang="en-US" sz="1300" dirty="0"/>
          </a:p>
        </p:txBody>
      </p:sp>
      <p:sp>
        <p:nvSpPr>
          <p:cNvPr id="22" name="Text 18"/>
          <p:cNvSpPr txBox="1"/>
          <p:nvPr/>
        </p:nvSpPr>
        <p:spPr>
          <a:xfrm>
            <a:off x="6858000" y="4069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6224010064195</a:t>
            </a:r>
            <a:endParaRPr lang="en-US" sz="1300" dirty="0"/>
          </a:p>
        </p:txBody>
      </p:sp>
      <p:sp>
        <p:nvSpPr>
          <p:cNvPr id="23" name="Text 19"/>
          <p:cNvSpPr txBox="1"/>
          <p:nvPr/>
        </p:nvSpPr>
        <p:spPr>
          <a:xfrm>
            <a:off x="4663440" y="45262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Use</a:t>
            </a:r>
            <a:endParaRPr lang="en-US" sz="1300" dirty="0"/>
          </a:p>
        </p:txBody>
      </p:sp>
      <p:sp>
        <p:nvSpPr>
          <p:cNvPr id="24" name="Text 20"/>
          <p:cNvSpPr txBox="1"/>
          <p:nvPr/>
        </p:nvSpPr>
        <p:spPr>
          <a:xfrm>
            <a:off x="6858000" y="4526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1–2 times daily or as needed</a:t>
            </a:r>
            <a:endParaRPr lang="en-US" sz="1300" dirty="0"/>
          </a:p>
        </p:txBody>
      </p:sp>
      <p:sp>
        <p:nvSpPr>
          <p:cNvPr id="25" name="Shape 21"/>
          <p:cNvSpPr/>
          <p:nvPr/>
        </p:nvSpPr>
        <p:spPr>
          <a:xfrm>
            <a:off x="4572000" y="4983480"/>
            <a:ext cx="7040880" cy="457200"/>
          </a:xfrm>
          <a:prstGeom prst="rect">
            <a:avLst/>
          </a:prstGeom>
          <a:solidFill>
            <a:schemeClr val="accent2">
              <a:alpha val="7000"/>
            </a:schemeClr>
          </a:solidFill>
          <a:ln w="12700">
            <a:solidFill>
              <a:schemeClr val="accent2">
                <a:alpha val="0"/>
              </a:schemeClr>
            </a:solidFill>
            <a:prstDash val="solid"/>
          </a:ln>
        </p:spPr>
      </p:sp>
      <p:sp>
        <p:nvSpPr>
          <p:cNvPr id="26" name="Text 22"/>
          <p:cNvSpPr txBox="1"/>
          <p:nvPr/>
        </p:nvSpPr>
        <p:spPr>
          <a:xfrm>
            <a:off x="4663440" y="49834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Manufacturer</a:t>
            </a:r>
            <a:endParaRPr lang="en-US" sz="1300" dirty="0"/>
          </a:p>
        </p:txBody>
      </p:sp>
      <p:sp>
        <p:nvSpPr>
          <p:cNvPr id="27" name="Text 23"/>
          <p:cNvSpPr txBox="1"/>
          <p:nvPr/>
        </p:nvSpPr>
        <p:spPr>
          <a:xfrm>
            <a:off x="6858000" y="4983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Brand International — Egypt</a:t>
            </a:r>
            <a:endParaRPr lang="en-US" sz="1300" dirty="0"/>
          </a:p>
        </p:txBody>
      </p:sp>
      <p:sp>
        <p:nvSpPr>
          <p:cNvPr id="28" name="Text 24"/>
          <p:cNvSpPr txBox="1"/>
          <p:nvPr/>
        </p:nvSpPr>
        <p:spPr>
          <a:xfrm>
            <a:off x="4663440" y="5440680"/>
            <a:ext cx="2103120" cy="457200"/>
          </a:xfrm>
          <a:prstGeom prst="rect">
            <a:avLst/>
          </a:prstGeom>
          <a:noFill/>
          <a:ln/>
        </p:spPr>
        <p:txBody>
          <a:bodyPr wrap="square" lIns="0" tIns="76200" rIns="0" bIns="0" rtlCol="0" anchor="ctr"/>
          <a:lstStyle/>
          <a:p>
            <a:pPr algn="l" indent="0" marL="0">
              <a:buNone/>
            </a:pPr>
            <a:r>
              <a:rPr lang="en-US" sz="1300" b="1" dirty="0">
                <a:solidFill>
                  <a:schemeClr val="accent2"/>
                </a:solidFill>
              </a:rPr>
              <a:t>Public price</a:t>
            </a:r>
            <a:endParaRPr lang="en-US" sz="1300" dirty="0"/>
          </a:p>
        </p:txBody>
      </p:sp>
      <p:sp>
        <p:nvSpPr>
          <p:cNvPr id="29" name="Text 25"/>
          <p:cNvSpPr txBox="1"/>
          <p:nvPr/>
        </p:nvSpPr>
        <p:spPr>
          <a:xfrm>
            <a:off x="6858000" y="5440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SAR 30 (excl. VAT)</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E-Panthen — the ten powers</a:t>
            </a:r>
            <a:endParaRPr lang="en-US" sz="3200" dirty="0"/>
          </a:p>
        </p:txBody>
      </p:sp>
      <p:sp>
        <p:nvSpPr>
          <p:cNvPr id="4" name="Shape 1"/>
          <p:cNvSpPr/>
          <p:nvPr/>
        </p:nvSpPr>
        <p:spPr>
          <a:xfrm>
            <a:off x="548640"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5" name="Shape 2"/>
          <p:cNvSpPr/>
          <p:nvPr/>
        </p:nvSpPr>
        <p:spPr>
          <a:xfrm>
            <a:off x="1371600" y="1463040"/>
            <a:ext cx="457200" cy="457200"/>
          </a:xfrm>
          <a:prstGeom prst="ellipse">
            <a:avLst/>
          </a:prstGeom>
          <a:solidFill>
            <a:schemeClr val="accent2"/>
          </a:solidFill>
          <a:ln w="12700">
            <a:solidFill>
              <a:schemeClr val="accent2"/>
            </a:solidFill>
            <a:prstDash val="solid"/>
          </a:ln>
        </p:spPr>
      </p:sp>
      <p:sp>
        <p:nvSpPr>
          <p:cNvPr id="6" name="Text 3"/>
          <p:cNvSpPr txBox="1"/>
          <p:nvPr/>
        </p:nvSpPr>
        <p:spPr>
          <a:xfrm>
            <a:off x="1371600"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640080"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D-Panthenol 5%</a:t>
            </a:r>
            <a:endParaRPr lang="en-US" sz="1400" dirty="0"/>
          </a:p>
        </p:txBody>
      </p:sp>
      <p:sp>
        <p:nvSpPr>
          <p:cNvPr id="8" name="Text 5"/>
          <p:cNvSpPr txBox="1"/>
          <p:nvPr/>
        </p:nvSpPr>
        <p:spPr>
          <a:xfrm>
            <a:off x="658368" y="246888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Deep hydration, soothing, barrier repair</a:t>
            </a:r>
            <a:endParaRPr lang="en-US" sz="1200" dirty="0"/>
          </a:p>
        </p:txBody>
      </p:sp>
      <p:sp>
        <p:nvSpPr>
          <p:cNvPr id="9" name="Shape 6"/>
          <p:cNvSpPr/>
          <p:nvPr/>
        </p:nvSpPr>
        <p:spPr>
          <a:xfrm>
            <a:off x="2798064"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10" name="Shape 7"/>
          <p:cNvSpPr/>
          <p:nvPr/>
        </p:nvSpPr>
        <p:spPr>
          <a:xfrm>
            <a:off x="3621024" y="1463040"/>
            <a:ext cx="457200" cy="457200"/>
          </a:xfrm>
          <a:prstGeom prst="ellipse">
            <a:avLst/>
          </a:prstGeom>
          <a:solidFill>
            <a:schemeClr val="accent2"/>
          </a:solidFill>
          <a:ln w="12700">
            <a:solidFill>
              <a:schemeClr val="accent2"/>
            </a:solidFill>
            <a:prstDash val="solid"/>
          </a:ln>
        </p:spPr>
      </p:sp>
      <p:sp>
        <p:nvSpPr>
          <p:cNvPr id="11" name="Text 8"/>
          <p:cNvSpPr txBox="1"/>
          <p:nvPr/>
        </p:nvSpPr>
        <p:spPr>
          <a:xfrm>
            <a:off x="3621024"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2889504"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Vitamin E 0.5%</a:t>
            </a:r>
            <a:endParaRPr lang="en-US" sz="1400" dirty="0"/>
          </a:p>
        </p:txBody>
      </p:sp>
      <p:sp>
        <p:nvSpPr>
          <p:cNvPr id="13" name="Text 10"/>
          <p:cNvSpPr txBox="1"/>
          <p:nvPr/>
        </p:nvSpPr>
        <p:spPr>
          <a:xfrm>
            <a:off x="2907792" y="246888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Antioxidant; protects skin lipids</a:t>
            </a:r>
            <a:endParaRPr lang="en-US" sz="1200" dirty="0"/>
          </a:p>
        </p:txBody>
      </p:sp>
      <p:sp>
        <p:nvSpPr>
          <p:cNvPr id="14" name="Shape 11"/>
          <p:cNvSpPr/>
          <p:nvPr/>
        </p:nvSpPr>
        <p:spPr>
          <a:xfrm>
            <a:off x="5047488"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15" name="Shape 12"/>
          <p:cNvSpPr/>
          <p:nvPr/>
        </p:nvSpPr>
        <p:spPr>
          <a:xfrm>
            <a:off x="5870448" y="1463040"/>
            <a:ext cx="457200" cy="457200"/>
          </a:xfrm>
          <a:prstGeom prst="ellipse">
            <a:avLst/>
          </a:prstGeom>
          <a:solidFill>
            <a:schemeClr val="accent2"/>
          </a:solidFill>
          <a:ln w="12700">
            <a:solidFill>
              <a:schemeClr val="accent2"/>
            </a:solidFill>
            <a:prstDash val="solid"/>
          </a:ln>
        </p:spPr>
      </p:sp>
      <p:sp>
        <p:nvSpPr>
          <p:cNvPr id="16" name="Text 13"/>
          <p:cNvSpPr txBox="1"/>
          <p:nvPr/>
        </p:nvSpPr>
        <p:spPr>
          <a:xfrm>
            <a:off x="5870448"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5138928"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Ceramide 1%</a:t>
            </a:r>
            <a:endParaRPr lang="en-US" sz="1400" dirty="0"/>
          </a:p>
        </p:txBody>
      </p:sp>
      <p:sp>
        <p:nvSpPr>
          <p:cNvPr id="18" name="Text 15"/>
          <p:cNvSpPr txBox="1"/>
          <p:nvPr/>
        </p:nvSpPr>
        <p:spPr>
          <a:xfrm>
            <a:off x="5157216" y="246888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Replenishes barrier lipids</a:t>
            </a:r>
            <a:endParaRPr lang="en-US" sz="1200" dirty="0"/>
          </a:p>
        </p:txBody>
      </p:sp>
      <p:sp>
        <p:nvSpPr>
          <p:cNvPr id="19" name="Shape 16"/>
          <p:cNvSpPr/>
          <p:nvPr/>
        </p:nvSpPr>
        <p:spPr>
          <a:xfrm>
            <a:off x="7296912"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20" name="Shape 17"/>
          <p:cNvSpPr/>
          <p:nvPr/>
        </p:nvSpPr>
        <p:spPr>
          <a:xfrm>
            <a:off x="8119872" y="1463040"/>
            <a:ext cx="457200" cy="457200"/>
          </a:xfrm>
          <a:prstGeom prst="ellipse">
            <a:avLst/>
          </a:prstGeom>
          <a:solidFill>
            <a:schemeClr val="accent2"/>
          </a:solidFill>
          <a:ln w="12700">
            <a:solidFill>
              <a:schemeClr val="accent2"/>
            </a:solidFill>
            <a:prstDash val="solid"/>
          </a:ln>
        </p:spPr>
      </p:sp>
      <p:sp>
        <p:nvSpPr>
          <p:cNvPr id="21" name="Text 18"/>
          <p:cNvSpPr txBox="1"/>
          <p:nvPr/>
        </p:nvSpPr>
        <p:spPr>
          <a:xfrm>
            <a:off x="8119872"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7388352"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Allantoin 1%</a:t>
            </a:r>
            <a:endParaRPr lang="en-US" sz="1400" dirty="0"/>
          </a:p>
        </p:txBody>
      </p:sp>
      <p:sp>
        <p:nvSpPr>
          <p:cNvPr id="23" name="Text 20"/>
          <p:cNvSpPr txBox="1"/>
          <p:nvPr/>
        </p:nvSpPr>
        <p:spPr>
          <a:xfrm>
            <a:off x="7406640" y="246888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Soothes and smooths rough skin</a:t>
            </a:r>
            <a:endParaRPr lang="en-US" sz="1200" dirty="0"/>
          </a:p>
        </p:txBody>
      </p:sp>
      <p:sp>
        <p:nvSpPr>
          <p:cNvPr id="24" name="Shape 21"/>
          <p:cNvSpPr/>
          <p:nvPr/>
        </p:nvSpPr>
        <p:spPr>
          <a:xfrm>
            <a:off x="9546336" y="132588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25" name="Shape 22"/>
          <p:cNvSpPr/>
          <p:nvPr/>
        </p:nvSpPr>
        <p:spPr>
          <a:xfrm>
            <a:off x="10369296" y="1463040"/>
            <a:ext cx="457200" cy="457200"/>
          </a:xfrm>
          <a:prstGeom prst="ellipse">
            <a:avLst/>
          </a:prstGeom>
          <a:solidFill>
            <a:schemeClr val="accent2"/>
          </a:solidFill>
          <a:ln w="12700">
            <a:solidFill>
              <a:schemeClr val="accent2"/>
            </a:solidFill>
            <a:prstDash val="solid"/>
          </a:ln>
        </p:spPr>
      </p:sp>
      <p:sp>
        <p:nvSpPr>
          <p:cNvPr id="26" name="Text 23"/>
          <p:cNvSpPr txBox="1"/>
          <p:nvPr/>
        </p:nvSpPr>
        <p:spPr>
          <a:xfrm>
            <a:off x="10369296" y="14630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9637776" y="201168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Glycerin 2%</a:t>
            </a:r>
            <a:endParaRPr lang="en-US" sz="1400" dirty="0"/>
          </a:p>
        </p:txBody>
      </p:sp>
      <p:sp>
        <p:nvSpPr>
          <p:cNvPr id="28" name="Text 25"/>
          <p:cNvSpPr txBox="1"/>
          <p:nvPr/>
        </p:nvSpPr>
        <p:spPr>
          <a:xfrm>
            <a:off x="9656064" y="246888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Humectant; holds moisture</a:t>
            </a:r>
            <a:endParaRPr lang="en-US" sz="1200" dirty="0"/>
          </a:p>
        </p:txBody>
      </p:sp>
      <p:sp>
        <p:nvSpPr>
          <p:cNvPr id="29" name="Shape 26"/>
          <p:cNvSpPr/>
          <p:nvPr/>
        </p:nvSpPr>
        <p:spPr>
          <a:xfrm>
            <a:off x="548640"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30" name="Shape 27"/>
          <p:cNvSpPr/>
          <p:nvPr/>
        </p:nvSpPr>
        <p:spPr>
          <a:xfrm>
            <a:off x="1371600" y="3886200"/>
            <a:ext cx="457200" cy="457200"/>
          </a:xfrm>
          <a:prstGeom prst="ellipse">
            <a:avLst/>
          </a:prstGeom>
          <a:solidFill>
            <a:schemeClr val="accent2"/>
          </a:solidFill>
          <a:ln w="12700">
            <a:solidFill>
              <a:schemeClr val="accent2"/>
            </a:solidFill>
            <a:prstDash val="solid"/>
          </a:ln>
        </p:spPr>
      </p:sp>
      <p:sp>
        <p:nvSpPr>
          <p:cNvPr id="31" name="Text 28"/>
          <p:cNvSpPr txBox="1"/>
          <p:nvPr/>
        </p:nvSpPr>
        <p:spPr>
          <a:xfrm>
            <a:off x="1371600"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640080"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Sweet Almond Oil 3%</a:t>
            </a:r>
            <a:endParaRPr lang="en-US" sz="1400" dirty="0"/>
          </a:p>
        </p:txBody>
      </p:sp>
      <p:sp>
        <p:nvSpPr>
          <p:cNvPr id="33" name="Text 30"/>
          <p:cNvSpPr txBox="1"/>
          <p:nvPr/>
        </p:nvSpPr>
        <p:spPr>
          <a:xfrm>
            <a:off x="658368" y="489204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Emollient rich in vitamins A and E</a:t>
            </a:r>
            <a:endParaRPr lang="en-US" sz="1200" dirty="0"/>
          </a:p>
        </p:txBody>
      </p:sp>
      <p:sp>
        <p:nvSpPr>
          <p:cNvPr id="34" name="Shape 31"/>
          <p:cNvSpPr/>
          <p:nvPr/>
        </p:nvSpPr>
        <p:spPr>
          <a:xfrm>
            <a:off x="2798064"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35" name="Shape 32"/>
          <p:cNvSpPr/>
          <p:nvPr/>
        </p:nvSpPr>
        <p:spPr>
          <a:xfrm>
            <a:off x="3621024" y="3886200"/>
            <a:ext cx="457200" cy="457200"/>
          </a:xfrm>
          <a:prstGeom prst="ellipse">
            <a:avLst/>
          </a:prstGeom>
          <a:solidFill>
            <a:schemeClr val="accent2"/>
          </a:solidFill>
          <a:ln w="12700">
            <a:solidFill>
              <a:schemeClr val="accent2"/>
            </a:solidFill>
            <a:prstDash val="solid"/>
          </a:ln>
        </p:spPr>
      </p:sp>
      <p:sp>
        <p:nvSpPr>
          <p:cNvPr id="36" name="Text 33"/>
          <p:cNvSpPr txBox="1"/>
          <p:nvPr/>
        </p:nvSpPr>
        <p:spPr>
          <a:xfrm>
            <a:off x="3621024"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7" name="Text 34"/>
          <p:cNvSpPr txBox="1"/>
          <p:nvPr/>
        </p:nvSpPr>
        <p:spPr>
          <a:xfrm>
            <a:off x="2889504"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Shea Butter 1%</a:t>
            </a:r>
            <a:endParaRPr lang="en-US" sz="1400" dirty="0"/>
          </a:p>
        </p:txBody>
      </p:sp>
      <p:sp>
        <p:nvSpPr>
          <p:cNvPr id="38" name="Text 35"/>
          <p:cNvSpPr txBox="1"/>
          <p:nvPr/>
        </p:nvSpPr>
        <p:spPr>
          <a:xfrm>
            <a:off x="2907792" y="489204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Emollient and soothing</a:t>
            </a:r>
            <a:endParaRPr lang="en-US" sz="1200" dirty="0"/>
          </a:p>
        </p:txBody>
      </p:sp>
      <p:sp>
        <p:nvSpPr>
          <p:cNvPr id="39" name="Shape 36"/>
          <p:cNvSpPr/>
          <p:nvPr/>
        </p:nvSpPr>
        <p:spPr>
          <a:xfrm>
            <a:off x="5047488"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40" name="Shape 37"/>
          <p:cNvSpPr/>
          <p:nvPr/>
        </p:nvSpPr>
        <p:spPr>
          <a:xfrm>
            <a:off x="5870448" y="3886200"/>
            <a:ext cx="457200" cy="457200"/>
          </a:xfrm>
          <a:prstGeom prst="ellipse">
            <a:avLst/>
          </a:prstGeom>
          <a:solidFill>
            <a:schemeClr val="accent2"/>
          </a:solidFill>
          <a:ln w="12700">
            <a:solidFill>
              <a:schemeClr val="accent2"/>
            </a:solidFill>
            <a:prstDash val="solid"/>
          </a:ln>
        </p:spPr>
      </p:sp>
      <p:sp>
        <p:nvSpPr>
          <p:cNvPr id="41" name="Text 38"/>
          <p:cNvSpPr txBox="1"/>
          <p:nvPr/>
        </p:nvSpPr>
        <p:spPr>
          <a:xfrm>
            <a:off x="5870448"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2" name="Text 39"/>
          <p:cNvSpPr txBox="1"/>
          <p:nvPr/>
        </p:nvSpPr>
        <p:spPr>
          <a:xfrm>
            <a:off x="5138928"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Argan Oil 0.5%</a:t>
            </a:r>
            <a:endParaRPr lang="en-US" sz="1400" dirty="0"/>
          </a:p>
        </p:txBody>
      </p:sp>
      <p:sp>
        <p:nvSpPr>
          <p:cNvPr id="43" name="Text 40"/>
          <p:cNvSpPr txBox="1"/>
          <p:nvPr/>
        </p:nvSpPr>
        <p:spPr>
          <a:xfrm>
            <a:off x="5157216" y="489204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Rich in vitamin E; skin repair</a:t>
            </a:r>
            <a:endParaRPr lang="en-US" sz="1200" dirty="0"/>
          </a:p>
        </p:txBody>
      </p:sp>
      <p:sp>
        <p:nvSpPr>
          <p:cNvPr id="44" name="Shape 41"/>
          <p:cNvSpPr/>
          <p:nvPr/>
        </p:nvSpPr>
        <p:spPr>
          <a:xfrm>
            <a:off x="7296912"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45" name="Shape 42"/>
          <p:cNvSpPr/>
          <p:nvPr/>
        </p:nvSpPr>
        <p:spPr>
          <a:xfrm>
            <a:off x="8119872" y="3886200"/>
            <a:ext cx="457200" cy="457200"/>
          </a:xfrm>
          <a:prstGeom prst="ellipse">
            <a:avLst/>
          </a:prstGeom>
          <a:solidFill>
            <a:schemeClr val="accent2"/>
          </a:solidFill>
          <a:ln w="12700">
            <a:solidFill>
              <a:schemeClr val="accent2"/>
            </a:solidFill>
            <a:prstDash val="solid"/>
          </a:ln>
        </p:spPr>
      </p:sp>
      <p:sp>
        <p:nvSpPr>
          <p:cNvPr id="46" name="Text 43"/>
          <p:cNvSpPr txBox="1"/>
          <p:nvPr/>
        </p:nvSpPr>
        <p:spPr>
          <a:xfrm>
            <a:off x="8119872"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7" name="Text 44"/>
          <p:cNvSpPr txBox="1"/>
          <p:nvPr/>
        </p:nvSpPr>
        <p:spPr>
          <a:xfrm>
            <a:off x="7388352"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Wheat Germ Oil 0.5%</a:t>
            </a:r>
            <a:endParaRPr lang="en-US" sz="1400" dirty="0"/>
          </a:p>
        </p:txBody>
      </p:sp>
      <p:sp>
        <p:nvSpPr>
          <p:cNvPr id="48" name="Text 45"/>
          <p:cNvSpPr txBox="1"/>
          <p:nvPr/>
        </p:nvSpPr>
        <p:spPr>
          <a:xfrm>
            <a:off x="7406640" y="489204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Moisturises and nourishes</a:t>
            </a:r>
            <a:endParaRPr lang="en-US" sz="1200" dirty="0"/>
          </a:p>
        </p:txBody>
      </p:sp>
      <p:sp>
        <p:nvSpPr>
          <p:cNvPr id="49" name="Shape 46"/>
          <p:cNvSpPr/>
          <p:nvPr/>
        </p:nvSpPr>
        <p:spPr>
          <a:xfrm>
            <a:off x="9546336" y="3749040"/>
            <a:ext cx="2103120" cy="2240280"/>
          </a:xfrm>
          <a:prstGeom prst="roundRect">
            <a:avLst>
              <a:gd name="adj" fmla="val 5217"/>
            </a:avLst>
          </a:prstGeom>
          <a:solidFill>
            <a:schemeClr val="accent2">
              <a:alpha val="10000"/>
            </a:schemeClr>
          </a:solidFill>
          <a:ln w="9525">
            <a:solidFill>
              <a:schemeClr val="accent2">
                <a:alpha val="25000"/>
              </a:schemeClr>
            </a:solidFill>
            <a:prstDash val="solid"/>
          </a:ln>
        </p:spPr>
      </p:sp>
      <p:sp>
        <p:nvSpPr>
          <p:cNvPr id="50" name="Shape 47"/>
          <p:cNvSpPr/>
          <p:nvPr/>
        </p:nvSpPr>
        <p:spPr>
          <a:xfrm>
            <a:off x="10369296" y="3886200"/>
            <a:ext cx="457200" cy="457200"/>
          </a:xfrm>
          <a:prstGeom prst="ellipse">
            <a:avLst/>
          </a:prstGeom>
          <a:solidFill>
            <a:schemeClr val="accent2"/>
          </a:solidFill>
          <a:ln w="12700">
            <a:solidFill>
              <a:schemeClr val="accent2"/>
            </a:solidFill>
            <a:prstDash val="solid"/>
          </a:ln>
        </p:spPr>
      </p:sp>
      <p:sp>
        <p:nvSpPr>
          <p:cNvPr id="51" name="Text 48"/>
          <p:cNvSpPr txBox="1"/>
          <p:nvPr/>
        </p:nvSpPr>
        <p:spPr>
          <a:xfrm>
            <a:off x="10369296" y="3886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52" name="Text 49"/>
          <p:cNvSpPr txBox="1"/>
          <p:nvPr/>
        </p:nvSpPr>
        <p:spPr>
          <a:xfrm>
            <a:off x="9637776" y="4434840"/>
            <a:ext cx="1920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Dimethicone 0.5%</a:t>
            </a:r>
            <a:endParaRPr lang="en-US" sz="1400" dirty="0"/>
          </a:p>
        </p:txBody>
      </p:sp>
      <p:sp>
        <p:nvSpPr>
          <p:cNvPr id="53" name="Text 50"/>
          <p:cNvSpPr txBox="1"/>
          <p:nvPr/>
        </p:nvSpPr>
        <p:spPr>
          <a:xfrm>
            <a:off x="9656064" y="4892040"/>
            <a:ext cx="1883664" cy="1005840"/>
          </a:xfrm>
          <a:prstGeom prst="rect">
            <a:avLst/>
          </a:prstGeom>
          <a:noFill/>
          <a:ln/>
        </p:spPr>
        <p:txBody>
          <a:bodyPr wrap="square" lIns="0" tIns="0" rIns="0" bIns="0" rtlCol="0" anchor="t"/>
          <a:lstStyle/>
          <a:p>
            <a:pPr algn="ctr" indent="0" marL="0">
              <a:buNone/>
            </a:pPr>
            <a:r>
              <a:rPr lang="en-US" sz="1200" dirty="0">
                <a:solidFill>
                  <a:schemeClr val="tx1"/>
                </a:solidFill>
              </a:rPr>
              <a:t>Light film that reduces water loss, non-greasy</a:t>
            </a:r>
            <a:endParaRPr lang="en-US" sz="1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E-Panthen — evidence and indications</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2"/>
          </a:solidFill>
          <a:ln w="12700">
            <a:solidFill>
              <a:schemeClr val="accent2"/>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l" indent="0" marL="0">
              <a:spcAft>
                <a:spcPts val="400"/>
              </a:spcAft>
              <a:buNone/>
            </a:pPr>
            <a:r>
              <a:rPr lang="en-US" sz="1200" b="1" dirty="0">
                <a:solidFill>
                  <a:schemeClr val="bg1"/>
                </a:solidFill>
              </a:rPr>
              <a:t>KEY SELLING POINT</a:t>
            </a:r>
            <a:endParaRPr lang="en-US" sz="1200" dirty="0"/>
          </a:p>
          <a:p>
            <a:pPr algn="l" indent="0" marL="0">
              <a:spcAft>
                <a:spcPts val="400"/>
              </a:spcAft>
              <a:buNone/>
            </a:pPr>
            <a:r>
              <a:rPr lang="en-US" sz="1800" b="1" dirty="0">
                <a:solidFill>
                  <a:schemeClr val="bg1"/>
                </a:solidFill>
              </a:rPr>
              <a:t>5% D-panthenol + vitamin E, with 10 moisturising ingredients including ceramide</a:t>
            </a:r>
            <a:endParaRPr lang="en-US" sz="1200" dirty="0"/>
          </a:p>
        </p:txBody>
      </p:sp>
      <p:sp>
        <p:nvSpPr>
          <p:cNvPr id="6" name="Shape 3"/>
          <p:cNvSpPr/>
          <p:nvPr/>
        </p:nvSpPr>
        <p:spPr>
          <a:xfrm>
            <a:off x="548640" y="2743200"/>
            <a:ext cx="3749040" cy="2011680"/>
          </a:xfrm>
          <a:prstGeom prst="roundRect">
            <a:avLst>
              <a:gd name="adj" fmla="val 5455"/>
            </a:avLst>
          </a:prstGeom>
          <a:solidFill>
            <a:schemeClr val="accent2">
              <a:alpha val="8000"/>
            </a:schemeClr>
          </a:solidFill>
          <a:ln w="9525">
            <a:solidFill>
              <a:schemeClr val="accent2">
                <a:alpha val="25000"/>
              </a:schemeClr>
            </a:solidFill>
            <a:prstDash val="solid"/>
          </a:ln>
        </p:spPr>
      </p:sp>
      <p:sp>
        <p:nvSpPr>
          <p:cNvPr id="7" name="Text 4"/>
          <p:cNvSpPr txBox="1"/>
          <p:nvPr/>
        </p:nvSpPr>
        <p:spPr>
          <a:xfrm>
            <a:off x="731520" y="2852928"/>
            <a:ext cx="3383280" cy="365760"/>
          </a:xfrm>
          <a:prstGeom prst="rect">
            <a:avLst/>
          </a:prstGeom>
          <a:noFill/>
          <a:ln/>
        </p:spPr>
        <p:txBody>
          <a:bodyPr wrap="square" lIns="0" tIns="0" rIns="0" bIns="0" rtlCol="0" anchor="ctr"/>
          <a:lstStyle/>
          <a:p>
            <a:pPr algn="l" indent="0" marL="0">
              <a:buNone/>
            </a:pPr>
            <a:r>
              <a:rPr lang="en-US" sz="1400" b="1" dirty="0">
                <a:solidFill>
                  <a:schemeClr val="accent2"/>
                </a:solidFill>
              </a:rPr>
              <a:t>Gehring &amp; Gloor, 2000</a:t>
            </a:r>
            <a:endParaRPr lang="en-US" sz="1400" dirty="0"/>
          </a:p>
        </p:txBody>
      </p:sp>
      <p:sp>
        <p:nvSpPr>
          <p:cNvPr id="8" name="Text 5"/>
          <p:cNvSpPr txBox="1"/>
          <p:nvPr/>
        </p:nvSpPr>
        <p:spPr>
          <a:xfrm>
            <a:off x="731520" y="3246120"/>
            <a:ext cx="3383280" cy="685800"/>
          </a:xfrm>
          <a:prstGeom prst="rect">
            <a:avLst/>
          </a:prstGeom>
          <a:noFill/>
          <a:ln/>
        </p:spPr>
        <p:txBody>
          <a:bodyPr wrap="square" lIns="0" tIns="0" rIns="0" bIns="0" rtlCol="0" anchor="t"/>
          <a:lstStyle/>
          <a:p>
            <a:pPr algn="l" indent="0" marL="0">
              <a:buNone/>
            </a:pPr>
            <a:r>
              <a:rPr lang="en-US" sz="1300" dirty="0">
                <a:solidFill>
                  <a:schemeClr val="accent5"/>
                </a:solidFill>
              </a:rPr>
              <a:t>Double-blind human study · 1 week</a:t>
            </a:r>
            <a:endParaRPr lang="en-US" sz="1300" dirty="0"/>
          </a:p>
        </p:txBody>
      </p:sp>
      <p:sp>
        <p:nvSpPr>
          <p:cNvPr id="9" name="Text 6"/>
          <p:cNvSpPr txBox="1"/>
          <p:nvPr/>
        </p:nvSpPr>
        <p:spPr>
          <a:xfrm>
            <a:off x="731520" y="3931920"/>
            <a:ext cx="3383280" cy="731520"/>
          </a:xfrm>
          <a:prstGeom prst="rect">
            <a:avLst/>
          </a:prstGeom>
          <a:noFill/>
          <a:ln/>
        </p:spPr>
        <p:txBody>
          <a:bodyPr wrap="square" lIns="0" tIns="0" rIns="0" bIns="0" rtlCol="0" anchor="t"/>
          <a:lstStyle/>
          <a:p>
            <a:pPr algn="l" indent="0" marL="0">
              <a:buNone/>
            </a:pPr>
            <a:r>
              <a:rPr lang="en-US" sz="1400" b="1" dirty="0">
                <a:solidFill>
                  <a:schemeClr val="tx1"/>
                </a:solidFill>
              </a:rPr>
              <a:t>Increased stratum-corneum hydration and reduced water loss</a:t>
            </a:r>
            <a:endParaRPr lang="en-US" sz="1400" dirty="0"/>
          </a:p>
        </p:txBody>
      </p:sp>
      <p:sp>
        <p:nvSpPr>
          <p:cNvPr id="10" name="Shape 7"/>
          <p:cNvSpPr/>
          <p:nvPr/>
        </p:nvSpPr>
        <p:spPr>
          <a:xfrm>
            <a:off x="4480560" y="2743200"/>
            <a:ext cx="3657600" cy="2011680"/>
          </a:xfrm>
          <a:prstGeom prst="roundRect">
            <a:avLst>
              <a:gd name="adj" fmla="val 5455"/>
            </a:avLst>
          </a:prstGeom>
          <a:solidFill>
            <a:schemeClr val="accent2">
              <a:alpha val="8000"/>
            </a:schemeClr>
          </a:solidFill>
          <a:ln w="9525">
            <a:solidFill>
              <a:schemeClr val="accent2">
                <a:alpha val="25000"/>
              </a:schemeClr>
            </a:solidFill>
            <a:prstDash val="solid"/>
          </a:ln>
        </p:spPr>
      </p:sp>
      <p:sp>
        <p:nvSpPr>
          <p:cNvPr id="11" name="Text 8"/>
          <p:cNvSpPr txBox="1"/>
          <p:nvPr/>
        </p:nvSpPr>
        <p:spPr>
          <a:xfrm>
            <a:off x="4663440" y="2852928"/>
            <a:ext cx="3291840" cy="365760"/>
          </a:xfrm>
          <a:prstGeom prst="rect">
            <a:avLst/>
          </a:prstGeom>
          <a:noFill/>
          <a:ln/>
        </p:spPr>
        <p:txBody>
          <a:bodyPr wrap="square" lIns="0" tIns="0" rIns="0" bIns="0" rtlCol="0" anchor="ctr"/>
          <a:lstStyle/>
          <a:p>
            <a:pPr algn="l" indent="0" marL="0">
              <a:buNone/>
            </a:pPr>
            <a:r>
              <a:rPr lang="en-US" sz="1400" b="1" dirty="0">
                <a:solidFill>
                  <a:schemeClr val="accent2"/>
                </a:solidFill>
              </a:rPr>
              <a:t>Proksch, 2017</a:t>
            </a:r>
            <a:endParaRPr lang="en-US" sz="1400" dirty="0"/>
          </a:p>
        </p:txBody>
      </p:sp>
      <p:sp>
        <p:nvSpPr>
          <p:cNvPr id="12" name="Text 9"/>
          <p:cNvSpPr txBox="1"/>
          <p:nvPr/>
        </p:nvSpPr>
        <p:spPr>
          <a:xfrm>
            <a:off x="4663440" y="3246120"/>
            <a:ext cx="3291840" cy="685800"/>
          </a:xfrm>
          <a:prstGeom prst="rect">
            <a:avLst/>
          </a:prstGeom>
          <a:noFill/>
          <a:ln/>
        </p:spPr>
        <p:txBody>
          <a:bodyPr wrap="square" lIns="0" tIns="0" rIns="0" bIns="0" rtlCol="0" anchor="t"/>
          <a:lstStyle/>
          <a:p>
            <a:pPr algn="l" indent="0" marL="0">
              <a:buNone/>
            </a:pPr>
            <a:r>
              <a:rPr lang="en-US" sz="1300" dirty="0">
                <a:solidFill>
                  <a:schemeClr val="accent5"/>
                </a:solidFill>
              </a:rPr>
              <a:t>Review of 70 years of panthenol use</a:t>
            </a:r>
            <a:endParaRPr lang="en-US" sz="1300" dirty="0"/>
          </a:p>
        </p:txBody>
      </p:sp>
      <p:sp>
        <p:nvSpPr>
          <p:cNvPr id="13" name="Text 10"/>
          <p:cNvSpPr txBox="1"/>
          <p:nvPr/>
        </p:nvSpPr>
        <p:spPr>
          <a:xfrm>
            <a:off x="4663440" y="3931920"/>
            <a:ext cx="3291840" cy="731520"/>
          </a:xfrm>
          <a:prstGeom prst="rect">
            <a:avLst/>
          </a:prstGeom>
          <a:noFill/>
          <a:ln/>
        </p:spPr>
        <p:txBody>
          <a:bodyPr wrap="square" lIns="0" tIns="0" rIns="0" bIns="0" rtlCol="0" anchor="t"/>
          <a:lstStyle/>
          <a:p>
            <a:pPr algn="l" indent="0" marL="0">
              <a:buNone/>
            </a:pPr>
            <a:r>
              <a:rPr lang="en-US" sz="1400" b="1" dirty="0">
                <a:solidFill>
                  <a:schemeClr val="tx1"/>
                </a:solidFill>
              </a:rPr>
              <a:t>Moisturiser and barrier restorer; supports skin healing</a:t>
            </a:r>
            <a:endParaRPr lang="en-US" sz="1400" dirty="0"/>
          </a:p>
        </p:txBody>
      </p:sp>
      <p:sp>
        <p:nvSpPr>
          <p:cNvPr id="14" name="Shape 11"/>
          <p:cNvSpPr/>
          <p:nvPr/>
        </p:nvSpPr>
        <p:spPr>
          <a:xfrm>
            <a:off x="8321040" y="2743200"/>
            <a:ext cx="3291840" cy="2011680"/>
          </a:xfrm>
          <a:prstGeom prst="roundRect">
            <a:avLst>
              <a:gd name="adj" fmla="val 5455"/>
            </a:avLst>
          </a:prstGeom>
          <a:solidFill>
            <a:schemeClr val="accent2">
              <a:alpha val="8000"/>
            </a:schemeClr>
          </a:solidFill>
          <a:ln w="9525">
            <a:solidFill>
              <a:schemeClr val="accent2">
                <a:alpha val="25000"/>
              </a:schemeClr>
            </a:solidFill>
            <a:prstDash val="solid"/>
          </a:ln>
        </p:spPr>
      </p:sp>
      <p:sp>
        <p:nvSpPr>
          <p:cNvPr id="15" name="Text 12"/>
          <p:cNvSpPr txBox="1"/>
          <p:nvPr/>
        </p:nvSpPr>
        <p:spPr>
          <a:xfrm>
            <a:off x="8503920" y="2852928"/>
            <a:ext cx="2926080" cy="365760"/>
          </a:xfrm>
          <a:prstGeom prst="rect">
            <a:avLst/>
          </a:prstGeom>
          <a:noFill/>
          <a:ln/>
        </p:spPr>
        <p:txBody>
          <a:bodyPr wrap="square" lIns="0" tIns="0" rIns="0" bIns="0" rtlCol="0" anchor="ctr"/>
          <a:lstStyle/>
          <a:p>
            <a:pPr algn="l" indent="0" marL="0">
              <a:buNone/>
            </a:pPr>
            <a:r>
              <a:rPr lang="en-US" sz="1400" b="1" dirty="0">
                <a:solidFill>
                  <a:schemeClr val="accent2"/>
                </a:solidFill>
              </a:rPr>
              <a:t>Coderch, 2003</a:t>
            </a:r>
            <a:endParaRPr lang="en-US" sz="1400" dirty="0"/>
          </a:p>
        </p:txBody>
      </p:sp>
      <p:sp>
        <p:nvSpPr>
          <p:cNvPr id="16" name="Text 13"/>
          <p:cNvSpPr txBox="1"/>
          <p:nvPr/>
        </p:nvSpPr>
        <p:spPr>
          <a:xfrm>
            <a:off x="8503920" y="3246120"/>
            <a:ext cx="2926080" cy="685800"/>
          </a:xfrm>
          <a:prstGeom prst="rect">
            <a:avLst/>
          </a:prstGeom>
          <a:noFill/>
          <a:ln/>
        </p:spPr>
        <p:txBody>
          <a:bodyPr wrap="square" lIns="0" tIns="0" rIns="0" bIns="0" rtlCol="0" anchor="t"/>
          <a:lstStyle/>
          <a:p>
            <a:pPr algn="l" indent="0" marL="0">
              <a:buNone/>
            </a:pPr>
            <a:r>
              <a:rPr lang="en-US" sz="1300" dirty="0">
                <a:solidFill>
                  <a:schemeClr val="accent5"/>
                </a:solidFill>
              </a:rPr>
              <a:t>Review on ceramides</a:t>
            </a:r>
            <a:endParaRPr lang="en-US" sz="1300" dirty="0"/>
          </a:p>
        </p:txBody>
      </p:sp>
      <p:sp>
        <p:nvSpPr>
          <p:cNvPr id="17" name="Text 14"/>
          <p:cNvSpPr txBox="1"/>
          <p:nvPr/>
        </p:nvSpPr>
        <p:spPr>
          <a:xfrm>
            <a:off x="8503920" y="3931920"/>
            <a:ext cx="2926080" cy="731520"/>
          </a:xfrm>
          <a:prstGeom prst="rect">
            <a:avLst/>
          </a:prstGeom>
          <a:noFill/>
          <a:ln/>
        </p:spPr>
        <p:txBody>
          <a:bodyPr wrap="square" lIns="0" tIns="0" rIns="0" bIns="0" rtlCol="0" anchor="t"/>
          <a:lstStyle/>
          <a:p>
            <a:pPr algn="l" indent="0" marL="0">
              <a:buNone/>
            </a:pPr>
            <a:r>
              <a:rPr lang="en-US" sz="1400" b="1" dirty="0">
                <a:solidFill>
                  <a:schemeClr val="tx1"/>
                </a:solidFill>
              </a:rPr>
              <a:t>Restores the barrier of dry skin</a:t>
            </a:r>
            <a:endParaRPr lang="en-US" sz="1400" dirty="0"/>
          </a:p>
        </p:txBody>
      </p:sp>
      <p:sp>
        <p:nvSpPr>
          <p:cNvPr id="18" name="Shape 15"/>
          <p:cNvSpPr/>
          <p:nvPr/>
        </p:nvSpPr>
        <p:spPr>
          <a:xfrm>
            <a:off x="548640" y="4937760"/>
            <a:ext cx="11064240" cy="1143000"/>
          </a:xfrm>
          <a:prstGeom prst="roundRect">
            <a:avLst>
              <a:gd name="adj" fmla="val 9600"/>
            </a:avLst>
          </a:prstGeom>
          <a:solidFill>
            <a:schemeClr val="accent2">
              <a:alpha val="7000"/>
            </a:schemeClr>
          </a:solidFill>
          <a:ln w="9525">
            <a:solidFill>
              <a:schemeClr val="accent2">
                <a:alpha val="25000"/>
              </a:schemeClr>
            </a:solidFill>
            <a:prstDash val="solid"/>
          </a:ln>
        </p:spPr>
      </p:sp>
      <p:sp>
        <p:nvSpPr>
          <p:cNvPr id="19" name="Text 16"/>
          <p:cNvSpPr txBox="1"/>
          <p:nvPr/>
        </p:nvSpPr>
        <p:spPr>
          <a:xfrm>
            <a:off x="731520" y="4983480"/>
            <a:ext cx="10698480" cy="1051560"/>
          </a:xfrm>
          <a:prstGeom prst="rect">
            <a:avLst/>
          </a:prstGeom>
          <a:noFill/>
          <a:ln/>
        </p:spPr>
        <p:txBody>
          <a:bodyPr wrap="square" lIns="0" tIns="0" rIns="0" bIns="0" rtlCol="0" anchor="ctr"/>
          <a:lstStyle/>
          <a:p>
            <a:pPr algn="l" indent="0" marL="0">
              <a:buNone/>
            </a:pPr>
            <a:r>
              <a:rPr lang="en-US" sz="1500" b="1" dirty="0">
                <a:solidFill>
                  <a:schemeClr val="accent2"/>
                </a:solidFill>
              </a:rPr>
              <a:t>Suitable for:  </a:t>
            </a:r>
            <a:pPr algn="l" indent="0" marL="0">
              <a:buNone/>
            </a:pPr>
            <a:r>
              <a:rPr lang="en-US" sz="1500" dirty="0">
                <a:solidFill>
                  <a:schemeClr val="tx1"/>
                </a:solidFill>
              </a:rPr>
              <a:t>dry, rough skin (hands, elbows, feet) · redness after sun exposure · pressure marks · mild superficial burns</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chemeClr val="accent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6492240" cy="1097280"/>
          </a:xfrm>
          <a:prstGeom prst="rect">
            <a:avLst/>
          </a:prstGeom>
          <a:noFill/>
          <a:ln/>
        </p:spPr>
        <p:txBody>
          <a:bodyPr wrap="square" rtlCol="0" anchor="b"/>
          <a:lstStyle/>
          <a:p>
            <a:pPr algn="l" indent="0" marL="0">
              <a:buNone/>
            </a:pPr>
            <a:r>
              <a:rPr lang="en-US" sz="4400" b="1" dirty="0">
                <a:solidFill>
                  <a:schemeClr val="bg1"/>
                </a:solidFill>
              </a:rPr>
              <a:t>Mebonol</a:t>
            </a:r>
            <a:endParaRPr lang="en-US" sz="4400" dirty="0"/>
          </a:p>
        </p:txBody>
      </p:sp>
      <p:sp>
        <p:nvSpPr>
          <p:cNvPr id="3" name="Text 1"/>
          <p:cNvSpPr txBox="1"/>
          <p:nvPr/>
        </p:nvSpPr>
        <p:spPr>
          <a:xfrm>
            <a:off x="548640" y="3383280"/>
            <a:ext cx="6492240" cy="914400"/>
          </a:xfrm>
          <a:prstGeom prst="rect">
            <a:avLst/>
          </a:prstGeom>
          <a:noFill/>
          <a:ln/>
        </p:spPr>
        <p:txBody>
          <a:bodyPr wrap="square" rtlCol="0" anchor="t"/>
          <a:lstStyle/>
          <a:p>
            <a:pPr algn="l" indent="0" marL="0">
              <a:buNone/>
            </a:pPr>
            <a:r>
              <a:rPr lang="en-US" sz="2000" dirty="0">
                <a:solidFill>
                  <a:schemeClr val="bg1"/>
                </a:solidFill>
              </a:rPr>
              <a:t>17 natural ingredients with liposome technology</a:t>
            </a:r>
            <a:endParaRPr lang="en-US" sz="2000" dirty="0"/>
          </a:p>
        </p:txBody>
      </p:sp>
      <p:sp>
        <p:nvSpPr>
          <p:cNvPr id="4" name="Shape 2"/>
          <p:cNvSpPr/>
          <p:nvPr/>
        </p:nvSpPr>
        <p:spPr>
          <a:xfrm>
            <a:off x="7406640" y="822960"/>
            <a:ext cx="4206240" cy="5212080"/>
          </a:xfrm>
          <a:prstGeom prst="roundRect">
            <a:avLst>
              <a:gd name="adj" fmla="val 5435"/>
            </a:avLst>
          </a:prstGeom>
          <a:solidFill>
            <a:schemeClr val="bg1"/>
          </a:solidFill>
          <a:ln w="12700">
            <a:solidFill>
              <a:schemeClr val="bg1"/>
            </a:solidFill>
            <a:prstDash val="solid"/>
          </a:ln>
        </p:spPr>
      </p:sp>
      <p:pic>
        <p:nvPicPr>
          <p:cNvPr id="5" name="mebonol image" descr="preencoded.png">    </p:cNvPr>
          <p:cNvPicPr>
            <a:picLocks noChangeAspect="1"/>
          </p:cNvPicPr>
          <p:nvPr/>
        </p:nvPicPr>
        <p:blipFill>
          <a:blip r:embed="rId1"/>
          <a:stretch>
            <a:fillRect/>
          </a:stretch>
        </p:blipFill>
        <p:spPr>
          <a:xfrm>
            <a:off x="7589520" y="2675026"/>
            <a:ext cx="3749040" cy="15079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Mebonol — product profile</a:t>
            </a:r>
            <a:endParaRPr lang="en-US" sz="3200" dirty="0"/>
          </a:p>
        </p:txBody>
      </p:sp>
      <p:pic>
        <p:nvPicPr>
          <p:cNvPr id="4" name="mebonol image" descr="preencoded.png">    </p:cNvPr>
          <p:cNvPicPr>
            <a:picLocks noChangeAspect="1"/>
          </p:cNvPicPr>
          <p:nvPr/>
        </p:nvPicPr>
        <p:blipFill>
          <a:blip r:embed="rId1"/>
          <a:stretch>
            <a:fillRect/>
          </a:stretch>
        </p:blipFill>
        <p:spPr>
          <a:xfrm>
            <a:off x="548640" y="2922016"/>
            <a:ext cx="3657600" cy="1471168"/>
          </a:xfrm>
          <a:prstGeom prst="rect">
            <a:avLst/>
          </a:prstGeom>
        </p:spPr>
      </p:pic>
      <p:sp>
        <p:nvSpPr>
          <p:cNvPr id="5" name="Shape 1"/>
          <p:cNvSpPr/>
          <p:nvPr/>
        </p:nvSpPr>
        <p:spPr>
          <a:xfrm>
            <a:off x="4572000" y="1325880"/>
            <a:ext cx="7040880" cy="457200"/>
          </a:xfrm>
          <a:prstGeom prst="rect">
            <a:avLst/>
          </a:prstGeom>
          <a:solidFill>
            <a:schemeClr val="accent3">
              <a:alpha val="7000"/>
            </a:schemeClr>
          </a:solidFill>
          <a:ln w="12700">
            <a:solidFill>
              <a:schemeClr val="accent3">
                <a:alpha val="0"/>
              </a:schemeClr>
            </a:solidFill>
            <a:prstDash val="solid"/>
          </a:ln>
        </p:spPr>
      </p:sp>
      <p:sp>
        <p:nvSpPr>
          <p:cNvPr id="6" name="Text 2"/>
          <p:cNvSpPr txBox="1"/>
          <p:nvPr/>
        </p:nvSpPr>
        <p:spPr>
          <a:xfrm>
            <a:off x="4663440" y="13258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Brand name</a:t>
            </a:r>
            <a:endParaRPr lang="en-US" sz="1300" dirty="0"/>
          </a:p>
        </p:txBody>
      </p:sp>
      <p:sp>
        <p:nvSpPr>
          <p:cNvPr id="7" name="Text 3"/>
          <p:cNvSpPr txBox="1"/>
          <p:nvPr/>
        </p:nvSpPr>
        <p:spPr>
          <a:xfrm>
            <a:off x="6858000" y="1325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Mebonol Cream</a:t>
            </a:r>
            <a:endParaRPr lang="en-US" sz="1300" dirty="0"/>
          </a:p>
        </p:txBody>
      </p:sp>
      <p:sp>
        <p:nvSpPr>
          <p:cNvPr id="8" name="Text 4"/>
          <p:cNvSpPr txBox="1"/>
          <p:nvPr/>
        </p:nvSpPr>
        <p:spPr>
          <a:xfrm>
            <a:off x="4663440" y="17830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Brand</a:t>
            </a:r>
            <a:endParaRPr lang="en-US" sz="1300" dirty="0"/>
          </a:p>
        </p:txBody>
      </p:sp>
      <p:sp>
        <p:nvSpPr>
          <p:cNvPr id="9" name="Text 5"/>
          <p:cNvSpPr txBox="1"/>
          <p:nvPr/>
        </p:nvSpPr>
        <p:spPr>
          <a:xfrm>
            <a:off x="6858000" y="1783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Dr Organic</a:t>
            </a:r>
            <a:endParaRPr lang="en-US" sz="1300" dirty="0"/>
          </a:p>
        </p:txBody>
      </p:sp>
      <p:sp>
        <p:nvSpPr>
          <p:cNvPr id="10" name="Shape 6"/>
          <p:cNvSpPr/>
          <p:nvPr/>
        </p:nvSpPr>
        <p:spPr>
          <a:xfrm>
            <a:off x="4572000" y="2240280"/>
            <a:ext cx="7040880" cy="457200"/>
          </a:xfrm>
          <a:prstGeom prst="rect">
            <a:avLst/>
          </a:prstGeom>
          <a:solidFill>
            <a:schemeClr val="accent3">
              <a:alpha val="7000"/>
            </a:schemeClr>
          </a:solidFill>
          <a:ln w="12700">
            <a:solidFill>
              <a:schemeClr val="accent3">
                <a:alpha val="0"/>
              </a:schemeClr>
            </a:solidFill>
            <a:prstDash val="solid"/>
          </a:ln>
        </p:spPr>
      </p:sp>
      <p:sp>
        <p:nvSpPr>
          <p:cNvPr id="11" name="Text 7"/>
          <p:cNvSpPr txBox="1"/>
          <p:nvPr/>
        </p:nvSpPr>
        <p:spPr>
          <a:xfrm>
            <a:off x="4663440" y="22402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Category</a:t>
            </a:r>
            <a:endParaRPr lang="en-US" sz="1300" dirty="0"/>
          </a:p>
        </p:txBody>
      </p:sp>
      <p:sp>
        <p:nvSpPr>
          <p:cNvPr id="12" name="Text 8"/>
          <p:cNvSpPr txBox="1"/>
          <p:nvPr/>
        </p:nvSpPr>
        <p:spPr>
          <a:xfrm>
            <a:off x="6858000" y="2240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Skin-care cosmetic</a:t>
            </a:r>
            <a:endParaRPr lang="en-US" sz="1300" dirty="0"/>
          </a:p>
        </p:txBody>
      </p:sp>
      <p:sp>
        <p:nvSpPr>
          <p:cNvPr id="13" name="Text 9"/>
          <p:cNvSpPr txBox="1"/>
          <p:nvPr/>
        </p:nvSpPr>
        <p:spPr>
          <a:xfrm>
            <a:off x="4663440" y="26974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Size</a:t>
            </a:r>
            <a:endParaRPr lang="en-US" sz="1300" dirty="0"/>
          </a:p>
        </p:txBody>
      </p:sp>
      <p:sp>
        <p:nvSpPr>
          <p:cNvPr id="14" name="Text 10"/>
          <p:cNvSpPr txBox="1"/>
          <p:nvPr/>
        </p:nvSpPr>
        <p:spPr>
          <a:xfrm>
            <a:off x="6858000" y="2697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40 g</a:t>
            </a:r>
            <a:endParaRPr lang="en-US" sz="1300" dirty="0"/>
          </a:p>
        </p:txBody>
      </p:sp>
      <p:sp>
        <p:nvSpPr>
          <p:cNvPr id="15" name="Shape 11"/>
          <p:cNvSpPr/>
          <p:nvPr/>
        </p:nvSpPr>
        <p:spPr>
          <a:xfrm>
            <a:off x="4572000" y="3154680"/>
            <a:ext cx="7040880" cy="457200"/>
          </a:xfrm>
          <a:prstGeom prst="rect">
            <a:avLst/>
          </a:prstGeom>
          <a:solidFill>
            <a:schemeClr val="accent3">
              <a:alpha val="7000"/>
            </a:schemeClr>
          </a:solidFill>
          <a:ln w="12700">
            <a:solidFill>
              <a:schemeClr val="accent3">
                <a:alpha val="0"/>
              </a:schemeClr>
            </a:solidFill>
            <a:prstDash val="solid"/>
          </a:ln>
        </p:spPr>
      </p:sp>
      <p:sp>
        <p:nvSpPr>
          <p:cNvPr id="16" name="Text 12"/>
          <p:cNvSpPr txBox="1"/>
          <p:nvPr/>
        </p:nvSpPr>
        <p:spPr>
          <a:xfrm>
            <a:off x="4663440" y="31546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Technology</a:t>
            </a:r>
            <a:endParaRPr lang="en-US" sz="1300" dirty="0"/>
          </a:p>
        </p:txBody>
      </p:sp>
      <p:sp>
        <p:nvSpPr>
          <p:cNvPr id="17" name="Text 13"/>
          <p:cNvSpPr txBox="1"/>
          <p:nvPr/>
        </p:nvSpPr>
        <p:spPr>
          <a:xfrm>
            <a:off x="6858000" y="3154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Liposome — better delivery of ingredients</a:t>
            </a:r>
            <a:endParaRPr lang="en-US" sz="1300" dirty="0"/>
          </a:p>
        </p:txBody>
      </p:sp>
      <p:sp>
        <p:nvSpPr>
          <p:cNvPr id="18" name="Text 14"/>
          <p:cNvSpPr txBox="1"/>
          <p:nvPr/>
        </p:nvSpPr>
        <p:spPr>
          <a:xfrm>
            <a:off x="4663440" y="36118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Ingredients</a:t>
            </a:r>
            <a:endParaRPr lang="en-US" sz="1300" dirty="0"/>
          </a:p>
        </p:txBody>
      </p:sp>
      <p:sp>
        <p:nvSpPr>
          <p:cNvPr id="19" name="Text 15"/>
          <p:cNvSpPr txBox="1"/>
          <p:nvPr/>
        </p:nvSpPr>
        <p:spPr>
          <a:xfrm>
            <a:off x="6858000" y="36118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17 natural ingredients</a:t>
            </a:r>
            <a:endParaRPr lang="en-US" sz="1300" dirty="0"/>
          </a:p>
        </p:txBody>
      </p:sp>
      <p:sp>
        <p:nvSpPr>
          <p:cNvPr id="20" name="Shape 16"/>
          <p:cNvSpPr/>
          <p:nvPr/>
        </p:nvSpPr>
        <p:spPr>
          <a:xfrm>
            <a:off x="4572000" y="4069080"/>
            <a:ext cx="7040880" cy="457200"/>
          </a:xfrm>
          <a:prstGeom prst="rect">
            <a:avLst/>
          </a:prstGeom>
          <a:solidFill>
            <a:schemeClr val="accent3">
              <a:alpha val="7000"/>
            </a:schemeClr>
          </a:solidFill>
          <a:ln w="12700">
            <a:solidFill>
              <a:schemeClr val="accent3">
                <a:alpha val="0"/>
              </a:schemeClr>
            </a:solidFill>
            <a:prstDash val="solid"/>
          </a:ln>
        </p:spPr>
      </p:sp>
      <p:sp>
        <p:nvSpPr>
          <p:cNvPr id="21" name="Text 17"/>
          <p:cNvSpPr txBox="1"/>
          <p:nvPr/>
        </p:nvSpPr>
        <p:spPr>
          <a:xfrm>
            <a:off x="4663440" y="40690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SFDA notification</a:t>
            </a:r>
            <a:endParaRPr lang="en-US" sz="1300" dirty="0"/>
          </a:p>
        </p:txBody>
      </p:sp>
      <p:sp>
        <p:nvSpPr>
          <p:cNvPr id="22" name="Text 18"/>
          <p:cNvSpPr txBox="1"/>
          <p:nvPr/>
        </p:nvSpPr>
        <p:spPr>
          <a:xfrm>
            <a:off x="6858000" y="40690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CN-2026-65103 (valid to 12/5/2031)</a:t>
            </a:r>
            <a:endParaRPr lang="en-US" sz="1300" dirty="0"/>
          </a:p>
        </p:txBody>
      </p:sp>
      <p:sp>
        <p:nvSpPr>
          <p:cNvPr id="23" name="Text 19"/>
          <p:cNvSpPr txBox="1"/>
          <p:nvPr/>
        </p:nvSpPr>
        <p:spPr>
          <a:xfrm>
            <a:off x="4663440" y="45262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Barcode</a:t>
            </a:r>
            <a:endParaRPr lang="en-US" sz="1300" dirty="0"/>
          </a:p>
        </p:txBody>
      </p:sp>
      <p:sp>
        <p:nvSpPr>
          <p:cNvPr id="24" name="Text 20"/>
          <p:cNvSpPr txBox="1"/>
          <p:nvPr/>
        </p:nvSpPr>
        <p:spPr>
          <a:xfrm>
            <a:off x="6858000" y="45262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6224010064188</a:t>
            </a:r>
            <a:endParaRPr lang="en-US" sz="1300" dirty="0"/>
          </a:p>
        </p:txBody>
      </p:sp>
      <p:sp>
        <p:nvSpPr>
          <p:cNvPr id="25" name="Shape 21"/>
          <p:cNvSpPr/>
          <p:nvPr/>
        </p:nvSpPr>
        <p:spPr>
          <a:xfrm>
            <a:off x="4572000" y="4983480"/>
            <a:ext cx="7040880" cy="457200"/>
          </a:xfrm>
          <a:prstGeom prst="rect">
            <a:avLst/>
          </a:prstGeom>
          <a:solidFill>
            <a:schemeClr val="accent3">
              <a:alpha val="7000"/>
            </a:schemeClr>
          </a:solidFill>
          <a:ln w="12700">
            <a:solidFill>
              <a:schemeClr val="accent3">
                <a:alpha val="0"/>
              </a:schemeClr>
            </a:solidFill>
            <a:prstDash val="solid"/>
          </a:ln>
        </p:spPr>
      </p:sp>
      <p:sp>
        <p:nvSpPr>
          <p:cNvPr id="26" name="Text 22"/>
          <p:cNvSpPr txBox="1"/>
          <p:nvPr/>
        </p:nvSpPr>
        <p:spPr>
          <a:xfrm>
            <a:off x="4663440" y="49834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Use</a:t>
            </a:r>
            <a:endParaRPr lang="en-US" sz="1300" dirty="0"/>
          </a:p>
        </p:txBody>
      </p:sp>
      <p:sp>
        <p:nvSpPr>
          <p:cNvPr id="27" name="Text 23"/>
          <p:cNvSpPr txBox="1"/>
          <p:nvPr/>
        </p:nvSpPr>
        <p:spPr>
          <a:xfrm>
            <a:off x="6858000" y="49834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2–3 times daily, thin layer</a:t>
            </a:r>
            <a:endParaRPr lang="en-US" sz="1300" dirty="0"/>
          </a:p>
        </p:txBody>
      </p:sp>
      <p:sp>
        <p:nvSpPr>
          <p:cNvPr id="28" name="Text 24"/>
          <p:cNvSpPr txBox="1"/>
          <p:nvPr/>
        </p:nvSpPr>
        <p:spPr>
          <a:xfrm>
            <a:off x="4663440" y="5440680"/>
            <a:ext cx="2103120" cy="457200"/>
          </a:xfrm>
          <a:prstGeom prst="rect">
            <a:avLst/>
          </a:prstGeom>
          <a:noFill/>
          <a:ln/>
        </p:spPr>
        <p:txBody>
          <a:bodyPr wrap="square" lIns="0" tIns="76200" rIns="0" bIns="0" rtlCol="0" anchor="ctr"/>
          <a:lstStyle/>
          <a:p>
            <a:pPr algn="l" indent="0" marL="0">
              <a:buNone/>
            </a:pPr>
            <a:r>
              <a:rPr lang="en-US" sz="1300" b="1" dirty="0">
                <a:solidFill>
                  <a:schemeClr val="accent3"/>
                </a:solidFill>
              </a:rPr>
              <a:t>Public price</a:t>
            </a:r>
            <a:endParaRPr lang="en-US" sz="1300" dirty="0"/>
          </a:p>
        </p:txBody>
      </p:sp>
      <p:sp>
        <p:nvSpPr>
          <p:cNvPr id="29" name="Text 25"/>
          <p:cNvSpPr txBox="1"/>
          <p:nvPr/>
        </p:nvSpPr>
        <p:spPr>
          <a:xfrm>
            <a:off x="6858000" y="5440680"/>
            <a:ext cx="4663440" cy="457200"/>
          </a:xfrm>
          <a:prstGeom prst="rect">
            <a:avLst/>
          </a:prstGeom>
          <a:noFill/>
          <a:ln/>
        </p:spPr>
        <p:txBody>
          <a:bodyPr wrap="square" lIns="0" tIns="0" rIns="0" bIns="0" rtlCol="0" anchor="ctr"/>
          <a:lstStyle/>
          <a:p>
            <a:pPr algn="l" indent="0" marL="0">
              <a:buNone/>
            </a:pPr>
            <a:r>
              <a:rPr lang="en-US" sz="1300" dirty="0">
                <a:solidFill>
                  <a:schemeClr val="tx1"/>
                </a:solidFill>
              </a:rPr>
              <a:t>SAR 55 (excl. VAT)</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Mebonol — 17 ingredients by function</a:t>
            </a:r>
            <a:endParaRPr lang="en-US" sz="3200" dirty="0"/>
          </a:p>
        </p:txBody>
      </p:sp>
      <p:sp>
        <p:nvSpPr>
          <p:cNvPr id="4" name="Shape 1"/>
          <p:cNvSpPr/>
          <p:nvPr/>
        </p:nvSpPr>
        <p:spPr>
          <a:xfrm>
            <a:off x="54864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5" name="Shape 2"/>
          <p:cNvSpPr/>
          <p:nvPr/>
        </p:nvSpPr>
        <p:spPr>
          <a:xfrm>
            <a:off x="713232" y="1490472"/>
            <a:ext cx="457200" cy="457200"/>
          </a:xfrm>
          <a:prstGeom prst="ellipse">
            <a:avLst/>
          </a:prstGeom>
          <a:solidFill>
            <a:schemeClr val="accent3"/>
          </a:solidFill>
          <a:ln w="12700">
            <a:solidFill>
              <a:schemeClr val="accent3"/>
            </a:solidFill>
            <a:prstDash val="solid"/>
          </a:ln>
        </p:spPr>
      </p:sp>
      <p:sp>
        <p:nvSpPr>
          <p:cNvPr id="6" name="Text 3"/>
          <p:cNvSpPr txBox="1"/>
          <p:nvPr/>
        </p:nvSpPr>
        <p:spPr>
          <a:xfrm>
            <a:off x="71323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9844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3"/>
                </a:solidFill>
              </a:rPr>
              <a:t>Supports healing</a:t>
            </a:r>
            <a:endParaRPr lang="en-US" sz="1500" dirty="0"/>
          </a:p>
        </p:txBody>
      </p:sp>
      <p:sp>
        <p:nvSpPr>
          <p:cNvPr id="8" name="Text 5"/>
          <p:cNvSpPr txBox="1"/>
          <p:nvPr/>
        </p:nvSpPr>
        <p:spPr>
          <a:xfrm>
            <a:off x="731520" y="2039112"/>
            <a:ext cx="2286000" cy="239572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Calendula · Honey · Panthenol</a:t>
            </a:r>
            <a:endParaRPr lang="en-US" sz="1500" dirty="0"/>
          </a:p>
          <a:p>
            <a:pPr algn="l" indent="0" marL="0">
              <a:spcAft>
                <a:spcPts val="400"/>
              </a:spcAft>
              <a:buNone/>
            </a:pPr>
            <a:r>
              <a:rPr lang="en-US" sz="1500" dirty="0">
                <a:solidFill>
                  <a:schemeClr val="tx1"/>
                </a:solidFill>
              </a:rPr>
              <a:t>Emu oil · Aloe vera</a:t>
            </a:r>
            <a:endParaRPr lang="en-US" sz="1500" dirty="0"/>
          </a:p>
          <a:p>
            <a:pPr algn="l" indent="0" marL="0">
              <a:spcAft>
                <a:spcPts val="400"/>
              </a:spcAft>
              <a:buNone/>
            </a:pPr>
            <a:r>
              <a:rPr lang="en-US" sz="1500" dirty="0">
                <a:solidFill>
                  <a:schemeClr val="tx1"/>
                </a:solidFill>
              </a:rPr>
              <a:t>Olive oil · Sesame oil · Beeswax</a:t>
            </a:r>
            <a:endParaRPr lang="en-US" sz="1500" dirty="0"/>
          </a:p>
        </p:txBody>
      </p:sp>
      <p:sp>
        <p:nvSpPr>
          <p:cNvPr id="9" name="Shape 6"/>
          <p:cNvSpPr/>
          <p:nvPr/>
        </p:nvSpPr>
        <p:spPr>
          <a:xfrm>
            <a:off x="336042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10" name="Shape 7"/>
          <p:cNvSpPr/>
          <p:nvPr/>
        </p:nvSpPr>
        <p:spPr>
          <a:xfrm>
            <a:off x="3525012" y="1490472"/>
            <a:ext cx="457200" cy="457200"/>
          </a:xfrm>
          <a:prstGeom prst="ellipse">
            <a:avLst/>
          </a:prstGeom>
          <a:solidFill>
            <a:schemeClr val="accent3"/>
          </a:solidFill>
          <a:ln w="12700">
            <a:solidFill>
              <a:schemeClr val="accent3"/>
            </a:solidFill>
            <a:prstDash val="solid"/>
          </a:ln>
        </p:spPr>
      </p:sp>
      <p:sp>
        <p:nvSpPr>
          <p:cNvPr id="11" name="Text 8"/>
          <p:cNvSpPr txBox="1"/>
          <p:nvPr/>
        </p:nvSpPr>
        <p:spPr>
          <a:xfrm>
            <a:off x="352501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11022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3"/>
                </a:solidFill>
              </a:rPr>
              <a:t>Anti-infective</a:t>
            </a:r>
            <a:endParaRPr lang="en-US" sz="1500" dirty="0"/>
          </a:p>
        </p:txBody>
      </p:sp>
      <p:sp>
        <p:nvSpPr>
          <p:cNvPr id="13" name="Text 10"/>
          <p:cNvSpPr txBox="1"/>
          <p:nvPr/>
        </p:nvSpPr>
        <p:spPr>
          <a:xfrm>
            <a:off x="3543300" y="2039112"/>
            <a:ext cx="2286000" cy="239572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Chlorhexidine</a:t>
            </a:r>
            <a:endParaRPr lang="en-US" sz="1500" dirty="0"/>
          </a:p>
          <a:p>
            <a:pPr algn="l" indent="0" marL="0">
              <a:spcAft>
                <a:spcPts val="400"/>
              </a:spcAft>
              <a:buNone/>
            </a:pPr>
            <a:r>
              <a:rPr lang="en-US" sz="1500" dirty="0">
                <a:solidFill>
                  <a:schemeClr val="tx1"/>
                </a:solidFill>
              </a:rPr>
              <a:t>Tea tree oil · Garlic oil</a:t>
            </a:r>
            <a:endParaRPr lang="en-US" sz="1500" dirty="0"/>
          </a:p>
          <a:p>
            <a:pPr algn="l" indent="0" marL="0">
              <a:spcAft>
                <a:spcPts val="400"/>
              </a:spcAft>
              <a:buNone/>
            </a:pPr>
            <a:r>
              <a:rPr lang="en-US" sz="1500" dirty="0">
                <a:solidFill>
                  <a:schemeClr val="tx1"/>
                </a:solidFill>
              </a:rPr>
              <a:t>Bee propolis</a:t>
            </a:r>
            <a:endParaRPr lang="en-US" sz="1500" dirty="0"/>
          </a:p>
        </p:txBody>
      </p:sp>
      <p:sp>
        <p:nvSpPr>
          <p:cNvPr id="14" name="Shape 11"/>
          <p:cNvSpPr/>
          <p:nvPr/>
        </p:nvSpPr>
        <p:spPr>
          <a:xfrm>
            <a:off x="617220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15" name="Shape 12"/>
          <p:cNvSpPr/>
          <p:nvPr/>
        </p:nvSpPr>
        <p:spPr>
          <a:xfrm>
            <a:off x="6336792" y="1490472"/>
            <a:ext cx="457200" cy="457200"/>
          </a:xfrm>
          <a:prstGeom prst="ellipse">
            <a:avLst/>
          </a:prstGeom>
          <a:solidFill>
            <a:schemeClr val="accent3"/>
          </a:solidFill>
          <a:ln w="12700">
            <a:solidFill>
              <a:schemeClr val="accent3"/>
            </a:solidFill>
            <a:prstDash val="solid"/>
          </a:ln>
        </p:spPr>
      </p:sp>
      <p:sp>
        <p:nvSpPr>
          <p:cNvPr id="16" name="Text 13"/>
          <p:cNvSpPr txBox="1"/>
          <p:nvPr/>
        </p:nvSpPr>
        <p:spPr>
          <a:xfrm>
            <a:off x="633679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692200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3"/>
                </a:solidFill>
              </a:rPr>
              <a:t>Anti-inflammatory</a:t>
            </a:r>
            <a:endParaRPr lang="en-US" sz="1500" dirty="0"/>
          </a:p>
        </p:txBody>
      </p:sp>
      <p:sp>
        <p:nvSpPr>
          <p:cNvPr id="18" name="Text 15"/>
          <p:cNvSpPr txBox="1"/>
          <p:nvPr/>
        </p:nvSpPr>
        <p:spPr>
          <a:xfrm>
            <a:off x="6355080" y="2039112"/>
            <a:ext cx="2286000" cy="239572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Arnica oil · Vitamin E</a:t>
            </a:r>
            <a:endParaRPr lang="en-US" sz="1500" dirty="0"/>
          </a:p>
          <a:p>
            <a:pPr algn="l" indent="0" marL="0">
              <a:spcAft>
                <a:spcPts val="400"/>
              </a:spcAft>
              <a:buNone/>
            </a:pPr>
            <a:r>
              <a:rPr lang="en-US" sz="1500" dirty="0">
                <a:solidFill>
                  <a:schemeClr val="tx1"/>
                </a:solidFill>
              </a:rPr>
              <a:t>Bee propolis · Aloe vera</a:t>
            </a:r>
            <a:endParaRPr lang="en-US" sz="1500" dirty="0"/>
          </a:p>
          <a:p>
            <a:pPr algn="l" indent="0" marL="0">
              <a:spcAft>
                <a:spcPts val="400"/>
              </a:spcAft>
              <a:buNone/>
            </a:pPr>
            <a:r>
              <a:rPr lang="en-US" sz="1500" dirty="0">
                <a:solidFill>
                  <a:schemeClr val="tx1"/>
                </a:solidFill>
              </a:rPr>
              <a:t>Emu oil</a:t>
            </a:r>
            <a:endParaRPr lang="en-US" sz="1500" dirty="0"/>
          </a:p>
        </p:txBody>
      </p:sp>
      <p:sp>
        <p:nvSpPr>
          <p:cNvPr id="19" name="Shape 16"/>
          <p:cNvSpPr/>
          <p:nvPr/>
        </p:nvSpPr>
        <p:spPr>
          <a:xfrm>
            <a:off x="8983980" y="1325880"/>
            <a:ext cx="2651760" cy="3200400"/>
          </a:xfrm>
          <a:prstGeom prst="roundRect">
            <a:avLst>
              <a:gd name="adj" fmla="val 4138"/>
            </a:avLst>
          </a:prstGeom>
          <a:solidFill>
            <a:schemeClr val="accent3">
              <a:alpha val="8000"/>
            </a:schemeClr>
          </a:solidFill>
          <a:ln w="9525">
            <a:solidFill>
              <a:schemeClr val="accent3">
                <a:alpha val="25000"/>
              </a:schemeClr>
            </a:solidFill>
            <a:prstDash val="solid"/>
          </a:ln>
        </p:spPr>
      </p:sp>
      <p:sp>
        <p:nvSpPr>
          <p:cNvPr id="20" name="Shape 17"/>
          <p:cNvSpPr/>
          <p:nvPr/>
        </p:nvSpPr>
        <p:spPr>
          <a:xfrm>
            <a:off x="9148572" y="1490472"/>
            <a:ext cx="457200" cy="457200"/>
          </a:xfrm>
          <a:prstGeom prst="ellipse">
            <a:avLst/>
          </a:prstGeom>
          <a:solidFill>
            <a:schemeClr val="accent3"/>
          </a:solidFill>
          <a:ln w="12700">
            <a:solidFill>
              <a:schemeClr val="accent3"/>
            </a:solidFill>
            <a:prstDash val="solid"/>
          </a:ln>
        </p:spPr>
      </p:sp>
      <p:sp>
        <p:nvSpPr>
          <p:cNvPr id="21" name="Text 18"/>
          <p:cNvSpPr txBox="1"/>
          <p:nvPr/>
        </p:nvSpPr>
        <p:spPr>
          <a:xfrm>
            <a:off x="9148572" y="14904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9733788" y="1435608"/>
            <a:ext cx="1783080" cy="548640"/>
          </a:xfrm>
          <a:prstGeom prst="rect">
            <a:avLst/>
          </a:prstGeom>
          <a:noFill/>
          <a:ln/>
        </p:spPr>
        <p:txBody>
          <a:bodyPr wrap="square" lIns="0" tIns="0" rIns="0" bIns="0" rtlCol="0" anchor="ctr"/>
          <a:lstStyle/>
          <a:p>
            <a:pPr algn="l" indent="0" marL="0">
              <a:buNone/>
            </a:pPr>
            <a:r>
              <a:rPr lang="en-US" sz="1500" b="1" dirty="0">
                <a:solidFill>
                  <a:schemeClr val="accent3"/>
                </a:solidFill>
              </a:rPr>
              <a:t>Soothing &amp; emollient</a:t>
            </a:r>
            <a:endParaRPr lang="en-US" sz="1500" dirty="0"/>
          </a:p>
        </p:txBody>
      </p:sp>
      <p:sp>
        <p:nvSpPr>
          <p:cNvPr id="23" name="Text 20"/>
          <p:cNvSpPr txBox="1"/>
          <p:nvPr/>
        </p:nvSpPr>
        <p:spPr>
          <a:xfrm>
            <a:off x="9166860" y="2039112"/>
            <a:ext cx="2286000" cy="2395728"/>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Glycerin · Jojoba oil</a:t>
            </a:r>
            <a:endParaRPr lang="en-US" sz="1500" dirty="0"/>
          </a:p>
          <a:p>
            <a:pPr algn="l" indent="0" marL="0">
              <a:spcAft>
                <a:spcPts val="400"/>
              </a:spcAft>
              <a:buNone/>
            </a:pPr>
            <a:r>
              <a:rPr lang="en-US" sz="1500" dirty="0">
                <a:solidFill>
                  <a:schemeClr val="tx1"/>
                </a:solidFill>
              </a:rPr>
              <a:t>Rose oil · Vitamin E</a:t>
            </a:r>
            <a:endParaRPr lang="en-US" sz="1500" dirty="0"/>
          </a:p>
          <a:p>
            <a:pPr algn="l" indent="0" marL="0">
              <a:spcAft>
                <a:spcPts val="400"/>
              </a:spcAft>
              <a:buNone/>
            </a:pPr>
            <a:r>
              <a:rPr lang="en-US" sz="1500" dirty="0">
                <a:solidFill>
                  <a:schemeClr val="tx1"/>
                </a:solidFill>
              </a:rPr>
              <a:t>Honey · Olive oil</a:t>
            </a:r>
            <a:endParaRPr lang="en-US" sz="1500" dirty="0"/>
          </a:p>
        </p:txBody>
      </p:sp>
      <p:sp>
        <p:nvSpPr>
          <p:cNvPr id="24" name="Shape 21"/>
          <p:cNvSpPr/>
          <p:nvPr/>
        </p:nvSpPr>
        <p:spPr>
          <a:xfrm>
            <a:off x="548640" y="4709160"/>
            <a:ext cx="5440680" cy="1371600"/>
          </a:xfrm>
          <a:prstGeom prst="roundRect">
            <a:avLst>
              <a:gd name="adj" fmla="val 8000"/>
            </a:avLst>
          </a:prstGeom>
          <a:solidFill>
            <a:schemeClr val="accent3">
              <a:alpha val="8000"/>
            </a:schemeClr>
          </a:solidFill>
          <a:ln w="9525">
            <a:solidFill>
              <a:schemeClr val="accent3">
                <a:alpha val="25000"/>
              </a:schemeClr>
            </a:solidFill>
            <a:prstDash val="solid"/>
          </a:ln>
        </p:spPr>
      </p:sp>
      <p:sp>
        <p:nvSpPr>
          <p:cNvPr id="25" name="Text 22"/>
          <p:cNvSpPr txBox="1"/>
          <p:nvPr/>
        </p:nvSpPr>
        <p:spPr>
          <a:xfrm>
            <a:off x="548640" y="4818888"/>
            <a:ext cx="5440680" cy="617220"/>
          </a:xfrm>
          <a:prstGeom prst="rect">
            <a:avLst/>
          </a:prstGeom>
          <a:noFill/>
          <a:ln/>
        </p:spPr>
        <p:txBody>
          <a:bodyPr wrap="square" lIns="0" tIns="0" rIns="0" bIns="0" rtlCol="0" anchor="ctr"/>
          <a:lstStyle/>
          <a:p>
            <a:pPr algn="ctr" indent="0" marL="0">
              <a:buNone/>
            </a:pPr>
            <a:r>
              <a:rPr lang="en-US" sz="3200" b="1" dirty="0">
                <a:solidFill>
                  <a:schemeClr val="accent3"/>
                </a:solidFill>
              </a:rPr>
              <a:t>17</a:t>
            </a:r>
            <a:endParaRPr lang="en-US" sz="3200" dirty="0"/>
          </a:p>
        </p:txBody>
      </p:sp>
      <p:sp>
        <p:nvSpPr>
          <p:cNvPr id="26" name="Text 23"/>
          <p:cNvSpPr txBox="1"/>
          <p:nvPr/>
        </p:nvSpPr>
        <p:spPr>
          <a:xfrm>
            <a:off x="640080" y="5394960"/>
            <a:ext cx="5257800" cy="365760"/>
          </a:xfrm>
          <a:prstGeom prst="rect">
            <a:avLst/>
          </a:prstGeom>
          <a:noFill/>
          <a:ln/>
        </p:spPr>
        <p:txBody>
          <a:bodyPr wrap="square" lIns="0" tIns="0" rIns="0" bIns="0" rtlCol="0" anchor="ctr"/>
          <a:lstStyle/>
          <a:p>
            <a:pPr algn="ctr" indent="0" marL="0">
              <a:buNone/>
            </a:pPr>
            <a:r>
              <a:rPr lang="en-US" sz="1400" b="1" dirty="0">
                <a:solidFill>
                  <a:schemeClr val="tx1"/>
                </a:solidFill>
              </a:rPr>
              <a:t>natural ingredients</a:t>
            </a:r>
            <a:endParaRPr lang="en-US" sz="1400" dirty="0"/>
          </a:p>
        </p:txBody>
      </p:sp>
      <p:sp>
        <p:nvSpPr>
          <p:cNvPr id="27" name="Shape 24"/>
          <p:cNvSpPr/>
          <p:nvPr/>
        </p:nvSpPr>
        <p:spPr>
          <a:xfrm>
            <a:off x="6172200" y="4709160"/>
            <a:ext cx="5440680" cy="1371600"/>
          </a:xfrm>
          <a:prstGeom prst="roundRect">
            <a:avLst>
              <a:gd name="adj" fmla="val 8000"/>
            </a:avLst>
          </a:prstGeom>
          <a:solidFill>
            <a:schemeClr val="accent3">
              <a:alpha val="8000"/>
            </a:schemeClr>
          </a:solidFill>
          <a:ln w="9525">
            <a:solidFill>
              <a:schemeClr val="accent3">
                <a:alpha val="25000"/>
              </a:schemeClr>
            </a:solidFill>
            <a:prstDash val="solid"/>
          </a:ln>
        </p:spPr>
      </p:sp>
      <p:sp>
        <p:nvSpPr>
          <p:cNvPr id="28" name="Text 25"/>
          <p:cNvSpPr txBox="1"/>
          <p:nvPr/>
        </p:nvSpPr>
        <p:spPr>
          <a:xfrm>
            <a:off x="6172200" y="4818888"/>
            <a:ext cx="5440680" cy="617220"/>
          </a:xfrm>
          <a:prstGeom prst="rect">
            <a:avLst/>
          </a:prstGeom>
          <a:noFill/>
          <a:ln/>
        </p:spPr>
        <p:txBody>
          <a:bodyPr wrap="square" lIns="0" tIns="0" rIns="0" bIns="0" rtlCol="0" anchor="ctr"/>
          <a:lstStyle/>
          <a:p>
            <a:pPr algn="ctr" indent="0" marL="0">
              <a:buNone/>
            </a:pPr>
            <a:r>
              <a:rPr lang="en-US" sz="3200" b="1" dirty="0">
                <a:solidFill>
                  <a:schemeClr val="accent3"/>
                </a:solidFill>
              </a:rPr>
              <a:t>Liposome</a:t>
            </a:r>
            <a:endParaRPr lang="en-US" sz="3200" dirty="0"/>
          </a:p>
        </p:txBody>
      </p:sp>
      <p:sp>
        <p:nvSpPr>
          <p:cNvPr id="29" name="Text 26"/>
          <p:cNvSpPr txBox="1"/>
          <p:nvPr/>
        </p:nvSpPr>
        <p:spPr>
          <a:xfrm>
            <a:off x="6263640" y="5394960"/>
            <a:ext cx="5257800" cy="365760"/>
          </a:xfrm>
          <a:prstGeom prst="rect">
            <a:avLst/>
          </a:prstGeom>
          <a:noFill/>
          <a:ln/>
        </p:spPr>
        <p:txBody>
          <a:bodyPr wrap="square" lIns="0" tIns="0" rIns="0" bIns="0" rtlCol="0" anchor="ctr"/>
          <a:lstStyle/>
          <a:p>
            <a:pPr algn="ctr" indent="0" marL="0">
              <a:buNone/>
            </a:pPr>
            <a:r>
              <a:rPr lang="en-US" sz="1400" b="1" dirty="0">
                <a:solidFill>
                  <a:schemeClr val="tx1"/>
                </a:solidFill>
              </a:rPr>
              <a:t>Better delivery of ingredients into the skin</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Mebonol — skin recovery phases and Mebonol’s role</a:t>
            </a:r>
            <a:endParaRPr lang="en-US" sz="3200" dirty="0"/>
          </a:p>
        </p:txBody>
      </p:sp>
      <p:sp>
        <p:nvSpPr>
          <p:cNvPr id="4" name="Shape 1"/>
          <p:cNvSpPr/>
          <p:nvPr/>
        </p:nvSpPr>
        <p:spPr>
          <a:xfrm>
            <a:off x="54864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5" name="Shape 2"/>
          <p:cNvSpPr/>
          <p:nvPr/>
        </p:nvSpPr>
        <p:spPr>
          <a:xfrm>
            <a:off x="1508760" y="1645920"/>
            <a:ext cx="731520" cy="731520"/>
          </a:xfrm>
          <a:prstGeom prst="ellipse">
            <a:avLst/>
          </a:prstGeom>
          <a:solidFill>
            <a:schemeClr val="accent3"/>
          </a:solidFill>
          <a:ln w="12700">
            <a:solidFill>
              <a:schemeClr val="accent3"/>
            </a:solidFill>
            <a:prstDash val="solid"/>
          </a:ln>
        </p:spPr>
      </p:sp>
      <p:sp>
        <p:nvSpPr>
          <p:cNvPr id="6" name="Text 3"/>
          <p:cNvSpPr txBox="1"/>
          <p:nvPr/>
        </p:nvSpPr>
        <p:spPr>
          <a:xfrm>
            <a:off x="150876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548640" y="2514600"/>
            <a:ext cx="2651760" cy="502920"/>
          </a:xfrm>
          <a:prstGeom prst="rect">
            <a:avLst/>
          </a:prstGeom>
          <a:noFill/>
          <a:ln/>
        </p:spPr>
        <p:txBody>
          <a:bodyPr wrap="square" lIns="0" tIns="0" rIns="0" bIns="0" rtlCol="0" anchor="ctr"/>
          <a:lstStyle/>
          <a:p>
            <a:pPr algn="ctr" indent="0" marL="0">
              <a:buNone/>
            </a:pPr>
            <a:r>
              <a:rPr lang="en-US" sz="2000" b="1" dirty="0">
                <a:solidFill>
                  <a:schemeClr val="accent3"/>
                </a:solidFill>
              </a:rPr>
              <a:t>Cleansing</a:t>
            </a:r>
            <a:endParaRPr lang="en-US" sz="2000" dirty="0"/>
          </a:p>
        </p:txBody>
      </p:sp>
      <p:sp>
        <p:nvSpPr>
          <p:cNvPr id="8" name="Text 5"/>
          <p:cNvSpPr txBox="1"/>
          <p:nvPr/>
        </p:nvSpPr>
        <p:spPr>
          <a:xfrm>
            <a:off x="685800" y="306324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Reduce microbes</a:t>
            </a:r>
            <a:endParaRPr lang="en-US" sz="1400" dirty="0"/>
          </a:p>
        </p:txBody>
      </p:sp>
      <p:sp>
        <p:nvSpPr>
          <p:cNvPr id="9" name="Text 6"/>
          <p:cNvSpPr txBox="1"/>
          <p:nvPr/>
        </p:nvSpPr>
        <p:spPr>
          <a:xfrm>
            <a:off x="68580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Chlorhexidine · Tea tree · Propolis · Garlic oil</a:t>
            </a:r>
            <a:endParaRPr lang="en-US" sz="1300" dirty="0"/>
          </a:p>
        </p:txBody>
      </p:sp>
      <p:sp>
        <p:nvSpPr>
          <p:cNvPr id="10" name="Shape 7"/>
          <p:cNvSpPr/>
          <p:nvPr/>
        </p:nvSpPr>
        <p:spPr>
          <a:xfrm>
            <a:off x="3227832" y="3154680"/>
            <a:ext cx="182880" cy="274320"/>
          </a:xfrm>
          <a:prstGeom prst="rightArrow">
            <a:avLst/>
          </a:prstGeom>
          <a:solidFill>
            <a:schemeClr val="accent3"/>
          </a:solidFill>
          <a:ln w="12700">
            <a:solidFill>
              <a:schemeClr val="accent3"/>
            </a:solidFill>
            <a:prstDash val="solid"/>
          </a:ln>
        </p:spPr>
      </p:sp>
      <p:sp>
        <p:nvSpPr>
          <p:cNvPr id="11" name="Shape 8"/>
          <p:cNvSpPr/>
          <p:nvPr/>
        </p:nvSpPr>
        <p:spPr>
          <a:xfrm>
            <a:off x="336042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12" name="Shape 9"/>
          <p:cNvSpPr/>
          <p:nvPr/>
        </p:nvSpPr>
        <p:spPr>
          <a:xfrm>
            <a:off x="4320540" y="1645920"/>
            <a:ext cx="731520" cy="731520"/>
          </a:xfrm>
          <a:prstGeom prst="ellipse">
            <a:avLst/>
          </a:prstGeom>
          <a:solidFill>
            <a:schemeClr val="accent3"/>
          </a:solidFill>
          <a:ln w="12700">
            <a:solidFill>
              <a:schemeClr val="accent3"/>
            </a:solidFill>
            <a:prstDash val="solid"/>
          </a:ln>
        </p:spPr>
      </p:sp>
      <p:sp>
        <p:nvSpPr>
          <p:cNvPr id="13" name="Text 10"/>
          <p:cNvSpPr txBox="1"/>
          <p:nvPr/>
        </p:nvSpPr>
        <p:spPr>
          <a:xfrm>
            <a:off x="432054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4" name="Text 11"/>
          <p:cNvSpPr txBox="1"/>
          <p:nvPr/>
        </p:nvSpPr>
        <p:spPr>
          <a:xfrm>
            <a:off x="3360420" y="2514600"/>
            <a:ext cx="2651760" cy="502920"/>
          </a:xfrm>
          <a:prstGeom prst="rect">
            <a:avLst/>
          </a:prstGeom>
          <a:noFill/>
          <a:ln/>
        </p:spPr>
        <p:txBody>
          <a:bodyPr wrap="square" lIns="0" tIns="0" rIns="0" bIns="0" rtlCol="0" anchor="ctr"/>
          <a:lstStyle/>
          <a:p>
            <a:pPr algn="ctr" indent="0" marL="0">
              <a:buNone/>
            </a:pPr>
            <a:r>
              <a:rPr lang="en-US" sz="2000" b="1" dirty="0">
                <a:solidFill>
                  <a:schemeClr val="accent3"/>
                </a:solidFill>
              </a:rPr>
              <a:t>Inflammation</a:t>
            </a:r>
            <a:endParaRPr lang="en-US" sz="2000" dirty="0"/>
          </a:p>
        </p:txBody>
      </p:sp>
      <p:sp>
        <p:nvSpPr>
          <p:cNvPr id="15" name="Text 12"/>
          <p:cNvSpPr txBox="1"/>
          <p:nvPr/>
        </p:nvSpPr>
        <p:spPr>
          <a:xfrm>
            <a:off x="3497580" y="306324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Calm redness and swelling</a:t>
            </a:r>
            <a:endParaRPr lang="en-US" sz="1400" dirty="0"/>
          </a:p>
        </p:txBody>
      </p:sp>
      <p:sp>
        <p:nvSpPr>
          <p:cNvPr id="16" name="Text 13"/>
          <p:cNvSpPr txBox="1"/>
          <p:nvPr/>
        </p:nvSpPr>
        <p:spPr>
          <a:xfrm>
            <a:off x="349758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Arnica · Propolis · Vitamin E · Aloe</a:t>
            </a:r>
            <a:endParaRPr lang="en-US" sz="1300" dirty="0"/>
          </a:p>
        </p:txBody>
      </p:sp>
      <p:sp>
        <p:nvSpPr>
          <p:cNvPr id="17" name="Shape 14"/>
          <p:cNvSpPr/>
          <p:nvPr/>
        </p:nvSpPr>
        <p:spPr>
          <a:xfrm>
            <a:off x="6039612" y="3154680"/>
            <a:ext cx="182880" cy="274320"/>
          </a:xfrm>
          <a:prstGeom prst="rightArrow">
            <a:avLst/>
          </a:prstGeom>
          <a:solidFill>
            <a:schemeClr val="accent3"/>
          </a:solidFill>
          <a:ln w="12700">
            <a:solidFill>
              <a:schemeClr val="accent3"/>
            </a:solidFill>
            <a:prstDash val="solid"/>
          </a:ln>
        </p:spPr>
      </p:sp>
      <p:sp>
        <p:nvSpPr>
          <p:cNvPr id="18" name="Shape 15"/>
          <p:cNvSpPr/>
          <p:nvPr/>
        </p:nvSpPr>
        <p:spPr>
          <a:xfrm>
            <a:off x="617220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19" name="Shape 16"/>
          <p:cNvSpPr/>
          <p:nvPr/>
        </p:nvSpPr>
        <p:spPr>
          <a:xfrm>
            <a:off x="7132320" y="1645920"/>
            <a:ext cx="731520" cy="731520"/>
          </a:xfrm>
          <a:prstGeom prst="ellipse">
            <a:avLst/>
          </a:prstGeom>
          <a:solidFill>
            <a:schemeClr val="accent3"/>
          </a:solidFill>
          <a:ln w="12700">
            <a:solidFill>
              <a:schemeClr val="accent3"/>
            </a:solidFill>
            <a:prstDash val="solid"/>
          </a:ln>
        </p:spPr>
      </p:sp>
      <p:sp>
        <p:nvSpPr>
          <p:cNvPr id="20" name="Text 17"/>
          <p:cNvSpPr txBox="1"/>
          <p:nvPr/>
        </p:nvSpPr>
        <p:spPr>
          <a:xfrm>
            <a:off x="713232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1" name="Text 18"/>
          <p:cNvSpPr txBox="1"/>
          <p:nvPr/>
        </p:nvSpPr>
        <p:spPr>
          <a:xfrm>
            <a:off x="6172200" y="2514600"/>
            <a:ext cx="2651760" cy="502920"/>
          </a:xfrm>
          <a:prstGeom prst="rect">
            <a:avLst/>
          </a:prstGeom>
          <a:noFill/>
          <a:ln/>
        </p:spPr>
        <p:txBody>
          <a:bodyPr wrap="square" lIns="0" tIns="0" rIns="0" bIns="0" rtlCol="0" anchor="ctr"/>
          <a:lstStyle/>
          <a:p>
            <a:pPr algn="ctr" indent="0" marL="0">
              <a:buNone/>
            </a:pPr>
            <a:r>
              <a:rPr lang="en-US" sz="2000" b="1" dirty="0">
                <a:solidFill>
                  <a:schemeClr val="accent3"/>
                </a:solidFill>
              </a:rPr>
              <a:t>Regeneration</a:t>
            </a:r>
            <a:endParaRPr lang="en-US" sz="2000" dirty="0"/>
          </a:p>
        </p:txBody>
      </p:sp>
      <p:sp>
        <p:nvSpPr>
          <p:cNvPr id="22" name="Text 19"/>
          <p:cNvSpPr txBox="1"/>
          <p:nvPr/>
        </p:nvSpPr>
        <p:spPr>
          <a:xfrm>
            <a:off x="6309360" y="306324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New tissue and collagen</a:t>
            </a:r>
            <a:endParaRPr lang="en-US" sz="1400" dirty="0"/>
          </a:p>
        </p:txBody>
      </p:sp>
      <p:sp>
        <p:nvSpPr>
          <p:cNvPr id="23" name="Text 20"/>
          <p:cNvSpPr txBox="1"/>
          <p:nvPr/>
        </p:nvSpPr>
        <p:spPr>
          <a:xfrm>
            <a:off x="630936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Calendula · Honey · Panthenol · Emu oil</a:t>
            </a:r>
            <a:endParaRPr lang="en-US" sz="1300" dirty="0"/>
          </a:p>
        </p:txBody>
      </p:sp>
      <p:sp>
        <p:nvSpPr>
          <p:cNvPr id="24" name="Shape 21"/>
          <p:cNvSpPr/>
          <p:nvPr/>
        </p:nvSpPr>
        <p:spPr>
          <a:xfrm>
            <a:off x="8851392" y="3154680"/>
            <a:ext cx="182880" cy="274320"/>
          </a:xfrm>
          <a:prstGeom prst="rightArrow">
            <a:avLst/>
          </a:prstGeom>
          <a:solidFill>
            <a:schemeClr val="accent3"/>
          </a:solidFill>
          <a:ln w="12700">
            <a:solidFill>
              <a:schemeClr val="accent3"/>
            </a:solidFill>
            <a:prstDash val="solid"/>
          </a:ln>
        </p:spPr>
      </p:sp>
      <p:sp>
        <p:nvSpPr>
          <p:cNvPr id="25" name="Shape 22"/>
          <p:cNvSpPr/>
          <p:nvPr/>
        </p:nvSpPr>
        <p:spPr>
          <a:xfrm>
            <a:off x="8983980" y="1463040"/>
            <a:ext cx="2651760" cy="3657600"/>
          </a:xfrm>
          <a:prstGeom prst="roundRect">
            <a:avLst>
              <a:gd name="adj" fmla="val 4138"/>
            </a:avLst>
          </a:prstGeom>
          <a:solidFill>
            <a:schemeClr val="accent3">
              <a:alpha val="10000"/>
            </a:schemeClr>
          </a:solidFill>
          <a:ln w="9525">
            <a:solidFill>
              <a:schemeClr val="accent3">
                <a:alpha val="25000"/>
              </a:schemeClr>
            </a:solidFill>
            <a:prstDash val="solid"/>
          </a:ln>
        </p:spPr>
      </p:sp>
      <p:sp>
        <p:nvSpPr>
          <p:cNvPr id="26" name="Shape 23"/>
          <p:cNvSpPr/>
          <p:nvPr/>
        </p:nvSpPr>
        <p:spPr>
          <a:xfrm>
            <a:off x="9944100" y="1645920"/>
            <a:ext cx="731520" cy="731520"/>
          </a:xfrm>
          <a:prstGeom prst="ellipse">
            <a:avLst/>
          </a:prstGeom>
          <a:solidFill>
            <a:schemeClr val="accent3"/>
          </a:solidFill>
          <a:ln w="12700">
            <a:solidFill>
              <a:schemeClr val="accent3"/>
            </a:solidFill>
            <a:prstDash val="solid"/>
          </a:ln>
        </p:spPr>
      </p:sp>
      <p:sp>
        <p:nvSpPr>
          <p:cNvPr id="27" name="Text 24"/>
          <p:cNvSpPr txBox="1"/>
          <p:nvPr/>
        </p:nvSpPr>
        <p:spPr>
          <a:xfrm>
            <a:off x="9944100" y="164592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8" name="Text 25"/>
          <p:cNvSpPr txBox="1"/>
          <p:nvPr/>
        </p:nvSpPr>
        <p:spPr>
          <a:xfrm>
            <a:off x="8983980" y="2514600"/>
            <a:ext cx="2651760" cy="502920"/>
          </a:xfrm>
          <a:prstGeom prst="rect">
            <a:avLst/>
          </a:prstGeom>
          <a:noFill/>
          <a:ln/>
        </p:spPr>
        <p:txBody>
          <a:bodyPr wrap="square" lIns="0" tIns="0" rIns="0" bIns="0" rtlCol="0" anchor="ctr"/>
          <a:lstStyle/>
          <a:p>
            <a:pPr algn="ctr" indent="0" marL="0">
              <a:buNone/>
            </a:pPr>
            <a:r>
              <a:rPr lang="en-US" sz="2000" b="1" dirty="0">
                <a:solidFill>
                  <a:schemeClr val="accent3"/>
                </a:solidFill>
              </a:rPr>
              <a:t>Remodelling</a:t>
            </a:r>
            <a:endParaRPr lang="en-US" sz="2000" dirty="0"/>
          </a:p>
        </p:txBody>
      </p:sp>
      <p:sp>
        <p:nvSpPr>
          <p:cNvPr id="29" name="Text 26"/>
          <p:cNvSpPr txBox="1"/>
          <p:nvPr/>
        </p:nvSpPr>
        <p:spPr>
          <a:xfrm>
            <a:off x="9121140" y="3063240"/>
            <a:ext cx="2377440" cy="731520"/>
          </a:xfrm>
          <a:prstGeom prst="rect">
            <a:avLst/>
          </a:prstGeom>
          <a:noFill/>
          <a:ln/>
        </p:spPr>
        <p:txBody>
          <a:bodyPr wrap="square" lIns="0" tIns="0" rIns="0" bIns="0" rtlCol="0" anchor="t"/>
          <a:lstStyle/>
          <a:p>
            <a:pPr algn="ctr" indent="0" marL="0">
              <a:buNone/>
            </a:pPr>
            <a:r>
              <a:rPr lang="en-US" sz="1400" dirty="0">
                <a:solidFill>
                  <a:schemeClr val="tx1"/>
                </a:solidFill>
              </a:rPr>
              <a:t>Smooth, supple skin</a:t>
            </a:r>
            <a:endParaRPr lang="en-US" sz="1400" dirty="0"/>
          </a:p>
        </p:txBody>
      </p:sp>
      <p:sp>
        <p:nvSpPr>
          <p:cNvPr id="30" name="Text 27"/>
          <p:cNvSpPr txBox="1"/>
          <p:nvPr/>
        </p:nvSpPr>
        <p:spPr>
          <a:xfrm>
            <a:off x="9121140" y="3886200"/>
            <a:ext cx="2377440" cy="1097280"/>
          </a:xfrm>
          <a:prstGeom prst="rect">
            <a:avLst/>
          </a:prstGeom>
          <a:noFill/>
          <a:ln/>
        </p:spPr>
        <p:txBody>
          <a:bodyPr wrap="square" lIns="0" tIns="0" rIns="0" bIns="0" rtlCol="0" anchor="t"/>
          <a:lstStyle/>
          <a:p>
            <a:pPr algn="ctr" indent="0" marL="0">
              <a:buNone/>
            </a:pPr>
            <a:r>
              <a:rPr lang="en-US" sz="1300" b="1" dirty="0">
                <a:solidFill>
                  <a:schemeClr val="accent5"/>
                </a:solidFill>
              </a:rPr>
              <a:t>Olive · Sesame · Jojoba · Rose oil · Glycerin</a:t>
            </a:r>
            <a:endParaRPr lang="en-US" sz="13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Mebonol — evidence and uses</a:t>
            </a:r>
            <a:endParaRPr lang="en-US" sz="3200" dirty="0"/>
          </a:p>
        </p:txBody>
      </p:sp>
      <p:sp>
        <p:nvSpPr>
          <p:cNvPr id="4" name="Shape 1"/>
          <p:cNvSpPr/>
          <p:nvPr/>
        </p:nvSpPr>
        <p:spPr>
          <a:xfrm>
            <a:off x="548640" y="1325880"/>
            <a:ext cx="11064240" cy="1188720"/>
          </a:xfrm>
          <a:prstGeom prst="roundRect">
            <a:avLst>
              <a:gd name="adj" fmla="val 11538"/>
            </a:avLst>
          </a:prstGeom>
          <a:solidFill>
            <a:schemeClr val="accent3"/>
          </a:solidFill>
          <a:ln w="12700">
            <a:solidFill>
              <a:schemeClr val="accent3"/>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algn="l" indent="0" marL="0">
              <a:spcAft>
                <a:spcPts val="400"/>
              </a:spcAft>
              <a:buNone/>
            </a:pPr>
            <a:r>
              <a:rPr lang="en-US" sz="1200" b="1" dirty="0">
                <a:solidFill>
                  <a:schemeClr val="bg1"/>
                </a:solidFill>
              </a:rPr>
              <a:t>KEY SELLING POINT</a:t>
            </a:r>
            <a:endParaRPr lang="en-US" sz="1200" dirty="0"/>
          </a:p>
          <a:p>
            <a:pPr algn="l" indent="0" marL="0">
              <a:spcAft>
                <a:spcPts val="400"/>
              </a:spcAft>
              <a:buNone/>
            </a:pPr>
            <a:r>
              <a:rPr lang="en-US" sz="1800" b="1" dirty="0">
                <a:solidFill>
                  <a:schemeClr val="bg1"/>
                </a:solidFill>
              </a:rPr>
              <a:t>17 natural ingredients with liposome technology that help cracked, irritated skin recover</a:t>
            </a:r>
            <a:endParaRPr lang="en-US" sz="1200" dirty="0"/>
          </a:p>
        </p:txBody>
      </p:sp>
      <p:sp>
        <p:nvSpPr>
          <p:cNvPr id="6" name="Shape 3"/>
          <p:cNvSpPr/>
          <p:nvPr/>
        </p:nvSpPr>
        <p:spPr>
          <a:xfrm>
            <a:off x="548640" y="2743200"/>
            <a:ext cx="3383280" cy="2103120"/>
          </a:xfrm>
          <a:prstGeom prst="roundRect">
            <a:avLst>
              <a:gd name="adj" fmla="val 5217"/>
            </a:avLst>
          </a:prstGeom>
          <a:solidFill>
            <a:schemeClr val="accent3">
              <a:alpha val="8000"/>
            </a:schemeClr>
          </a:solidFill>
          <a:ln w="9525">
            <a:solidFill>
              <a:schemeClr val="accent3">
                <a:alpha val="25000"/>
              </a:schemeClr>
            </a:solidFill>
            <a:prstDash val="solid"/>
          </a:ln>
        </p:spPr>
      </p:sp>
      <p:sp>
        <p:nvSpPr>
          <p:cNvPr id="7" name="Text 4"/>
          <p:cNvSpPr txBox="1"/>
          <p:nvPr/>
        </p:nvSpPr>
        <p:spPr>
          <a:xfrm>
            <a:off x="731520" y="2852928"/>
            <a:ext cx="3017520" cy="365760"/>
          </a:xfrm>
          <a:prstGeom prst="rect">
            <a:avLst/>
          </a:prstGeom>
          <a:noFill/>
          <a:ln/>
        </p:spPr>
        <p:txBody>
          <a:bodyPr wrap="square" lIns="0" tIns="0" rIns="0" bIns="0" rtlCol="0" anchor="ctr"/>
          <a:lstStyle/>
          <a:p>
            <a:pPr algn="l" indent="0" marL="0">
              <a:buNone/>
            </a:pPr>
            <a:r>
              <a:rPr lang="en-US" sz="1400" b="1" dirty="0">
                <a:solidFill>
                  <a:schemeClr val="accent3"/>
                </a:solidFill>
              </a:rPr>
              <a:t>Jull, 2015 · Cochrane</a:t>
            </a:r>
            <a:endParaRPr lang="en-US" sz="1400" dirty="0"/>
          </a:p>
        </p:txBody>
      </p:sp>
      <p:sp>
        <p:nvSpPr>
          <p:cNvPr id="8" name="Text 5"/>
          <p:cNvSpPr txBox="1"/>
          <p:nvPr/>
        </p:nvSpPr>
        <p:spPr>
          <a:xfrm>
            <a:off x="731520" y="3246120"/>
            <a:ext cx="3017520" cy="685800"/>
          </a:xfrm>
          <a:prstGeom prst="rect">
            <a:avLst/>
          </a:prstGeom>
          <a:noFill/>
          <a:ln/>
        </p:spPr>
        <p:txBody>
          <a:bodyPr wrap="square" lIns="0" tIns="0" rIns="0" bIns="0" rtlCol="0" anchor="t"/>
          <a:lstStyle/>
          <a:p>
            <a:pPr algn="l" indent="0" marL="0">
              <a:buNone/>
            </a:pPr>
            <a:r>
              <a:rPr lang="en-US" sz="1300" dirty="0">
                <a:solidFill>
                  <a:schemeClr val="accent5"/>
                </a:solidFill>
              </a:rPr>
              <a:t>Honey · 992 patients with superficial burns</a:t>
            </a:r>
            <a:endParaRPr lang="en-US" sz="1300" dirty="0"/>
          </a:p>
        </p:txBody>
      </p:sp>
      <p:sp>
        <p:nvSpPr>
          <p:cNvPr id="9" name="Text 6"/>
          <p:cNvSpPr txBox="1"/>
          <p:nvPr/>
        </p:nvSpPr>
        <p:spPr>
          <a:xfrm>
            <a:off x="731520" y="3931920"/>
            <a:ext cx="3017520" cy="822960"/>
          </a:xfrm>
          <a:prstGeom prst="rect">
            <a:avLst/>
          </a:prstGeom>
          <a:noFill/>
          <a:ln/>
        </p:spPr>
        <p:txBody>
          <a:bodyPr wrap="square" lIns="0" tIns="0" rIns="0" bIns="0" rtlCol="0" anchor="t"/>
          <a:lstStyle/>
          <a:p>
            <a:pPr algn="l" indent="0" marL="0">
              <a:buNone/>
            </a:pPr>
            <a:r>
              <a:rPr lang="en-US" sz="1400" b="1" dirty="0">
                <a:solidFill>
                  <a:schemeClr val="tx1"/>
                </a:solidFill>
              </a:rPr>
              <a:t>Healed about 4.7 days faster than conventional dressings</a:t>
            </a:r>
            <a:endParaRPr lang="en-US" sz="1400" dirty="0"/>
          </a:p>
        </p:txBody>
      </p:sp>
      <p:sp>
        <p:nvSpPr>
          <p:cNvPr id="10" name="Shape 7"/>
          <p:cNvSpPr/>
          <p:nvPr/>
        </p:nvSpPr>
        <p:spPr>
          <a:xfrm>
            <a:off x="4114800" y="2743200"/>
            <a:ext cx="3383280" cy="2103120"/>
          </a:xfrm>
          <a:prstGeom prst="roundRect">
            <a:avLst>
              <a:gd name="adj" fmla="val 5217"/>
            </a:avLst>
          </a:prstGeom>
          <a:solidFill>
            <a:schemeClr val="accent3">
              <a:alpha val="8000"/>
            </a:schemeClr>
          </a:solidFill>
          <a:ln w="9525">
            <a:solidFill>
              <a:schemeClr val="accent3">
                <a:alpha val="25000"/>
              </a:schemeClr>
            </a:solidFill>
            <a:prstDash val="solid"/>
          </a:ln>
        </p:spPr>
      </p:sp>
      <p:sp>
        <p:nvSpPr>
          <p:cNvPr id="11" name="Text 8"/>
          <p:cNvSpPr txBox="1"/>
          <p:nvPr/>
        </p:nvSpPr>
        <p:spPr>
          <a:xfrm>
            <a:off x="4297680" y="2852928"/>
            <a:ext cx="3017520" cy="365760"/>
          </a:xfrm>
          <a:prstGeom prst="rect">
            <a:avLst/>
          </a:prstGeom>
          <a:noFill/>
          <a:ln/>
        </p:spPr>
        <p:txBody>
          <a:bodyPr wrap="square" lIns="0" tIns="0" rIns="0" bIns="0" rtlCol="0" anchor="ctr"/>
          <a:lstStyle/>
          <a:p>
            <a:pPr algn="l" indent="0" marL="0">
              <a:buNone/>
            </a:pPr>
            <a:r>
              <a:rPr lang="en-US" sz="1400" b="1" dirty="0">
                <a:solidFill>
                  <a:schemeClr val="accent3"/>
                </a:solidFill>
              </a:rPr>
              <a:t>Preethi, 2009</a:t>
            </a:r>
            <a:endParaRPr lang="en-US" sz="1400" dirty="0"/>
          </a:p>
        </p:txBody>
      </p:sp>
      <p:sp>
        <p:nvSpPr>
          <p:cNvPr id="12" name="Text 9"/>
          <p:cNvSpPr txBox="1"/>
          <p:nvPr/>
        </p:nvSpPr>
        <p:spPr>
          <a:xfrm>
            <a:off x="4297680" y="3246120"/>
            <a:ext cx="3017520" cy="685800"/>
          </a:xfrm>
          <a:prstGeom prst="rect">
            <a:avLst/>
          </a:prstGeom>
          <a:noFill/>
          <a:ln/>
        </p:spPr>
        <p:txBody>
          <a:bodyPr wrap="square" lIns="0" tIns="0" rIns="0" bIns="0" rtlCol="0" anchor="t"/>
          <a:lstStyle/>
          <a:p>
            <a:pPr algn="l" indent="0" marL="0">
              <a:buNone/>
            </a:pPr>
            <a:r>
              <a:rPr lang="en-US" sz="1300" dirty="0">
                <a:solidFill>
                  <a:schemeClr val="accent5"/>
                </a:solidFill>
              </a:rPr>
              <a:t>Calendula · experimental study</a:t>
            </a:r>
            <a:endParaRPr lang="en-US" sz="1300" dirty="0"/>
          </a:p>
        </p:txBody>
      </p:sp>
      <p:sp>
        <p:nvSpPr>
          <p:cNvPr id="13" name="Text 10"/>
          <p:cNvSpPr txBox="1"/>
          <p:nvPr/>
        </p:nvSpPr>
        <p:spPr>
          <a:xfrm>
            <a:off x="4297680" y="3931920"/>
            <a:ext cx="3017520" cy="822960"/>
          </a:xfrm>
          <a:prstGeom prst="rect">
            <a:avLst/>
          </a:prstGeom>
          <a:noFill/>
          <a:ln/>
        </p:spPr>
        <p:txBody>
          <a:bodyPr wrap="square" lIns="0" tIns="0" rIns="0" bIns="0" rtlCol="0" anchor="t"/>
          <a:lstStyle/>
          <a:p>
            <a:pPr algn="l" indent="0" marL="0">
              <a:buNone/>
            </a:pPr>
            <a:r>
              <a:rPr lang="en-US" sz="1400" b="1" dirty="0">
                <a:solidFill>
                  <a:schemeClr val="tx1"/>
                </a:solidFill>
              </a:rPr>
              <a:t>Wound closure ~90% vs ~51% by day 8</a:t>
            </a:r>
            <a:endParaRPr lang="en-US" sz="1400" dirty="0"/>
          </a:p>
        </p:txBody>
      </p:sp>
      <p:sp>
        <p:nvSpPr>
          <p:cNvPr id="14" name="Shape 11"/>
          <p:cNvSpPr/>
          <p:nvPr/>
        </p:nvSpPr>
        <p:spPr>
          <a:xfrm>
            <a:off x="7680960" y="2743200"/>
            <a:ext cx="3931920" cy="2103120"/>
          </a:xfrm>
          <a:prstGeom prst="roundRect">
            <a:avLst>
              <a:gd name="adj" fmla="val 5217"/>
            </a:avLst>
          </a:prstGeom>
          <a:solidFill>
            <a:schemeClr val="accent3">
              <a:alpha val="8000"/>
            </a:schemeClr>
          </a:solidFill>
          <a:ln w="9525">
            <a:solidFill>
              <a:schemeClr val="accent3">
                <a:alpha val="25000"/>
              </a:schemeClr>
            </a:solidFill>
            <a:prstDash val="solid"/>
          </a:ln>
        </p:spPr>
      </p:sp>
      <p:sp>
        <p:nvSpPr>
          <p:cNvPr id="15" name="Text 12"/>
          <p:cNvSpPr txBox="1"/>
          <p:nvPr/>
        </p:nvSpPr>
        <p:spPr>
          <a:xfrm>
            <a:off x="7863840" y="2852928"/>
            <a:ext cx="3566160" cy="365760"/>
          </a:xfrm>
          <a:prstGeom prst="rect">
            <a:avLst/>
          </a:prstGeom>
          <a:noFill/>
          <a:ln/>
        </p:spPr>
        <p:txBody>
          <a:bodyPr wrap="square" lIns="0" tIns="0" rIns="0" bIns="0" rtlCol="0" anchor="ctr"/>
          <a:lstStyle/>
          <a:p>
            <a:pPr algn="l" indent="0" marL="0">
              <a:buNone/>
            </a:pPr>
            <a:r>
              <a:rPr lang="en-US" sz="1400" b="1" dirty="0">
                <a:solidFill>
                  <a:schemeClr val="accent3"/>
                </a:solidFill>
              </a:rPr>
              <a:t>Carson 2006 · El Maghraby 2008</a:t>
            </a:r>
            <a:endParaRPr lang="en-US" sz="1400" dirty="0"/>
          </a:p>
        </p:txBody>
      </p:sp>
      <p:sp>
        <p:nvSpPr>
          <p:cNvPr id="16" name="Text 13"/>
          <p:cNvSpPr txBox="1"/>
          <p:nvPr/>
        </p:nvSpPr>
        <p:spPr>
          <a:xfrm>
            <a:off x="7863840" y="3246120"/>
            <a:ext cx="3566160" cy="685800"/>
          </a:xfrm>
          <a:prstGeom prst="rect">
            <a:avLst/>
          </a:prstGeom>
          <a:noFill/>
          <a:ln/>
        </p:spPr>
        <p:txBody>
          <a:bodyPr wrap="square" lIns="0" tIns="0" rIns="0" bIns="0" rtlCol="0" anchor="t"/>
          <a:lstStyle/>
          <a:p>
            <a:pPr algn="l" indent="0" marL="0">
              <a:buNone/>
            </a:pPr>
            <a:r>
              <a:rPr lang="en-US" sz="1300" dirty="0">
                <a:solidFill>
                  <a:schemeClr val="accent5"/>
                </a:solidFill>
              </a:rPr>
              <a:t>Tea tree oil · liposomes</a:t>
            </a:r>
            <a:endParaRPr lang="en-US" sz="1300" dirty="0"/>
          </a:p>
        </p:txBody>
      </p:sp>
      <p:sp>
        <p:nvSpPr>
          <p:cNvPr id="17" name="Text 14"/>
          <p:cNvSpPr txBox="1"/>
          <p:nvPr/>
        </p:nvSpPr>
        <p:spPr>
          <a:xfrm>
            <a:off x="7863840" y="3931920"/>
            <a:ext cx="3566160" cy="822960"/>
          </a:xfrm>
          <a:prstGeom prst="rect">
            <a:avLst/>
          </a:prstGeom>
          <a:noFill/>
          <a:ln/>
        </p:spPr>
        <p:txBody>
          <a:bodyPr wrap="square" lIns="0" tIns="0" rIns="0" bIns="0" rtlCol="0" anchor="t"/>
          <a:lstStyle/>
          <a:p>
            <a:pPr algn="l" indent="0" marL="0">
              <a:buNone/>
            </a:pPr>
            <a:r>
              <a:rPr lang="en-US" sz="1400" b="1" dirty="0">
                <a:solidFill>
                  <a:schemeClr val="tx1"/>
                </a:solidFill>
              </a:rPr>
              <a:t>Broad antimicrobial activity; better delivery of actives into the skin</a:t>
            </a:r>
            <a:endParaRPr lang="en-US" sz="1400" dirty="0"/>
          </a:p>
        </p:txBody>
      </p:sp>
      <p:sp>
        <p:nvSpPr>
          <p:cNvPr id="18" name="Shape 15"/>
          <p:cNvSpPr/>
          <p:nvPr/>
        </p:nvSpPr>
        <p:spPr>
          <a:xfrm>
            <a:off x="548640" y="5029200"/>
            <a:ext cx="11064240" cy="1051560"/>
          </a:xfrm>
          <a:prstGeom prst="roundRect">
            <a:avLst>
              <a:gd name="adj" fmla="val 10435"/>
            </a:avLst>
          </a:prstGeom>
          <a:solidFill>
            <a:schemeClr val="accent3">
              <a:alpha val="7000"/>
            </a:schemeClr>
          </a:solidFill>
          <a:ln w="9525">
            <a:solidFill>
              <a:schemeClr val="accent3">
                <a:alpha val="25000"/>
              </a:schemeClr>
            </a:solidFill>
            <a:prstDash val="solid"/>
          </a:ln>
        </p:spPr>
      </p:sp>
      <p:sp>
        <p:nvSpPr>
          <p:cNvPr id="19" name="Text 16"/>
          <p:cNvSpPr txBox="1"/>
          <p:nvPr/>
        </p:nvSpPr>
        <p:spPr>
          <a:xfrm>
            <a:off x="731520" y="5074920"/>
            <a:ext cx="10698480" cy="960120"/>
          </a:xfrm>
          <a:prstGeom prst="rect">
            <a:avLst/>
          </a:prstGeom>
          <a:noFill/>
          <a:ln/>
        </p:spPr>
        <p:txBody>
          <a:bodyPr wrap="square" lIns="0" tIns="0" rIns="0" bIns="0" rtlCol="0" anchor="ctr"/>
          <a:lstStyle/>
          <a:p>
            <a:pPr algn="l" indent="0" marL="0">
              <a:buNone/>
            </a:pPr>
            <a:r>
              <a:rPr lang="en-US" sz="1500" b="1" dirty="0">
                <a:solidFill>
                  <a:schemeClr val="accent3"/>
                </a:solidFill>
              </a:rPr>
              <a:t>Suitable for:  </a:t>
            </a:r>
            <a:pPr algn="l" indent="0" marL="0">
              <a:buNone/>
            </a:pPr>
            <a:r>
              <a:rPr lang="en-US" sz="1500" dirty="0">
                <a:solidFill>
                  <a:schemeClr val="tx1"/>
                </a:solidFill>
              </a:rPr>
              <a:t>heel fissures · nipple fissures · diaper rash · minor burns and sunburn · superficial wounds · dry, scaly skin</a:t>
            </a:r>
            <a:endParaRPr lang="en-US" sz="15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The five products at a glance</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463040"/>
                <a:gridCol w="1737360"/>
                <a:gridCol w="4663440"/>
                <a:gridCol w="1920240"/>
                <a:gridCol w="1280160"/>
              </a:tblGrid>
              <a:tr h="685800">
                <a:tc>
                  <a:txBody>
                    <a:bodyPr/>
                    <a:lstStyle/>
                    <a:p>
                      <a:pPr algn="l" indent="0" marL="0">
                        <a:buNone/>
                      </a:pPr>
                      <a:r>
                        <a:rPr lang="en-US" sz="1400" b="1" dirty="0">
                          <a:solidFill>
                            <a:schemeClr val="bg1"/>
                          </a:solidFill>
                        </a:rPr>
                        <a:t>Product</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Category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Key selling point</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Clinic</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Public price*</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tx2"/>
                    </a:solidFill>
                  </a:tcPr>
                </a:tc>
              </a:tr>
              <a:tr h="685800">
                <a:tc>
                  <a:txBody>
                    <a:bodyPr/>
                    <a:lstStyle/>
                    <a:p>
                      <a:pPr algn="l" indent="0" marL="0">
                        <a:buNone/>
                      </a:pPr>
                      <a:r>
                        <a:rPr lang="en-US" sz="1400" b="1" dirty="0">
                          <a:solidFill>
                            <a:schemeClr val="tx1"/>
                          </a:solidFill>
                        </a:rPr>
                        <a:t>Fem-Arosa</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Food supplement</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Complete 12-ingredient herbal formula for women’s vitality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Gynecology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49</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685800">
                <a:tc>
                  <a:txBody>
                    <a:bodyPr/>
                    <a:lstStyle/>
                    <a:p>
                      <a:pPr algn="l" indent="0" marL="0">
                        <a:buNone/>
                      </a:pPr>
                      <a:r>
                        <a:rPr lang="en-US" sz="1400" b="1" dirty="0">
                          <a:solidFill>
                            <a:schemeClr val="tx1"/>
                          </a:solidFill>
                        </a:rPr>
                        <a:t>Femina</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Cosmetic</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pH 3.5–4.5 intimate foam, alcohol- and paraben-free</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Gynecology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65</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r h="685800">
                <a:tc>
                  <a:txBody>
                    <a:bodyPr/>
                    <a:lstStyle/>
                    <a:p>
                      <a:pPr algn="l" indent="0" marL="0">
                        <a:buNone/>
                      </a:pPr>
                      <a:r>
                        <a:rPr lang="en-US" sz="1400" b="1" dirty="0">
                          <a:solidFill>
                            <a:schemeClr val="tx1"/>
                          </a:solidFill>
                        </a:rPr>
                        <a:t>Octo</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Cosmetic</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Four anti-dandruff actives in one shampoo</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Dermatology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55</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r h="685800">
                <a:tc>
                  <a:txBody>
                    <a:bodyPr/>
                    <a:lstStyle/>
                    <a:p>
                      <a:pPr algn="l" indent="0" marL="0">
                        <a:buNone/>
                      </a:pPr>
                      <a:r>
                        <a:rPr lang="en-US" sz="1400" b="1" dirty="0">
                          <a:solidFill>
                            <a:schemeClr val="tx1"/>
                          </a:solidFill>
                        </a:rPr>
                        <a:t>E-Panthen</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Cosmetic</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5% panthenol + vitamin E + ceramide</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Dermatology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30</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1"/>
                    </a:solidFill>
                  </a:tcPr>
                </a:tc>
              </a:tr>
              <a:tr h="685800">
                <a:tc>
                  <a:txBody>
                    <a:bodyPr/>
                    <a:lstStyle/>
                    <a:p>
                      <a:pPr algn="l" indent="0" marL="0">
                        <a:buNone/>
                      </a:pPr>
                      <a:r>
                        <a:rPr lang="en-US" sz="1400" b="1" dirty="0">
                          <a:solidFill>
                            <a:schemeClr val="tx1"/>
                          </a:solidFill>
                        </a:rPr>
                        <a:t>Mebonol</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Cosmetic</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17 natural ingredients with liposome technology</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Derm · Gyn · Pediatrics</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55</a:t>
                      </a:r>
                      <a:endParaRPr lang="en-US" sz="1400" dirty="0"/>
                    </a:p>
                  </a:txBody>
                  <a:tcPr marL="91440" marR="9144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623560"/>
            <a:ext cx="11064240" cy="365760"/>
          </a:xfrm>
          <a:prstGeom prst="rect">
            <a:avLst/>
          </a:prstGeom>
          <a:noFill/>
          <a:ln/>
        </p:spPr>
        <p:txBody>
          <a:bodyPr wrap="square" lIns="0" tIns="0" rIns="0" bIns="0" rtlCol="0" anchor="ctr"/>
          <a:lstStyle/>
          <a:p>
            <a:pPr algn="l" indent="0" marL="0">
              <a:buNone/>
            </a:pPr>
            <a:r>
              <a:rPr lang="en-US" sz="1200" dirty="0">
                <a:solidFill>
                  <a:schemeClr val="accent5"/>
                </a:solidFill>
              </a:rPr>
              <a:t>* SAR, excluding 15% VAT</a:t>
            </a:r>
            <a:endParaRPr lang="en-US" sz="12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1064240" cy="777240"/>
          </a:xfrm>
          <a:prstGeom prst="rect">
            <a:avLst/>
          </a:prstGeom>
          <a:noFill/>
          <a:ln/>
        </p:spPr>
        <p:txBody>
          <a:bodyPr wrap="square" rtlCol="0" anchor="ctr"/>
          <a:lstStyle/>
          <a:p>
            <a:pPr algn="l" indent="0" marL="0">
              <a:buNone/>
            </a:pPr>
            <a:r>
              <a:rPr lang="en-US" sz="3200" b="1" dirty="0">
                <a:solidFill>
                  <a:schemeClr val="tx2"/>
                </a:solidFill>
              </a:rPr>
              <a:t>Cross-selling: every visit = two products</a:t>
            </a:r>
            <a:endParaRPr lang="en-US" sz="3200" dirty="0"/>
          </a:p>
        </p:txBody>
      </p:sp>
      <p:sp>
        <p:nvSpPr>
          <p:cNvPr id="4" name="Shape 1"/>
          <p:cNvSpPr/>
          <p:nvPr/>
        </p:nvSpPr>
        <p:spPr>
          <a:xfrm>
            <a:off x="548640" y="1325880"/>
            <a:ext cx="3566160" cy="4754880"/>
          </a:xfrm>
          <a:prstGeom prst="roundRect">
            <a:avLst>
              <a:gd name="adj" fmla="val 3077"/>
            </a:avLst>
          </a:prstGeom>
          <a:solidFill>
            <a:schemeClr val="accent1">
              <a:alpha val="10000"/>
            </a:schemeClr>
          </a:solidFill>
          <a:ln w="9525">
            <a:solidFill>
              <a:schemeClr val="accent1">
                <a:alpha val="25000"/>
              </a:schemeClr>
            </a:solidFill>
            <a:prstDash val="solid"/>
          </a:ln>
        </p:spPr>
      </p:sp>
      <p:sp>
        <p:nvSpPr>
          <p:cNvPr id="5" name="Text 2"/>
          <p:cNvSpPr txBox="1"/>
          <p:nvPr/>
        </p:nvSpPr>
        <p:spPr>
          <a:xfrm>
            <a:off x="548640" y="1463040"/>
            <a:ext cx="3566160" cy="457200"/>
          </a:xfrm>
          <a:prstGeom prst="rect">
            <a:avLst/>
          </a:prstGeom>
          <a:noFill/>
          <a:ln/>
        </p:spPr>
        <p:txBody>
          <a:bodyPr wrap="square" lIns="0" tIns="0" rIns="0" bIns="0" rtlCol="0" anchor="ctr"/>
          <a:lstStyle/>
          <a:p>
            <a:pPr algn="ctr" indent="0" marL="0">
              <a:buNone/>
            </a:pPr>
            <a:r>
              <a:rPr lang="en-US" sz="1800" b="1" dirty="0">
                <a:solidFill>
                  <a:schemeClr val="accent1"/>
                </a:solidFill>
              </a:rPr>
              <a:t>Gynecology clinic</a:t>
            </a:r>
            <a:endParaRPr lang="en-US" sz="1800" dirty="0"/>
          </a:p>
        </p:txBody>
      </p:sp>
      <p:pic>
        <p:nvPicPr>
          <p:cNvPr id="6" name="femarosa image" descr="preencoded.png">    </p:cNvPr>
          <p:cNvPicPr>
            <a:picLocks noChangeAspect="1"/>
          </p:cNvPicPr>
          <p:nvPr/>
        </p:nvPicPr>
        <p:blipFill>
          <a:blip r:embed="rId1"/>
          <a:stretch>
            <a:fillRect/>
          </a:stretch>
        </p:blipFill>
        <p:spPr>
          <a:xfrm>
            <a:off x="822960" y="2361032"/>
            <a:ext cx="1417320" cy="1678737"/>
          </a:xfrm>
          <a:prstGeom prst="rect">
            <a:avLst/>
          </a:prstGeom>
        </p:spPr>
      </p:pic>
      <p:pic>
        <p:nvPicPr>
          <p:cNvPr id="7" name="femina image" descr="preencoded.png">    </p:cNvPr>
          <p:cNvPicPr>
            <a:picLocks noChangeAspect="1"/>
          </p:cNvPicPr>
          <p:nvPr/>
        </p:nvPicPr>
        <p:blipFill>
          <a:blip r:embed="rId2"/>
          <a:stretch>
            <a:fillRect/>
          </a:stretch>
        </p:blipFill>
        <p:spPr>
          <a:xfrm>
            <a:off x="2331720" y="2096465"/>
            <a:ext cx="1417320" cy="2207870"/>
          </a:xfrm>
          <a:prstGeom prst="rect">
            <a:avLst/>
          </a:prstGeom>
        </p:spPr>
      </p:pic>
      <p:sp>
        <p:nvSpPr>
          <p:cNvPr id="8" name="Text 3"/>
          <p:cNvSpPr txBox="1"/>
          <p:nvPr/>
        </p:nvSpPr>
        <p:spPr>
          <a:xfrm>
            <a:off x="548640" y="4526280"/>
            <a:ext cx="3566160" cy="457200"/>
          </a:xfrm>
          <a:prstGeom prst="rect">
            <a:avLst/>
          </a:prstGeom>
          <a:noFill/>
          <a:ln/>
        </p:spPr>
        <p:txBody>
          <a:bodyPr wrap="square" lIns="0" tIns="0" rIns="0" bIns="0" rtlCol="0" anchor="ctr"/>
          <a:lstStyle/>
          <a:p>
            <a:pPr algn="ctr" indent="0" marL="0">
              <a:buNone/>
            </a:pPr>
            <a:r>
              <a:rPr lang="en-US" sz="1800" b="1" dirty="0">
                <a:solidFill>
                  <a:schemeClr val="tx1"/>
                </a:solidFill>
              </a:rPr>
              <a:t>Fem-Arosa + Femina</a:t>
            </a:r>
            <a:endParaRPr lang="en-US" sz="1800" dirty="0"/>
          </a:p>
        </p:txBody>
      </p:sp>
      <p:sp>
        <p:nvSpPr>
          <p:cNvPr id="9" name="Text 4"/>
          <p:cNvSpPr txBox="1"/>
          <p:nvPr/>
        </p:nvSpPr>
        <p:spPr>
          <a:xfrm>
            <a:off x="731520" y="5029200"/>
            <a:ext cx="3200400" cy="868680"/>
          </a:xfrm>
          <a:prstGeom prst="rect">
            <a:avLst/>
          </a:prstGeom>
          <a:noFill/>
          <a:ln/>
        </p:spPr>
        <p:txBody>
          <a:bodyPr wrap="square" lIns="0" tIns="0" rIns="0" bIns="0" rtlCol="0" anchor="t"/>
          <a:lstStyle/>
          <a:p>
            <a:pPr algn="ctr" indent="0" marL="0">
              <a:buNone/>
            </a:pPr>
            <a:r>
              <a:rPr lang="en-US" sz="1400" dirty="0">
                <a:solidFill>
                  <a:schemeClr val="accent5"/>
                </a:solidFill>
              </a:rPr>
              <a:t>Vitality from within + hygiene and protection outside</a:t>
            </a:r>
            <a:endParaRPr lang="en-US" sz="1400" dirty="0"/>
          </a:p>
        </p:txBody>
      </p:sp>
      <p:sp>
        <p:nvSpPr>
          <p:cNvPr id="10" name="Shape 5"/>
          <p:cNvSpPr/>
          <p:nvPr/>
        </p:nvSpPr>
        <p:spPr>
          <a:xfrm>
            <a:off x="4297680" y="1325880"/>
            <a:ext cx="3566160" cy="4754880"/>
          </a:xfrm>
          <a:prstGeom prst="roundRect">
            <a:avLst>
              <a:gd name="adj" fmla="val 3077"/>
            </a:avLst>
          </a:prstGeom>
          <a:solidFill>
            <a:schemeClr val="accent2">
              <a:alpha val="10000"/>
            </a:schemeClr>
          </a:solidFill>
          <a:ln w="9525">
            <a:solidFill>
              <a:schemeClr val="accent2">
                <a:alpha val="25000"/>
              </a:schemeClr>
            </a:solidFill>
            <a:prstDash val="solid"/>
          </a:ln>
        </p:spPr>
      </p:sp>
      <p:sp>
        <p:nvSpPr>
          <p:cNvPr id="11" name="Text 6"/>
          <p:cNvSpPr txBox="1"/>
          <p:nvPr/>
        </p:nvSpPr>
        <p:spPr>
          <a:xfrm>
            <a:off x="4297680" y="1463040"/>
            <a:ext cx="3566160" cy="457200"/>
          </a:xfrm>
          <a:prstGeom prst="rect">
            <a:avLst/>
          </a:prstGeom>
          <a:noFill/>
          <a:ln/>
        </p:spPr>
        <p:txBody>
          <a:bodyPr wrap="square" lIns="0" tIns="0" rIns="0" bIns="0" rtlCol="0" anchor="ctr"/>
          <a:lstStyle/>
          <a:p>
            <a:pPr algn="ctr" indent="0" marL="0">
              <a:buNone/>
            </a:pPr>
            <a:r>
              <a:rPr lang="en-US" sz="1800" b="1" dirty="0">
                <a:solidFill>
                  <a:schemeClr val="accent2"/>
                </a:solidFill>
              </a:rPr>
              <a:t>Dermatology clinic</a:t>
            </a:r>
            <a:endParaRPr lang="en-US" sz="1800" dirty="0"/>
          </a:p>
        </p:txBody>
      </p:sp>
      <p:pic>
        <p:nvPicPr>
          <p:cNvPr id="12" name="octo image" descr="preencoded.png">    </p:cNvPr>
          <p:cNvPicPr>
            <a:picLocks noChangeAspect="1"/>
          </p:cNvPicPr>
          <p:nvPr/>
        </p:nvPicPr>
        <p:blipFill>
          <a:blip r:embed="rId3"/>
          <a:stretch>
            <a:fillRect/>
          </a:stretch>
        </p:blipFill>
        <p:spPr>
          <a:xfrm>
            <a:off x="4572000" y="2227961"/>
            <a:ext cx="1417320" cy="1944878"/>
          </a:xfrm>
          <a:prstGeom prst="rect">
            <a:avLst/>
          </a:prstGeom>
        </p:spPr>
      </p:pic>
      <p:pic>
        <p:nvPicPr>
          <p:cNvPr id="13" name="epanthen image" descr="preencoded.png">    </p:cNvPr>
          <p:cNvPicPr>
            <a:picLocks noChangeAspect="1"/>
          </p:cNvPicPr>
          <p:nvPr/>
        </p:nvPicPr>
        <p:blipFill>
          <a:blip r:embed="rId4"/>
          <a:stretch>
            <a:fillRect/>
          </a:stretch>
        </p:blipFill>
        <p:spPr>
          <a:xfrm>
            <a:off x="6080760" y="2499614"/>
            <a:ext cx="1417320" cy="1401572"/>
          </a:xfrm>
          <a:prstGeom prst="rect">
            <a:avLst/>
          </a:prstGeom>
        </p:spPr>
      </p:pic>
      <p:sp>
        <p:nvSpPr>
          <p:cNvPr id="14" name="Text 7"/>
          <p:cNvSpPr txBox="1"/>
          <p:nvPr/>
        </p:nvSpPr>
        <p:spPr>
          <a:xfrm>
            <a:off x="4297680" y="4526280"/>
            <a:ext cx="3566160" cy="457200"/>
          </a:xfrm>
          <a:prstGeom prst="rect">
            <a:avLst/>
          </a:prstGeom>
          <a:noFill/>
          <a:ln/>
        </p:spPr>
        <p:txBody>
          <a:bodyPr wrap="square" lIns="0" tIns="0" rIns="0" bIns="0" rtlCol="0" anchor="ctr"/>
          <a:lstStyle/>
          <a:p>
            <a:pPr algn="ctr" indent="0" marL="0">
              <a:buNone/>
            </a:pPr>
            <a:r>
              <a:rPr lang="en-US" sz="1800" b="1" dirty="0">
                <a:solidFill>
                  <a:schemeClr val="tx1"/>
                </a:solidFill>
              </a:rPr>
              <a:t>Octo + E-Panthen</a:t>
            </a:r>
            <a:endParaRPr lang="en-US" sz="1800" dirty="0"/>
          </a:p>
        </p:txBody>
      </p:sp>
      <p:sp>
        <p:nvSpPr>
          <p:cNvPr id="15" name="Text 8"/>
          <p:cNvSpPr txBox="1"/>
          <p:nvPr/>
        </p:nvSpPr>
        <p:spPr>
          <a:xfrm>
            <a:off x="4480560" y="5029200"/>
            <a:ext cx="3200400" cy="868680"/>
          </a:xfrm>
          <a:prstGeom prst="rect">
            <a:avLst/>
          </a:prstGeom>
          <a:noFill/>
          <a:ln/>
        </p:spPr>
        <p:txBody>
          <a:bodyPr wrap="square" lIns="0" tIns="0" rIns="0" bIns="0" rtlCol="0" anchor="t"/>
          <a:lstStyle/>
          <a:p>
            <a:pPr algn="ctr" indent="0" marL="0">
              <a:buNone/>
            </a:pPr>
            <a:r>
              <a:rPr lang="en-US" sz="1400" dirty="0">
                <a:solidFill>
                  <a:schemeClr val="accent5"/>
                </a:solidFill>
              </a:rPr>
              <a:t>A clean scalp + moisturised skin</a:t>
            </a:r>
            <a:endParaRPr lang="en-US" sz="1400" dirty="0"/>
          </a:p>
        </p:txBody>
      </p:sp>
      <p:sp>
        <p:nvSpPr>
          <p:cNvPr id="16" name="Shape 9"/>
          <p:cNvSpPr/>
          <p:nvPr/>
        </p:nvSpPr>
        <p:spPr>
          <a:xfrm>
            <a:off x="8046720" y="1325880"/>
            <a:ext cx="3566160" cy="4754880"/>
          </a:xfrm>
          <a:prstGeom prst="roundRect">
            <a:avLst>
              <a:gd name="adj" fmla="val 3077"/>
            </a:avLst>
          </a:prstGeom>
          <a:solidFill>
            <a:schemeClr val="accent3">
              <a:alpha val="10000"/>
            </a:schemeClr>
          </a:solidFill>
          <a:ln w="9525">
            <a:solidFill>
              <a:schemeClr val="accent3">
                <a:alpha val="25000"/>
              </a:schemeClr>
            </a:solidFill>
            <a:prstDash val="solid"/>
          </a:ln>
        </p:spPr>
      </p:sp>
      <p:sp>
        <p:nvSpPr>
          <p:cNvPr id="17" name="Text 10"/>
          <p:cNvSpPr txBox="1"/>
          <p:nvPr/>
        </p:nvSpPr>
        <p:spPr>
          <a:xfrm>
            <a:off x="8046720" y="1463040"/>
            <a:ext cx="3566160" cy="457200"/>
          </a:xfrm>
          <a:prstGeom prst="rect">
            <a:avLst/>
          </a:prstGeom>
          <a:noFill/>
          <a:ln/>
        </p:spPr>
        <p:txBody>
          <a:bodyPr wrap="square" lIns="0" tIns="0" rIns="0" bIns="0" rtlCol="0" anchor="ctr"/>
          <a:lstStyle/>
          <a:p>
            <a:pPr algn="ctr" indent="0" marL="0">
              <a:buNone/>
            </a:pPr>
            <a:r>
              <a:rPr lang="en-US" sz="1800" b="1" dirty="0">
                <a:solidFill>
                  <a:schemeClr val="accent3"/>
                </a:solidFill>
              </a:rPr>
              <a:t>Several clinics</a:t>
            </a:r>
            <a:endParaRPr lang="en-US" sz="1800" dirty="0"/>
          </a:p>
        </p:txBody>
      </p:sp>
      <p:pic>
        <p:nvPicPr>
          <p:cNvPr id="18" name="mebonol image" descr="preencoded.png">    </p:cNvPr>
          <p:cNvPicPr>
            <a:picLocks noChangeAspect="1"/>
          </p:cNvPicPr>
          <p:nvPr/>
        </p:nvPicPr>
        <p:blipFill>
          <a:blip r:embed="rId5"/>
          <a:stretch>
            <a:fillRect/>
          </a:stretch>
        </p:blipFill>
        <p:spPr>
          <a:xfrm>
            <a:off x="8321040" y="2611933"/>
            <a:ext cx="2926080" cy="1176934"/>
          </a:xfrm>
          <a:prstGeom prst="rect">
            <a:avLst/>
          </a:prstGeom>
        </p:spPr>
      </p:pic>
      <p:sp>
        <p:nvSpPr>
          <p:cNvPr id="19" name="Text 11"/>
          <p:cNvSpPr txBox="1"/>
          <p:nvPr/>
        </p:nvSpPr>
        <p:spPr>
          <a:xfrm>
            <a:off x="8046720" y="4526280"/>
            <a:ext cx="3566160" cy="457200"/>
          </a:xfrm>
          <a:prstGeom prst="rect">
            <a:avLst/>
          </a:prstGeom>
          <a:noFill/>
          <a:ln/>
        </p:spPr>
        <p:txBody>
          <a:bodyPr wrap="square" lIns="0" tIns="0" rIns="0" bIns="0" rtlCol="0" anchor="ctr"/>
          <a:lstStyle/>
          <a:p>
            <a:pPr algn="ctr" indent="0" marL="0">
              <a:buNone/>
            </a:pPr>
            <a:r>
              <a:rPr lang="en-US" sz="1800" b="1" dirty="0">
                <a:solidFill>
                  <a:schemeClr val="tx1"/>
                </a:solidFill>
              </a:rPr>
              <a:t>Mebonol</a:t>
            </a:r>
            <a:endParaRPr lang="en-US" sz="1800" dirty="0"/>
          </a:p>
        </p:txBody>
      </p:sp>
      <p:sp>
        <p:nvSpPr>
          <p:cNvPr id="20" name="Text 12"/>
          <p:cNvSpPr txBox="1"/>
          <p:nvPr/>
        </p:nvSpPr>
        <p:spPr>
          <a:xfrm>
            <a:off x="8229600" y="5029200"/>
            <a:ext cx="3200400" cy="868680"/>
          </a:xfrm>
          <a:prstGeom prst="rect">
            <a:avLst/>
          </a:prstGeom>
          <a:noFill/>
          <a:ln/>
        </p:spPr>
        <p:txBody>
          <a:bodyPr wrap="square" lIns="0" tIns="0" rIns="0" bIns="0" rtlCol="0" anchor="t"/>
          <a:lstStyle/>
          <a:p>
            <a:pPr algn="ctr" indent="0" marL="0">
              <a:buNone/>
            </a:pPr>
            <a:r>
              <a:rPr lang="en-US" sz="1400" dirty="0">
                <a:solidFill>
                  <a:schemeClr val="accent5"/>
                </a:solidFill>
              </a:rPr>
              <a:t>Gyn (nipple fissures) · Pediatrics (diaper rash) · Derm</a:t>
            </a:r>
            <a:endParaRPr lang="en-US" sz="1400" dirty="0"/>
          </a:p>
        </p:txBody>
      </p:sp>
      <p:sp>
        <p:nvSpPr>
          <p:cNvPr id="25" name="Slide Number Placeholder 0"/>
          <p:cNvSpPr>
            <a:spLocks noGrp="1"/>
          </p:cNvSpPr>
          <p:nvPr>
            <p:ph type="sldNum" sz="quarter" idx="4294967295"/>
          </p:nvPr>
        </p:nvSpPr>
        <p:spPr>
          <a:xfrm>
            <a:off x="5806440" y="630936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ct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64240" cy="1188720"/>
          </a:xfrm>
          <a:prstGeom prst="rect">
            <a:avLst/>
          </a:prstGeom>
          <a:noFill/>
          <a:ln/>
        </p:spPr>
        <p:txBody>
          <a:bodyPr wrap="square" rtlCol="0" anchor="b"/>
          <a:lstStyle/>
          <a:p>
            <a:pPr algn="l" indent="0" marL="0">
              <a:buNone/>
            </a:pPr>
            <a:r>
              <a:rPr lang="en-US" sz="4400" b="1" dirty="0">
                <a:solidFill>
                  <a:schemeClr val="bg1"/>
                </a:solidFill>
              </a:rPr>
              <a:t>Thank you — questions?</a:t>
            </a:r>
            <a:endParaRPr lang="en-US" sz="4400" dirty="0"/>
          </a:p>
        </p:txBody>
      </p:sp>
      <p:sp>
        <p:nvSpPr>
          <p:cNvPr id="4" name="Text 1"/>
          <p:cNvSpPr txBox="1"/>
          <p:nvPr/>
        </p:nvSpPr>
        <p:spPr>
          <a:xfrm>
            <a:off x="548640" y="3246120"/>
            <a:ext cx="11064240" cy="548640"/>
          </a:xfrm>
          <a:prstGeom prst="rect">
            <a:avLst/>
          </a:prstGeom>
          <a:noFill/>
          <a:ln/>
        </p:spPr>
        <p:txBody>
          <a:bodyPr wrap="square" rtlCol="0" anchor="ctr"/>
          <a:lstStyle/>
          <a:p>
            <a:pPr algn="l" indent="0" marL="0">
              <a:buNone/>
            </a:pPr>
            <a:r>
              <a:rPr lang="en-US" sz="2000" dirty="0">
                <a:solidFill>
                  <a:schemeClr val="bg1"/>
                </a:solidFill>
              </a:rPr>
              <a:t>Areej Najd Est. for Cosmetics &amp; Medical Supplies</a:t>
            </a:r>
            <a:endParaRPr lang="en-US" sz="2000" dirty="0"/>
          </a:p>
        </p:txBody>
      </p:sp>
      <p:sp>
        <p:nvSpPr>
          <p:cNvPr id="5" name="Shape 2"/>
          <p:cNvSpPr/>
          <p:nvPr/>
        </p:nvSpPr>
        <p:spPr>
          <a:xfrm>
            <a:off x="10241280" y="457200"/>
            <a:ext cx="1371600" cy="1051560"/>
          </a:xfrm>
          <a:prstGeom prst="roundRect">
            <a:avLst>
              <a:gd name="adj" fmla="val 10435"/>
            </a:avLst>
          </a:prstGeom>
          <a:solidFill>
            <a:schemeClr val="bg1"/>
          </a:solidFill>
          <a:ln w="12700">
            <a:solidFill>
              <a:schemeClr val="bg1"/>
            </a:solidFill>
            <a:prstDash val="solid"/>
          </a:ln>
        </p:spPr>
      </p:sp>
      <p:pic>
        <p:nvPicPr>
          <p:cNvPr id="6" name="logo" descr="preencoded.png">    </p:cNvPr>
          <p:cNvPicPr>
            <a:picLocks noChangeAspect="1"/>
          </p:cNvPicPr>
          <p:nvPr/>
        </p:nvPicPr>
        <p:blipFill>
          <a:blip r:embed="rId1"/>
          <a:stretch>
            <a:fillRect/>
          </a:stretch>
        </p:blipFill>
        <p:spPr>
          <a:xfrm>
            <a:off x="10351008" y="530352"/>
            <a:ext cx="1170432" cy="877824"/>
          </a:xfrm>
          <a:prstGeom prst="rect">
            <a:avLst/>
          </a:prstGeom>
        </p:spPr>
      </p:pic>
    </p:spTree>
  </p:cSld>
  <p:clrMapOvr>
    <a:masterClrMapping/>
  </p:clrMapOvr>
</p:sld>
</file>

<file path=ppt/theme/theme1.xml><?xml version="1.0" encoding="utf-8"?>
<a:theme xmlns:a="http://schemas.openxmlformats.org/drawingml/2006/main" name="Areej Najd Training">
  <a:themeElements>
    <a:clrScheme name="Areej Najd Training">
      <a:dk1>
        <a:srgbClr val="1D232B"/>
      </a:dk1>
      <a:lt1>
        <a:srgbClr val="FFFFFF"/>
      </a:lt1>
      <a:dk2>
        <a:srgbClr val="1F3B63"/>
      </a:dk2>
      <a:lt2>
        <a:srgbClr val="F3F5F9"/>
      </a:lt2>
      <a:accent1>
        <a:srgbClr val="6D1F5E"/>
      </a:accent1>
      <a:accent2>
        <a:srgbClr val="11686B"/>
      </a:accent2>
      <a:accent3>
        <a:srgbClr val="9B1C31"/>
      </a:accent3>
      <a:accent4>
        <a:srgbClr val="C27A12"/>
      </a:accent4>
      <a:accent5>
        <a:srgbClr val="5A636D"/>
      </a:accent5>
      <a:accent6>
        <a:srgbClr val="2E7D32"/>
      </a:accent6>
      <a:hlink>
        <a:srgbClr val="1F3B63"/>
      </a:hlink>
      <a:folHlink>
        <a:srgbClr val="6D1F5E"/>
      </a:folHlink>
    </a:clrScheme>
    <a:fontScheme name="Areej Najd Trai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Areej Najd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Rep Product Training</dc:title>
  <dc:subject>PptxGenJS Presentation</dc:subject>
  <dc:creator>PptxGenJS</dc:creator>
  <cp:lastModifiedBy>PptxGenJS</cp:lastModifiedBy>
  <cp:revision>1</cp:revision>
  <dcterms:created xsi:type="dcterms:W3CDTF">2026-10-21T09:57:35Z</dcterms:created>
  <dcterms:modified xsi:type="dcterms:W3CDTF">2026-10-21T09:57:35Z</dcterms:modified>
</cp:coreProperties>
</file>