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notesMasterIdLst>
    <p:notesMasterId r:id="rId3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البداية" id="{d8590aa0-ded1-5cff-4f17-bc7314645326}">
          <p14:sldIdLst>
            <p14:sldId id="256"/>
            <p14:sldId id="257"/>
          </p14:sldIdLst>
        </p14:section>
        <p14:section name="صحة المرأة" id="{a34b8d45-4485-a38c-e972-6d50c3eebf99}">
          <p14:sldIdLst>
            <p14:sldId id="258"/>
            <p14:sldId id="259"/>
            <p14:sldId id="260"/>
            <p14:sldId id="261"/>
            <p14:sldId id="262"/>
            <p14:sldId id="263"/>
            <p14:sldId id="264"/>
            <p14:sldId id="265"/>
            <p14:sldId id="266"/>
          </p14:sldIdLst>
        </p14:section>
        <p14:section name="الجلدية والشعر" id="{8c46c2d8-abc5-3ba5-86f5-110f30746a15}">
          <p14:sldIdLst>
            <p14:sldId id="267"/>
            <p14:sldId id="268"/>
            <p14:sldId id="269"/>
            <p14:sldId id="270"/>
            <p14:sldId id="271"/>
            <p14:sldId id="272"/>
            <p14:sldId id="273"/>
            <p14:sldId id="274"/>
            <p14:sldId id="275"/>
          </p14:sldIdLst>
        </p14:section>
        <p14:section name="العناية بالبشرة" id="{10901751-c58e-8da2-a656-78ec90b2a50b}">
          <p14:sldIdLst>
            <p14:sldId id="276"/>
            <p14:sldId id="277"/>
            <p14:sldId id="278"/>
            <p14:sldId id="279"/>
            <p14:sldId id="280"/>
          </p14:sldIdLst>
        </p14:section>
        <p14:section name="الخلاصة" id="{d88aab61-4eb0-b2dc-5727-a376b7c78378}">
          <p14:sldIdLst>
            <p14:sldId id="281"/>
            <p14:sldId id="282"/>
            <p14:sldId id="28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notesMaster" Target="notesMasters/notesMaster1.xml"/><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heme" Target="theme/theme1.xml"/><Relationship Id="rId3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رحّب بالمناديب. الهدف من التدريب: إن كل مندوب يعرف كل منتج من الخمسة: هو إيه، مكوّناته بتعمل إيه، الدليل العلمي، لمين، وإزاي يتعرض على الطبيب. ميموري بوست له تدريب منفصل.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المنتجات متقسّمة حسب العيادة اللي هيزورها المندوب. كل منتجين في نفس العيادة بيتعرضوا مع بعض (Cross-selling): فيم-أروزا مع فيمينا عند النسا، وأوكتو مع إي-بانثين عند الجلدية.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فيم-أروزا مكمل غذائي مسجّل في هيئة الغذاء والدواء كمنتج غذائي، للستات فوق 18 سنة. اتأكد إن المندوب حافظ رقم التسجيل والباركود عشان الصيدليات بتسأل عليهم. السعر للجمهور 49 ريال غير شامل الضريبة.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اشرح المكونات على 4 مجموعات بدل ما المندوب يحفظ 12 اسم: (1) الأرجينين لتدفق الدم، (2) أعشاب الحيوية والرغبة، (3) أعشاب الدورة الدموية والطاقة، (4) فيتامينات. المهم إن المندوب يقدر يقول ليه كل مكوّن موجود.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وضّح للمندوب إن الدراسات دي على المكونات أو تركيبات شبيهة، مش على فيم-أروزا نفسه، وإن الجرعات في الدراسات ممكن تختلف. أقوى رقم يستخدمه: دراسة Ito سنة 2001 على تركيبة الأرجينين والجنسنج والجنكة والدميانا: 73.5% من السيدات حسّوا بتحسن مقابل 37.2% على الدواء الوهمي.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الطبيب المستهدف: النسا والتوليد أولاً، وبعدين الصيدليات. الرسالة الأساسية: تركيبة متكاملة في منتج واحد بدل أكتر من مكمل. لو الطبيب سأل عن الحمل: مش موصى به في الحمل والرضاعة. لو سأل عن الجرعة: حسب الإرشادات المكتوبة على العبوة.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فيمينا مستحضر عناية (Cosmetic) مخطَر في الهيئة، مش دواء. يعني نقدر نقول تنظيف وتهدئة وترطيب ورائحة منعشة، لكن منقولش "علاج التهابات". السعر 65 ريال غير شامل الضريبة.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الشريحة دي هي أساس إقناع الطبيب: البيئة المهبلية السليمة حمضية بسبب اللاكتوباسيلاي. الصابون العادي قلوي وبيخرّب التوازن ده. فيمينا متظبط على pH 3.5–4.5 عشان يحافظ عليه.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قسّم التركيبة لأربع أدوار. الأرقام المكتوبة هي نسب المصنع الفعلية. نقطة مهمة: كلورهيكسيدين 0.2% مع زيوت شجرة الشاي والزعتر والنيم بيدّوا إحساس النظافة والحماية، والبابونج والبيسابولول بيهدّوا الحكة.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ركّز على المواقف اليومية اللي الست محتاجة فيها غسول آمن: الدورة، الحمل، بعد الولادة، وجفاف سن انقطاع الطمث. ولو الطبيب كاتب علاج لالتهاب، فيمينا بيبقى للنظافة اليومية جنب العلاج، مش بديل عنه.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أوكتو مستحضر عناية بالشعر وفروة الراس، مخطَر في الهيئة. أهم ميزة: 4 مواد فعالة ضد القشرة في شامبو واحد. السعر 55 ريال غير شامل الضريبة.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القشرة حالة مزمنة بنسيطر عليها وما بنعالجهاش نهائي، وده اللي بيخلّي المريض محتاج شامبو يستخدمه علطول. السبب الأساسي فطر المالاسيزيا اللي بيكسّر الدهون، ومنها بيحصل تهيّج وتقشر زايد.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دي أقوى شريحة في أوكتو: أغلب الشامبوهات المنافسة فيها مادة أو اتنين، وأوكتو فيه أربعة، ومعاهم زيوت طبيعية بتهدّي الحكة وترطب الشعر. الأوكتوبيروكس بيلتصق بكيراتين الشعر، وده بيقلّل رجوع القشرة.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التلات دراسات على المواد الفعالة. دراسة شجرة الشاي كانت بتركيز 5%، وأوكتو فيه 1%. الفكرة إن الزيت نفسه له فعالية مثبتة، وفي أوكتو هو مكوّن داعم جنب الأربع مواد الأساسية.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اشرح النظامين: علاجي 3 أسابيع، ووقائي بعدها. نبّه المندوب يشرح للمريض يسيب الرغوة 3–5 دقايق قبل الشطف عشان المواد الفعالة تشتغل. الربط مع إي-بانثين: الدكتور اللي بيكتب أوكتو غالباً عنده مرضى جلدهم جاف.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إي-بانثين كريم مرطب، مستحضر عناية مخطَر في الهيئة تحت علامة Dr Organic. ميزته الأساسية: تركيز 5% دي-بانثينول مكتوب على العبوة، ومعاه فيتامين E والسيراميد. السعر 30 ريال، وده سعر قوي للمنافسة.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عشر مكونات بنسب المصنع. ابدأ بالأهم: البانثينول 5% بيتحول في الجلد لحمض البانتوثينيك وبيرطّب ويرمّم الحاجز. بعده السيراميد اللي بيرجّع دهون الحاجز، وفيتامين E مضاد أكسدة.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الاستخدامات حسب النشرة: جلد متعب ومتهيّج لكن سليم (مش جروح مفتوحة). الدراسات على البانثينول قوية: دراسة Gehring سنة 2000 اللي هي مزدوجة التعمية، ومراجعة Proksch سنة 2017.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ميبونول مستحضر عناية مخطَر في الهيئة. بنقدّمه كدعم لتعافي البشرة المتشققة والمتهيجة. منقولش إنه بيعالج القدم السكري أو قرح الفراش، لأن دي ادعاءات علاجية مش مسموحة لمستحضر تجميل. السعر 55 ريال غير شامل الضريبة.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بدل ما المندوب يحفظ 17 اسم، يحفظ 4 وظايف: يدعم الالتئام، مضاد للعدوى، مضاد للالتهاب، ومهدّئ ومطرّي. بعض المكونات زي فيتامين E والبروبوليس والصبار بتعمل أكتر من وظيفة.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اشرح المراحل الأربع بالترتيب، وفي كل مرحلة قول المكوّن اللي بيساعد. ده بيدّي الطبيب صورة علمية إن التركيبة مبنية على فهم طريقة تعافي الجلد.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أقوى دليل: مراجعة Cochrane عن العسل في الحروق السطحية، اتعملت على 992 مريض وبجودة دليل عالية. دراسة الكالندولا كانت على حيوانات تجارب، فقولها كدراسة تجريبية. الاستخدامات اللي نقولها: تشققات الكعب، تشققات الحلمة، طفح الحفاض، الحروق البسيطة، الجروح السطحية، والجلد الجاف والمتقشر.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ملخص للمراجعة السريعة. اطلب من كل مندوب يقول الـ Key Selling Point لكل منتج من الذاكرة قبل ما يخرج للزيارات.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الرسالة الأخيرة: المندوب ما يدخلش عيادة بمنتج واحد. عند النسا: فيم-أروزا مع فيمينا. عند الجلدية: أوكتو مع إي-بانثين. وميبونول ممكن يتعرض في الجلدية والنسا (تشققات الحلمة) وعند الأطفال (طفح الحفاض).</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افتح باب الأسئلة، وبعدين اعمل اختبار سريع: كل مندوب يقول الـ Key Selling Point والتصنيف والسعر لمنتج يختاره المدرّب.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jpe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011680"/>
            <a:ext cx="11064240" cy="1188720"/>
          </a:xfrm>
          <a:prstGeom prst="rect">
            <a:avLst/>
          </a:prstGeom>
          <a:noFill/>
          <a:ln/>
        </p:spPr>
        <p:txBody>
          <a:bodyPr wrap="square" rtlCol="0"/>
          <a:lstStyle>
            <a:lvl1pPr rtl="1" algn="r" indent="0" marL="0">
              <a:buNone/>
              <a:defRPr lang="en-US" sz="4400" b="1" dirty="0">
                <a:solidFill>
                  <a:schemeClr val="bg1"/>
                </a:solidFill>
              </a:defRPr>
            </a:lvl1pPr>
          </a:lstStyle>
          <a:p>
            <a:pPr algn="r" indent="0" marL="0">
              <a:buNone/>
            </a:pPr>
            <a:endParaRPr lang="en-US" sz="4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IVIDER">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120640" y="2194560"/>
            <a:ext cx="6492240" cy="1097280"/>
          </a:xfrm>
          <a:prstGeom prst="rect">
            <a:avLst/>
          </a:prstGeom>
          <a:noFill/>
          <a:ln/>
        </p:spPr>
        <p:txBody>
          <a:bodyPr wrap="square" rtlCol="0"/>
          <a:lstStyle>
            <a:lvl1pPr rtl="1" algn="r" indent="0" marL="0">
              <a:buNone/>
              <a:defRPr lang="en-US" sz="4400" b="1" dirty="0">
                <a:solidFill>
                  <a:schemeClr val="bg1"/>
                </a:solidFill>
              </a:defRPr>
            </a:lvl1pPr>
          </a:lstStyle>
          <a:p>
            <a:pPr algn="r" indent="0" marL="0">
              <a:buNone/>
            </a:pPr>
            <a:endParaRPr lang="en-US" sz="44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11480" y="6263640"/>
            <a:ext cx="548640" cy="411480"/>
          </a:xfrm>
          <a:prstGeom prst="rect">
            <a:avLst/>
          </a:prstGeom>
        </p:spPr>
      </p:pic>
      <p:sp>
        <p:nvSpPr>
          <p:cNvPr id="3" name="Text 0"/>
          <p:cNvSpPr/>
          <p:nvPr/>
        </p:nvSpPr>
        <p:spPr>
          <a:xfrm>
            <a:off x="7132320" y="6309360"/>
            <a:ext cx="4480560" cy="320040"/>
          </a:xfrm>
          <a:prstGeom prst="rect">
            <a:avLst/>
          </a:prstGeom>
          <a:noFill/>
          <a:ln/>
        </p:spPr>
        <p:txBody>
          <a:bodyPr wrap="square" rtlCol="0" anchor="ctr"/>
          <a:lstStyle/>
          <a:p>
            <a:pPr algn="r" indent="0" marL="0">
              <a:buNone/>
            </a:pPr>
            <a:r>
              <a:rPr lang="en-US" sz="1000" dirty="0">
                <a:solidFill>
                  <a:schemeClr val="accent5"/>
                </a:solidFill>
              </a:rPr>
              <a:t>مؤسسة أريج نجد — تدريب المناديب</a:t>
            </a:r>
            <a:endParaRPr lang="en-US" sz="1000" dirty="0"/>
          </a:p>
        </p:txBody>
      </p:sp>
      <p:sp>
        <p:nvSpPr>
          <p:cNvPr id="4" name="Text 1"/>
          <p:cNvSpPr/>
          <p:nvPr>
            <p:ph idx="102" type="title" hasCustomPrompt="1"/>
          </p:nvPr>
        </p:nvSpPr>
        <p:spPr>
          <a:xfrm>
            <a:off x="548640" y="320040"/>
            <a:ext cx="11064240" cy="777240"/>
          </a:xfrm>
          <a:prstGeom prst="rect">
            <a:avLst/>
          </a:prstGeom>
          <a:noFill/>
          <a:ln/>
        </p:spPr>
        <p:txBody>
          <a:bodyPr wrap="square" rtlCol="0"/>
          <a:lstStyle>
            <a:lvl1pPr rtl="1" algn="r" indent="0" marL="0">
              <a:buNone/>
              <a:defRPr lang="en-US" sz="3200" b="1" dirty="0">
                <a:solidFill>
                  <a:schemeClr val="tx2"/>
                </a:solidFill>
              </a:defRPr>
            </a:lvl1pPr>
          </a:lstStyle>
          <a:p>
            <a:pPr algn="r" indent="0" marL="0">
              <a:buNone/>
            </a:pPr>
            <a:endParaRPr lang="en-US" sz="3200" dirty="0"/>
          </a:p>
        </p:txBody>
      </p:sp>
      <p:sp>
        <p:nvSpPr>
          <p:cNvPr id="25" name="Slide Number Placeholder 0"/>
          <p:cNvSpPr>
            <a:spLocks noGrp="1"/>
          </p:cNvSpPr>
          <p:nvPr>
            <p:ph type="sldNum" sz="quarter" idx="4294967295"/>
          </p:nvPr>
        </p:nvSpPr>
        <p:spPr>
          <a:xfrm>
            <a:off x="5806440" y="630936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ct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5806440" y="630936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ct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jpeg"/><Relationship Id="rId7" Type="http://schemas.openxmlformats.org/officeDocument/2006/relationships/slideLayout" Target="../slideLayouts/slideLayout2.xml"/><Relationship Id="rId8"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4.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3.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4.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4.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3.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4.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4.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3.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4.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image" Target="../media/image-27-4.png"/><Relationship Id="rId5" Type="http://schemas.openxmlformats.org/officeDocument/2006/relationships/image" Target="../media/image-27-5.png"/><Relationship Id="rId6" Type="http://schemas.openxmlformats.org/officeDocument/2006/relationships/slideLayout" Target="../slideLayouts/slideLayout4.xml"/><Relationship Id="rId7"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e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2011680"/>
            <a:ext cx="11064240" cy="1188720"/>
          </a:xfrm>
          <a:prstGeom prst="rect">
            <a:avLst/>
          </a:prstGeom>
          <a:noFill/>
          <a:ln/>
        </p:spPr>
        <p:txBody>
          <a:bodyPr wrap="square" rtlCol="0" anchor="b"/>
          <a:lstStyle/>
          <a:p>
            <a:pPr rtl="1" algn="r" indent="0" marL="0">
              <a:buNone/>
            </a:pPr>
            <a:r>
              <a:rPr lang="en-US" sz="4400" b="1" dirty="0">
                <a:solidFill>
                  <a:schemeClr val="bg1"/>
                </a:solidFill>
              </a:rPr>
              <a:t>تدريب المناديب على المنتجات</a:t>
            </a:r>
            <a:endParaRPr lang="en-US" sz="4400" dirty="0"/>
          </a:p>
        </p:txBody>
      </p:sp>
      <p:sp>
        <p:nvSpPr>
          <p:cNvPr id="4" name="Text 1"/>
          <p:cNvSpPr txBox="1"/>
          <p:nvPr/>
        </p:nvSpPr>
        <p:spPr>
          <a:xfrm>
            <a:off x="548640" y="3246120"/>
            <a:ext cx="11064240" cy="548640"/>
          </a:xfrm>
          <a:prstGeom prst="rect">
            <a:avLst/>
          </a:prstGeom>
          <a:noFill/>
          <a:ln/>
        </p:spPr>
        <p:txBody>
          <a:bodyPr wrap="square" rtlCol="0" anchor="ctr"/>
          <a:lstStyle/>
          <a:p>
            <a:pPr rtl="1" algn="r" indent="0" marL="0">
              <a:buNone/>
            </a:pPr>
            <a:r>
              <a:rPr lang="en-US" sz="2000" dirty="0">
                <a:solidFill>
                  <a:schemeClr val="bg1"/>
                </a:solidFill>
              </a:rPr>
              <a:t>خمس منتجات · صحة المرأة · الجلدية والشعر · العناية بالبشرة</a:t>
            </a:r>
            <a:endParaRPr lang="en-US" sz="2000" dirty="0"/>
          </a:p>
        </p:txBody>
      </p:sp>
      <p:sp>
        <p:nvSpPr>
          <p:cNvPr id="5" name="Shape 2"/>
          <p:cNvSpPr/>
          <p:nvPr/>
        </p:nvSpPr>
        <p:spPr>
          <a:xfrm>
            <a:off x="548640" y="4114800"/>
            <a:ext cx="11064240" cy="2194560"/>
          </a:xfrm>
          <a:prstGeom prst="roundRect">
            <a:avLst>
              <a:gd name="adj" fmla="val 8333"/>
            </a:avLst>
          </a:prstGeom>
          <a:solidFill>
            <a:schemeClr val="bg1"/>
          </a:solidFill>
          <a:ln w="12700">
            <a:solidFill>
              <a:schemeClr val="bg1"/>
            </a:solidFill>
            <a:prstDash val="solid"/>
          </a:ln>
        </p:spPr>
      </p:sp>
      <p:pic>
        <p:nvPicPr>
          <p:cNvPr id="6" name="mebonol image" descr="preencoded.png">    </p:cNvPr>
          <p:cNvPicPr>
            <a:picLocks noChangeAspect="1"/>
          </p:cNvPicPr>
          <p:nvPr/>
        </p:nvPicPr>
        <p:blipFill>
          <a:blip r:embed="rId1"/>
          <a:stretch>
            <a:fillRect/>
          </a:stretch>
        </p:blipFill>
        <p:spPr>
          <a:xfrm>
            <a:off x="822960" y="4825898"/>
            <a:ext cx="1920240" cy="772363"/>
          </a:xfrm>
          <a:prstGeom prst="rect">
            <a:avLst/>
          </a:prstGeom>
        </p:spPr>
      </p:pic>
      <p:pic>
        <p:nvPicPr>
          <p:cNvPr id="7" name="epanthen image" descr="preencoded.png">    </p:cNvPr>
          <p:cNvPicPr>
            <a:picLocks noChangeAspect="1"/>
          </p:cNvPicPr>
          <p:nvPr/>
        </p:nvPicPr>
        <p:blipFill>
          <a:blip r:embed="rId2"/>
          <a:stretch>
            <a:fillRect/>
          </a:stretch>
        </p:blipFill>
        <p:spPr>
          <a:xfrm>
            <a:off x="2971800" y="4262628"/>
            <a:ext cx="1920240" cy="1898904"/>
          </a:xfrm>
          <a:prstGeom prst="rect">
            <a:avLst/>
          </a:prstGeom>
        </p:spPr>
      </p:pic>
      <p:pic>
        <p:nvPicPr>
          <p:cNvPr id="8" name="octo image" descr="preencoded.png">    </p:cNvPr>
          <p:cNvPicPr>
            <a:picLocks noChangeAspect="1"/>
          </p:cNvPicPr>
          <p:nvPr/>
        </p:nvPicPr>
        <p:blipFill>
          <a:blip r:embed="rId3"/>
          <a:stretch>
            <a:fillRect/>
          </a:stretch>
        </p:blipFill>
        <p:spPr>
          <a:xfrm>
            <a:off x="5381077" y="4251960"/>
            <a:ext cx="1399365" cy="1920240"/>
          </a:xfrm>
          <a:prstGeom prst="rect">
            <a:avLst/>
          </a:prstGeom>
        </p:spPr>
      </p:pic>
      <p:pic>
        <p:nvPicPr>
          <p:cNvPr id="9" name="femina image" descr="preencoded.png">    </p:cNvPr>
          <p:cNvPicPr>
            <a:picLocks noChangeAspect="1"/>
          </p:cNvPicPr>
          <p:nvPr/>
        </p:nvPicPr>
        <p:blipFill>
          <a:blip r:embed="rId4"/>
          <a:stretch>
            <a:fillRect/>
          </a:stretch>
        </p:blipFill>
        <p:spPr>
          <a:xfrm>
            <a:off x="7613260" y="4251960"/>
            <a:ext cx="1232679" cy="1920240"/>
          </a:xfrm>
          <a:prstGeom prst="rect">
            <a:avLst/>
          </a:prstGeom>
        </p:spPr>
      </p:pic>
      <p:pic>
        <p:nvPicPr>
          <p:cNvPr id="10" name="femarosa image" descr="preencoded.png">    </p:cNvPr>
          <p:cNvPicPr>
            <a:picLocks noChangeAspect="1"/>
          </p:cNvPicPr>
          <p:nvPr/>
        </p:nvPicPr>
        <p:blipFill>
          <a:blip r:embed="rId5"/>
          <a:stretch>
            <a:fillRect/>
          </a:stretch>
        </p:blipFill>
        <p:spPr>
          <a:xfrm>
            <a:off x="9567832" y="4251960"/>
            <a:ext cx="1621216" cy="1920240"/>
          </a:xfrm>
          <a:prstGeom prst="rect">
            <a:avLst/>
          </a:prstGeom>
        </p:spPr>
      </p:pic>
      <p:sp>
        <p:nvSpPr>
          <p:cNvPr id="11" name="Shape 3"/>
          <p:cNvSpPr/>
          <p:nvPr/>
        </p:nvSpPr>
        <p:spPr>
          <a:xfrm>
            <a:off x="548640" y="457200"/>
            <a:ext cx="1371600" cy="1051560"/>
          </a:xfrm>
          <a:prstGeom prst="roundRect">
            <a:avLst>
              <a:gd name="adj" fmla="val 10435"/>
            </a:avLst>
          </a:prstGeom>
          <a:solidFill>
            <a:schemeClr val="bg1"/>
          </a:solidFill>
          <a:ln w="12700">
            <a:solidFill>
              <a:schemeClr val="bg1"/>
            </a:solidFill>
            <a:prstDash val="solid"/>
          </a:ln>
        </p:spPr>
      </p:sp>
      <p:pic>
        <p:nvPicPr>
          <p:cNvPr id="12" name="logo" descr="preencoded.png">    </p:cNvPr>
          <p:cNvPicPr>
            <a:picLocks noChangeAspect="1"/>
          </p:cNvPicPr>
          <p:nvPr/>
        </p:nvPicPr>
        <p:blipFill>
          <a:blip r:embed="rId6"/>
          <a:stretch>
            <a:fillRect/>
          </a:stretch>
        </p:blipFill>
        <p:spPr>
          <a:xfrm>
            <a:off x="658368" y="530352"/>
            <a:ext cx="1170432" cy="877824"/>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2" type="title" hasCustomPrompt="1"/>
          </p:nvPr>
        </p:nvSpPr>
        <p:spPr>
          <a:xfrm>
            <a:off x="548640" y="320040"/>
            <a:ext cx="11064240" cy="777240"/>
          </a:xfrm>
          <a:prstGeom prst="rect">
            <a:avLst/>
          </a:prstGeom>
          <a:noFill/>
          <a:ln/>
        </p:spPr>
        <p:txBody>
          <a:bodyPr wrap="square" rtlCol="0" anchor="ctr"/>
          <a:lstStyle/>
          <a:p>
            <a:pPr rtl="1" algn="r" indent="0" marL="0">
              <a:buNone/>
            </a:pPr>
            <a:r>
              <a:rPr lang="en-US" sz="3200" b="1" dirty="0">
                <a:solidFill>
                  <a:schemeClr val="tx2"/>
                </a:solidFill>
              </a:rPr>
              <a:t>محتوى التدريب</a:t>
            </a:r>
            <a:endParaRPr lang="en-US" sz="3200" dirty="0"/>
          </a:p>
        </p:txBody>
      </p:sp>
      <p:sp>
        <p:nvSpPr>
          <p:cNvPr id="4" name="Shape 1"/>
          <p:cNvSpPr/>
          <p:nvPr/>
        </p:nvSpPr>
        <p:spPr>
          <a:xfrm>
            <a:off x="8046720" y="1325880"/>
            <a:ext cx="3566160" cy="4754880"/>
          </a:xfrm>
          <a:prstGeom prst="roundRect">
            <a:avLst>
              <a:gd name="adj" fmla="val 3077"/>
            </a:avLst>
          </a:prstGeom>
          <a:solidFill>
            <a:schemeClr val="accent1">
              <a:alpha val="10000"/>
            </a:schemeClr>
          </a:solidFill>
          <a:ln w="9525">
            <a:solidFill>
              <a:schemeClr val="accent1">
                <a:alpha val="25000"/>
              </a:schemeClr>
            </a:solidFill>
            <a:prstDash val="solid"/>
          </a:ln>
        </p:spPr>
      </p:sp>
      <p:sp>
        <p:nvSpPr>
          <p:cNvPr id="5" name="Text 2"/>
          <p:cNvSpPr txBox="1"/>
          <p:nvPr/>
        </p:nvSpPr>
        <p:spPr>
          <a:xfrm>
            <a:off x="8229600" y="1463040"/>
            <a:ext cx="3200400" cy="457200"/>
          </a:xfrm>
          <a:prstGeom prst="rect">
            <a:avLst/>
          </a:prstGeom>
          <a:noFill/>
          <a:ln/>
        </p:spPr>
        <p:txBody>
          <a:bodyPr wrap="square" lIns="0" tIns="0" rIns="0" bIns="0" rtlCol="0" anchor="ctr"/>
          <a:lstStyle/>
          <a:p>
            <a:pPr rtl="1" algn="r" indent="0" marL="0">
              <a:buNone/>
            </a:pPr>
            <a:r>
              <a:rPr lang="en-US" sz="2000" b="1" dirty="0">
                <a:solidFill>
                  <a:schemeClr val="accent1"/>
                </a:solidFill>
              </a:rPr>
              <a:t>صحة المرأة</a:t>
            </a:r>
            <a:endParaRPr lang="en-US" sz="2000" dirty="0"/>
          </a:p>
        </p:txBody>
      </p:sp>
      <p:sp>
        <p:nvSpPr>
          <p:cNvPr id="6" name="Text 3"/>
          <p:cNvSpPr txBox="1"/>
          <p:nvPr/>
        </p:nvSpPr>
        <p:spPr>
          <a:xfrm>
            <a:off x="8229600" y="1920240"/>
            <a:ext cx="3200400" cy="365760"/>
          </a:xfrm>
          <a:prstGeom prst="rect">
            <a:avLst/>
          </a:prstGeom>
          <a:noFill/>
          <a:ln/>
        </p:spPr>
        <p:txBody>
          <a:bodyPr wrap="square" lIns="0" tIns="0" rIns="0" bIns="0" rtlCol="0" anchor="ctr"/>
          <a:lstStyle/>
          <a:p>
            <a:pPr rtl="1" algn="r" indent="0" marL="0">
              <a:buNone/>
            </a:pPr>
            <a:r>
              <a:rPr lang="en-US" sz="1200" dirty="0">
                <a:solidFill>
                  <a:schemeClr val="accent5"/>
                </a:solidFill>
              </a:rPr>
              <a:t>عيادات النساء والتوليد · الصيدليات</a:t>
            </a:r>
            <a:endParaRPr lang="en-US" sz="1200" dirty="0"/>
          </a:p>
        </p:txBody>
      </p:sp>
      <p:pic>
        <p:nvPicPr>
          <p:cNvPr id="7" name="femarosa image" descr="preencoded.png">    </p:cNvPr>
          <p:cNvPicPr>
            <a:picLocks noChangeAspect="1"/>
          </p:cNvPicPr>
          <p:nvPr/>
        </p:nvPicPr>
        <p:blipFill>
          <a:blip r:embed="rId1"/>
          <a:stretch>
            <a:fillRect/>
          </a:stretch>
        </p:blipFill>
        <p:spPr>
          <a:xfrm>
            <a:off x="8229600" y="2519274"/>
            <a:ext cx="1188720" cy="1407973"/>
          </a:xfrm>
          <a:prstGeom prst="rect">
            <a:avLst/>
          </a:prstGeom>
        </p:spPr>
      </p:pic>
      <p:sp>
        <p:nvSpPr>
          <p:cNvPr id="8" name="Text 4"/>
          <p:cNvSpPr txBox="1"/>
          <p:nvPr/>
        </p:nvSpPr>
        <p:spPr>
          <a:xfrm>
            <a:off x="9509760" y="2743200"/>
            <a:ext cx="1920240" cy="411480"/>
          </a:xfrm>
          <a:prstGeom prst="rect">
            <a:avLst/>
          </a:prstGeom>
          <a:noFill/>
          <a:ln/>
        </p:spPr>
        <p:txBody>
          <a:bodyPr wrap="square" lIns="0" tIns="0" rIns="0" bIns="0" rtlCol="0" anchor="ctr"/>
          <a:lstStyle/>
          <a:p>
            <a:pPr algn="r" indent="0" marL="0">
              <a:buNone/>
            </a:pPr>
            <a:r>
              <a:rPr lang="en-US" sz="1800" b="1" dirty="0">
                <a:solidFill>
                  <a:schemeClr val="tx1"/>
                </a:solidFill>
              </a:rPr>
              <a:t>Fem-Arosa</a:t>
            </a:r>
            <a:endParaRPr lang="en-US" sz="1800" dirty="0"/>
          </a:p>
        </p:txBody>
      </p:sp>
      <p:sp>
        <p:nvSpPr>
          <p:cNvPr id="9" name="Text 5"/>
          <p:cNvSpPr txBox="1"/>
          <p:nvPr/>
        </p:nvSpPr>
        <p:spPr>
          <a:xfrm>
            <a:off x="9509760" y="3200400"/>
            <a:ext cx="1920240" cy="640080"/>
          </a:xfrm>
          <a:prstGeom prst="rect">
            <a:avLst/>
          </a:prstGeom>
          <a:noFill/>
          <a:ln/>
        </p:spPr>
        <p:txBody>
          <a:bodyPr wrap="square" lIns="0" tIns="0" rIns="0" bIns="0" rtlCol="0" anchor="t"/>
          <a:lstStyle/>
          <a:p>
            <a:pPr rtl="1" algn="r" indent="0" marL="0">
              <a:buNone/>
            </a:pPr>
            <a:r>
              <a:rPr lang="en-US" sz="1300" dirty="0">
                <a:solidFill>
                  <a:schemeClr val="accent5"/>
                </a:solidFill>
              </a:rPr>
              <a:t>مكمل غذائي · نقط 30 مل</a:t>
            </a:r>
            <a:endParaRPr lang="en-US" sz="1300" dirty="0"/>
          </a:p>
        </p:txBody>
      </p:sp>
      <p:pic>
        <p:nvPicPr>
          <p:cNvPr id="10" name="femina image" descr="preencoded.png">    </p:cNvPr>
          <p:cNvPicPr>
            <a:picLocks noChangeAspect="1"/>
          </p:cNvPicPr>
          <p:nvPr/>
        </p:nvPicPr>
        <p:blipFill>
          <a:blip r:embed="rId2"/>
          <a:stretch>
            <a:fillRect/>
          </a:stretch>
        </p:blipFill>
        <p:spPr>
          <a:xfrm>
            <a:off x="8310344" y="4206240"/>
            <a:ext cx="1027233" cy="1600200"/>
          </a:xfrm>
          <a:prstGeom prst="rect">
            <a:avLst/>
          </a:prstGeom>
        </p:spPr>
      </p:pic>
      <p:sp>
        <p:nvSpPr>
          <p:cNvPr id="11" name="Text 6"/>
          <p:cNvSpPr txBox="1"/>
          <p:nvPr/>
        </p:nvSpPr>
        <p:spPr>
          <a:xfrm>
            <a:off x="9509760" y="4526280"/>
            <a:ext cx="1920240" cy="411480"/>
          </a:xfrm>
          <a:prstGeom prst="rect">
            <a:avLst/>
          </a:prstGeom>
          <a:noFill/>
          <a:ln/>
        </p:spPr>
        <p:txBody>
          <a:bodyPr wrap="square" lIns="0" tIns="0" rIns="0" bIns="0" rtlCol="0" anchor="ctr"/>
          <a:lstStyle/>
          <a:p>
            <a:pPr algn="r" indent="0" marL="0">
              <a:buNone/>
            </a:pPr>
            <a:r>
              <a:rPr lang="en-US" sz="1800" b="1" dirty="0">
                <a:solidFill>
                  <a:schemeClr val="tx1"/>
                </a:solidFill>
              </a:rPr>
              <a:t>Femina</a:t>
            </a:r>
            <a:endParaRPr lang="en-US" sz="1800" dirty="0"/>
          </a:p>
        </p:txBody>
      </p:sp>
      <p:sp>
        <p:nvSpPr>
          <p:cNvPr id="12" name="Text 7"/>
          <p:cNvSpPr txBox="1"/>
          <p:nvPr/>
        </p:nvSpPr>
        <p:spPr>
          <a:xfrm>
            <a:off x="9509760" y="4983480"/>
            <a:ext cx="1920240" cy="640080"/>
          </a:xfrm>
          <a:prstGeom prst="rect">
            <a:avLst/>
          </a:prstGeom>
          <a:noFill/>
          <a:ln/>
        </p:spPr>
        <p:txBody>
          <a:bodyPr wrap="square" lIns="0" tIns="0" rIns="0" bIns="0" rtlCol="0" anchor="t"/>
          <a:lstStyle/>
          <a:p>
            <a:pPr rtl="1" algn="r" indent="0" marL="0">
              <a:buNone/>
            </a:pPr>
            <a:r>
              <a:rPr lang="en-US" sz="1300" dirty="0">
                <a:solidFill>
                  <a:schemeClr val="accent5"/>
                </a:solidFill>
              </a:rPr>
              <a:t>غسول فوم للمنطقة الحساسة · 200 مل</a:t>
            </a:r>
            <a:endParaRPr lang="en-US" sz="1300" dirty="0"/>
          </a:p>
        </p:txBody>
      </p:sp>
      <p:sp>
        <p:nvSpPr>
          <p:cNvPr id="13" name="Shape 8"/>
          <p:cNvSpPr/>
          <p:nvPr/>
        </p:nvSpPr>
        <p:spPr>
          <a:xfrm>
            <a:off x="4297680" y="1325880"/>
            <a:ext cx="3566160" cy="4754880"/>
          </a:xfrm>
          <a:prstGeom prst="roundRect">
            <a:avLst>
              <a:gd name="adj" fmla="val 3077"/>
            </a:avLst>
          </a:prstGeom>
          <a:solidFill>
            <a:schemeClr val="accent2">
              <a:alpha val="10000"/>
            </a:schemeClr>
          </a:solidFill>
          <a:ln w="9525">
            <a:solidFill>
              <a:schemeClr val="accent2">
                <a:alpha val="25000"/>
              </a:schemeClr>
            </a:solidFill>
            <a:prstDash val="solid"/>
          </a:ln>
        </p:spPr>
      </p:sp>
      <p:sp>
        <p:nvSpPr>
          <p:cNvPr id="14" name="Text 9"/>
          <p:cNvSpPr txBox="1"/>
          <p:nvPr/>
        </p:nvSpPr>
        <p:spPr>
          <a:xfrm>
            <a:off x="4480560" y="1463040"/>
            <a:ext cx="3200400" cy="457200"/>
          </a:xfrm>
          <a:prstGeom prst="rect">
            <a:avLst/>
          </a:prstGeom>
          <a:noFill/>
          <a:ln/>
        </p:spPr>
        <p:txBody>
          <a:bodyPr wrap="square" lIns="0" tIns="0" rIns="0" bIns="0" rtlCol="0" anchor="ctr"/>
          <a:lstStyle/>
          <a:p>
            <a:pPr rtl="1" algn="r" indent="0" marL="0">
              <a:buNone/>
            </a:pPr>
            <a:r>
              <a:rPr lang="en-US" sz="2000" b="1" dirty="0">
                <a:solidFill>
                  <a:schemeClr val="accent2"/>
                </a:solidFill>
              </a:rPr>
              <a:t>الجلدية والشعر</a:t>
            </a:r>
            <a:endParaRPr lang="en-US" sz="2000" dirty="0"/>
          </a:p>
        </p:txBody>
      </p:sp>
      <p:sp>
        <p:nvSpPr>
          <p:cNvPr id="15" name="Text 10"/>
          <p:cNvSpPr txBox="1"/>
          <p:nvPr/>
        </p:nvSpPr>
        <p:spPr>
          <a:xfrm>
            <a:off x="4480560" y="1920240"/>
            <a:ext cx="3200400" cy="365760"/>
          </a:xfrm>
          <a:prstGeom prst="rect">
            <a:avLst/>
          </a:prstGeom>
          <a:noFill/>
          <a:ln/>
        </p:spPr>
        <p:txBody>
          <a:bodyPr wrap="square" lIns="0" tIns="0" rIns="0" bIns="0" rtlCol="0" anchor="ctr"/>
          <a:lstStyle/>
          <a:p>
            <a:pPr rtl="1" algn="r" indent="0" marL="0">
              <a:buNone/>
            </a:pPr>
            <a:r>
              <a:rPr lang="en-US" sz="1200" dirty="0">
                <a:solidFill>
                  <a:schemeClr val="accent5"/>
                </a:solidFill>
              </a:rPr>
              <a:t>عيادات الجلدية · الصيدليات</a:t>
            </a:r>
            <a:endParaRPr lang="en-US" sz="1200" dirty="0"/>
          </a:p>
        </p:txBody>
      </p:sp>
      <p:pic>
        <p:nvPicPr>
          <p:cNvPr id="16" name="octo image" descr="preencoded.png">    </p:cNvPr>
          <p:cNvPicPr>
            <a:picLocks noChangeAspect="1"/>
          </p:cNvPicPr>
          <p:nvPr/>
        </p:nvPicPr>
        <p:blipFill>
          <a:blip r:embed="rId3"/>
          <a:stretch>
            <a:fillRect/>
          </a:stretch>
        </p:blipFill>
        <p:spPr>
          <a:xfrm>
            <a:off x="4491851" y="2423160"/>
            <a:ext cx="1166138" cy="1600200"/>
          </a:xfrm>
          <a:prstGeom prst="rect">
            <a:avLst/>
          </a:prstGeom>
        </p:spPr>
      </p:pic>
      <p:sp>
        <p:nvSpPr>
          <p:cNvPr id="17" name="Text 11"/>
          <p:cNvSpPr txBox="1"/>
          <p:nvPr/>
        </p:nvSpPr>
        <p:spPr>
          <a:xfrm>
            <a:off x="5760720" y="2743200"/>
            <a:ext cx="1920240" cy="411480"/>
          </a:xfrm>
          <a:prstGeom prst="rect">
            <a:avLst/>
          </a:prstGeom>
          <a:noFill/>
          <a:ln/>
        </p:spPr>
        <p:txBody>
          <a:bodyPr wrap="square" lIns="0" tIns="0" rIns="0" bIns="0" rtlCol="0" anchor="ctr"/>
          <a:lstStyle/>
          <a:p>
            <a:pPr algn="r" indent="0" marL="0">
              <a:buNone/>
            </a:pPr>
            <a:r>
              <a:rPr lang="en-US" sz="1800" b="1" dirty="0">
                <a:solidFill>
                  <a:schemeClr val="tx1"/>
                </a:solidFill>
              </a:rPr>
              <a:t>Octo</a:t>
            </a:r>
            <a:endParaRPr lang="en-US" sz="1800" dirty="0"/>
          </a:p>
        </p:txBody>
      </p:sp>
      <p:sp>
        <p:nvSpPr>
          <p:cNvPr id="18" name="Text 12"/>
          <p:cNvSpPr txBox="1"/>
          <p:nvPr/>
        </p:nvSpPr>
        <p:spPr>
          <a:xfrm>
            <a:off x="5760720" y="3200400"/>
            <a:ext cx="1920240" cy="640080"/>
          </a:xfrm>
          <a:prstGeom prst="rect">
            <a:avLst/>
          </a:prstGeom>
          <a:noFill/>
          <a:ln/>
        </p:spPr>
        <p:txBody>
          <a:bodyPr wrap="square" lIns="0" tIns="0" rIns="0" bIns="0" rtlCol="0" anchor="t"/>
          <a:lstStyle/>
          <a:p>
            <a:pPr rtl="1" algn="r" indent="0" marL="0">
              <a:buNone/>
            </a:pPr>
            <a:r>
              <a:rPr lang="en-US" sz="1300" dirty="0">
                <a:solidFill>
                  <a:schemeClr val="accent5"/>
                </a:solidFill>
              </a:rPr>
              <a:t>شامبو ضد القشرة · 200 مل</a:t>
            </a:r>
            <a:endParaRPr lang="en-US" sz="1300" dirty="0"/>
          </a:p>
        </p:txBody>
      </p:sp>
      <p:pic>
        <p:nvPicPr>
          <p:cNvPr id="19" name="epanthen image" descr="preencoded.png">    </p:cNvPr>
          <p:cNvPicPr>
            <a:picLocks noChangeAspect="1"/>
          </p:cNvPicPr>
          <p:nvPr/>
        </p:nvPicPr>
        <p:blipFill>
          <a:blip r:embed="rId4"/>
          <a:stretch>
            <a:fillRect/>
          </a:stretch>
        </p:blipFill>
        <p:spPr>
          <a:xfrm>
            <a:off x="4480560" y="4418584"/>
            <a:ext cx="1188720" cy="1175512"/>
          </a:xfrm>
          <a:prstGeom prst="rect">
            <a:avLst/>
          </a:prstGeom>
        </p:spPr>
      </p:pic>
      <p:sp>
        <p:nvSpPr>
          <p:cNvPr id="20" name="Text 13"/>
          <p:cNvSpPr txBox="1"/>
          <p:nvPr/>
        </p:nvSpPr>
        <p:spPr>
          <a:xfrm>
            <a:off x="5760720" y="4526280"/>
            <a:ext cx="1920240" cy="411480"/>
          </a:xfrm>
          <a:prstGeom prst="rect">
            <a:avLst/>
          </a:prstGeom>
          <a:noFill/>
          <a:ln/>
        </p:spPr>
        <p:txBody>
          <a:bodyPr wrap="square" lIns="0" tIns="0" rIns="0" bIns="0" rtlCol="0" anchor="ctr"/>
          <a:lstStyle/>
          <a:p>
            <a:pPr algn="r" indent="0" marL="0">
              <a:buNone/>
            </a:pPr>
            <a:r>
              <a:rPr lang="en-US" sz="1800" b="1" dirty="0">
                <a:solidFill>
                  <a:schemeClr val="tx1"/>
                </a:solidFill>
              </a:rPr>
              <a:t>E-Panthen</a:t>
            </a:r>
            <a:endParaRPr lang="en-US" sz="1800" dirty="0"/>
          </a:p>
        </p:txBody>
      </p:sp>
      <p:sp>
        <p:nvSpPr>
          <p:cNvPr id="21" name="Text 14"/>
          <p:cNvSpPr txBox="1"/>
          <p:nvPr/>
        </p:nvSpPr>
        <p:spPr>
          <a:xfrm>
            <a:off x="5760720" y="4983480"/>
            <a:ext cx="1920240" cy="640080"/>
          </a:xfrm>
          <a:prstGeom prst="rect">
            <a:avLst/>
          </a:prstGeom>
          <a:noFill/>
          <a:ln/>
        </p:spPr>
        <p:txBody>
          <a:bodyPr wrap="square" lIns="0" tIns="0" rIns="0" bIns="0" rtlCol="0" anchor="t"/>
          <a:lstStyle/>
          <a:p>
            <a:pPr rtl="1" algn="r" indent="0" marL="0">
              <a:buNone/>
            </a:pPr>
            <a:r>
              <a:rPr lang="en-US" sz="1300" dirty="0">
                <a:solidFill>
                  <a:schemeClr val="accent5"/>
                </a:solidFill>
              </a:rPr>
              <a:t>كريم مرطب 40 جم بالبانثينول</a:t>
            </a:r>
            <a:endParaRPr lang="en-US" sz="1300" dirty="0"/>
          </a:p>
        </p:txBody>
      </p:sp>
      <p:sp>
        <p:nvSpPr>
          <p:cNvPr id="22" name="Shape 15"/>
          <p:cNvSpPr/>
          <p:nvPr/>
        </p:nvSpPr>
        <p:spPr>
          <a:xfrm>
            <a:off x="548640" y="1325880"/>
            <a:ext cx="3566160" cy="4754880"/>
          </a:xfrm>
          <a:prstGeom prst="roundRect">
            <a:avLst>
              <a:gd name="adj" fmla="val 3077"/>
            </a:avLst>
          </a:prstGeom>
          <a:solidFill>
            <a:schemeClr val="accent3">
              <a:alpha val="10000"/>
            </a:schemeClr>
          </a:solidFill>
          <a:ln w="9525">
            <a:solidFill>
              <a:schemeClr val="accent3">
                <a:alpha val="25000"/>
              </a:schemeClr>
            </a:solidFill>
            <a:prstDash val="solid"/>
          </a:ln>
        </p:spPr>
      </p:sp>
      <p:sp>
        <p:nvSpPr>
          <p:cNvPr id="23" name="Text 16"/>
          <p:cNvSpPr txBox="1"/>
          <p:nvPr/>
        </p:nvSpPr>
        <p:spPr>
          <a:xfrm>
            <a:off x="731520" y="1463040"/>
            <a:ext cx="3200400" cy="457200"/>
          </a:xfrm>
          <a:prstGeom prst="rect">
            <a:avLst/>
          </a:prstGeom>
          <a:noFill/>
          <a:ln/>
        </p:spPr>
        <p:txBody>
          <a:bodyPr wrap="square" lIns="0" tIns="0" rIns="0" bIns="0" rtlCol="0" anchor="ctr"/>
          <a:lstStyle/>
          <a:p>
            <a:pPr rtl="1" algn="r" indent="0" marL="0">
              <a:buNone/>
            </a:pPr>
            <a:r>
              <a:rPr lang="en-US" sz="2000" b="1" dirty="0">
                <a:solidFill>
                  <a:schemeClr val="accent3"/>
                </a:solidFill>
              </a:rPr>
              <a:t>العناية بالبشرة المتشققة</a:t>
            </a:r>
            <a:endParaRPr lang="en-US" sz="2000" dirty="0"/>
          </a:p>
        </p:txBody>
      </p:sp>
      <p:sp>
        <p:nvSpPr>
          <p:cNvPr id="24" name="Text 17"/>
          <p:cNvSpPr txBox="1"/>
          <p:nvPr/>
        </p:nvSpPr>
        <p:spPr>
          <a:xfrm>
            <a:off x="731520" y="1920240"/>
            <a:ext cx="3200400" cy="365760"/>
          </a:xfrm>
          <a:prstGeom prst="rect">
            <a:avLst/>
          </a:prstGeom>
          <a:noFill/>
          <a:ln/>
        </p:spPr>
        <p:txBody>
          <a:bodyPr wrap="square" lIns="0" tIns="0" rIns="0" bIns="0" rtlCol="0" anchor="ctr"/>
          <a:lstStyle/>
          <a:p>
            <a:pPr rtl="1" algn="r" indent="0" marL="0">
              <a:buNone/>
            </a:pPr>
            <a:r>
              <a:rPr lang="en-US" sz="1200" dirty="0">
                <a:solidFill>
                  <a:schemeClr val="accent5"/>
                </a:solidFill>
              </a:rPr>
              <a:t>الجلدية · النساء · الأطفال · الجراحة</a:t>
            </a:r>
            <a:endParaRPr lang="en-US" sz="1200" dirty="0"/>
          </a:p>
        </p:txBody>
      </p:sp>
      <p:pic>
        <p:nvPicPr>
          <p:cNvPr id="25" name="mebonol image" descr="preencoded.png">    </p:cNvPr>
          <p:cNvPicPr>
            <a:picLocks noChangeAspect="1"/>
          </p:cNvPicPr>
          <p:nvPr/>
        </p:nvPicPr>
        <p:blipFill>
          <a:blip r:embed="rId5"/>
          <a:stretch>
            <a:fillRect/>
          </a:stretch>
        </p:blipFill>
        <p:spPr>
          <a:xfrm>
            <a:off x="731520" y="2984195"/>
            <a:ext cx="1188720" cy="478130"/>
          </a:xfrm>
          <a:prstGeom prst="rect">
            <a:avLst/>
          </a:prstGeom>
        </p:spPr>
      </p:pic>
      <p:sp>
        <p:nvSpPr>
          <p:cNvPr id="26" name="Text 18"/>
          <p:cNvSpPr txBox="1"/>
          <p:nvPr/>
        </p:nvSpPr>
        <p:spPr>
          <a:xfrm>
            <a:off x="2011680" y="2743200"/>
            <a:ext cx="1920240" cy="411480"/>
          </a:xfrm>
          <a:prstGeom prst="rect">
            <a:avLst/>
          </a:prstGeom>
          <a:noFill/>
          <a:ln/>
        </p:spPr>
        <p:txBody>
          <a:bodyPr wrap="square" lIns="0" tIns="0" rIns="0" bIns="0" rtlCol="0" anchor="ctr"/>
          <a:lstStyle/>
          <a:p>
            <a:pPr algn="r" indent="0" marL="0">
              <a:buNone/>
            </a:pPr>
            <a:r>
              <a:rPr lang="en-US" sz="1800" b="1" dirty="0">
                <a:solidFill>
                  <a:schemeClr val="tx1"/>
                </a:solidFill>
              </a:rPr>
              <a:t>Mebonol</a:t>
            </a:r>
            <a:endParaRPr lang="en-US" sz="1800" dirty="0"/>
          </a:p>
        </p:txBody>
      </p:sp>
      <p:sp>
        <p:nvSpPr>
          <p:cNvPr id="27" name="Text 19"/>
          <p:cNvSpPr txBox="1"/>
          <p:nvPr/>
        </p:nvSpPr>
        <p:spPr>
          <a:xfrm>
            <a:off x="2011680" y="3200400"/>
            <a:ext cx="1920240" cy="640080"/>
          </a:xfrm>
          <a:prstGeom prst="rect">
            <a:avLst/>
          </a:prstGeom>
          <a:noFill/>
          <a:ln/>
        </p:spPr>
        <p:txBody>
          <a:bodyPr wrap="square" lIns="0" tIns="0" rIns="0" bIns="0" rtlCol="0" anchor="t"/>
          <a:lstStyle/>
          <a:p>
            <a:pPr rtl="1" algn="r" indent="0" marL="0">
              <a:buNone/>
            </a:pPr>
            <a:r>
              <a:rPr lang="en-US" sz="1300" dirty="0">
                <a:solidFill>
                  <a:schemeClr val="accent5"/>
                </a:solidFill>
              </a:rPr>
              <a:t>كريم 40 جم بتقنية الليبوسوم</a:t>
            </a:r>
            <a:endParaRPr lang="en-US" sz="1300" dirty="0"/>
          </a:p>
        </p:txBody>
      </p:sp>
      <p:sp>
        <p:nvSpPr>
          <p:cNvPr id="25" name="Slide Number Placeholder 0"/>
          <p:cNvSpPr>
            <a:spLocks noGrp="1"/>
          </p:cNvSpPr>
          <p:nvPr>
            <p:ph type="sldNum" sz="quarter" idx="4294967295"/>
          </p:nvPr>
        </p:nvSpPr>
        <p:spPr>
          <a:xfrm>
            <a:off x="5806440" y="630936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ct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chemeClr val="accent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120640" y="2194560"/>
            <a:ext cx="6492240" cy="1097280"/>
          </a:xfrm>
          <a:prstGeom prst="rect">
            <a:avLst/>
          </a:prstGeom>
          <a:noFill/>
          <a:ln/>
        </p:spPr>
        <p:txBody>
          <a:bodyPr wrap="square" rtlCol="0" anchor="b"/>
          <a:lstStyle/>
          <a:p>
            <a:pPr rtl="1" algn="r" indent="0" marL="0">
              <a:buNone/>
            </a:pPr>
            <a:r>
              <a:rPr lang="en-US" sz="4400" b="1" dirty="0">
                <a:solidFill>
                  <a:schemeClr val="bg1"/>
                </a:solidFill>
              </a:rPr>
              <a:t>صحة المرأة</a:t>
            </a:r>
            <a:endParaRPr lang="en-US" sz="4400" dirty="0"/>
          </a:p>
        </p:txBody>
      </p:sp>
      <p:sp>
        <p:nvSpPr>
          <p:cNvPr id="3" name="Text 1"/>
          <p:cNvSpPr txBox="1"/>
          <p:nvPr/>
        </p:nvSpPr>
        <p:spPr>
          <a:xfrm>
            <a:off x="5120640" y="3383280"/>
            <a:ext cx="6492240" cy="914400"/>
          </a:xfrm>
          <a:prstGeom prst="rect">
            <a:avLst/>
          </a:prstGeom>
          <a:noFill/>
          <a:ln/>
        </p:spPr>
        <p:txBody>
          <a:bodyPr wrap="square" rtlCol="0" anchor="t"/>
          <a:lstStyle/>
          <a:p>
            <a:pPr rtl="1" algn="r" indent="0" marL="0">
              <a:buNone/>
            </a:pPr>
            <a:r>
              <a:rPr lang="en-US" sz="2000" dirty="0">
                <a:solidFill>
                  <a:schemeClr val="bg1"/>
                </a:solidFill>
              </a:rPr>
              <a:t>Fem-Arosa و Femina — منتجين بيكمّلوا بعض في نفس الزيارة لعيادة النسا</a:t>
            </a:r>
            <a:endParaRPr lang="en-US" sz="2000" dirty="0"/>
          </a:p>
        </p:txBody>
      </p:sp>
      <p:sp>
        <p:nvSpPr>
          <p:cNvPr id="4" name="Shape 2"/>
          <p:cNvSpPr/>
          <p:nvPr/>
        </p:nvSpPr>
        <p:spPr>
          <a:xfrm>
            <a:off x="548640" y="822960"/>
            <a:ext cx="4206240" cy="5212080"/>
          </a:xfrm>
          <a:prstGeom prst="roundRect">
            <a:avLst>
              <a:gd name="adj" fmla="val 5435"/>
            </a:avLst>
          </a:prstGeom>
          <a:solidFill>
            <a:schemeClr val="bg1"/>
          </a:solidFill>
          <a:ln w="12700">
            <a:solidFill>
              <a:schemeClr val="bg1"/>
            </a:solidFill>
            <a:prstDash val="solid"/>
          </a:ln>
        </p:spPr>
      </p:sp>
      <p:pic>
        <p:nvPicPr>
          <p:cNvPr id="5" name="femarosa image" descr="preencoded.png">    </p:cNvPr>
          <p:cNvPicPr>
            <a:picLocks noChangeAspect="1"/>
          </p:cNvPicPr>
          <p:nvPr/>
        </p:nvPicPr>
        <p:blipFill>
          <a:blip r:embed="rId1"/>
          <a:stretch>
            <a:fillRect/>
          </a:stretch>
        </p:blipFill>
        <p:spPr>
          <a:xfrm>
            <a:off x="731520" y="2345944"/>
            <a:ext cx="1828800" cy="2166112"/>
          </a:xfrm>
          <a:prstGeom prst="rect">
            <a:avLst/>
          </a:prstGeom>
        </p:spPr>
      </p:pic>
      <p:pic>
        <p:nvPicPr>
          <p:cNvPr id="6" name="femina image" descr="preencoded.png">    </p:cNvPr>
          <p:cNvPicPr>
            <a:picLocks noChangeAspect="1"/>
          </p:cNvPicPr>
          <p:nvPr/>
        </p:nvPicPr>
        <p:blipFill>
          <a:blip r:embed="rId2"/>
          <a:stretch>
            <a:fillRect/>
          </a:stretch>
        </p:blipFill>
        <p:spPr>
          <a:xfrm>
            <a:off x="2651760" y="2004568"/>
            <a:ext cx="1828800" cy="2848864"/>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2" type="title" hasCustomPrompt="1"/>
          </p:nvPr>
        </p:nvSpPr>
        <p:spPr>
          <a:xfrm>
            <a:off x="548640" y="320040"/>
            <a:ext cx="11064240" cy="777240"/>
          </a:xfrm>
          <a:prstGeom prst="rect">
            <a:avLst/>
          </a:prstGeom>
          <a:noFill/>
          <a:ln/>
        </p:spPr>
        <p:txBody>
          <a:bodyPr wrap="square" rtlCol="0" anchor="ctr"/>
          <a:lstStyle/>
          <a:p>
            <a:pPr rtl="1" algn="r" indent="0" marL="0">
              <a:buNone/>
            </a:pPr>
            <a:r>
              <a:rPr lang="en-US" sz="3200" b="1" dirty="0">
                <a:solidFill>
                  <a:schemeClr val="tx2"/>
                </a:solidFill>
              </a:rPr>
              <a:t>Fem-Arosa — بطاقة المنتج</a:t>
            </a:r>
            <a:endParaRPr lang="en-US" sz="3200" dirty="0"/>
          </a:p>
        </p:txBody>
      </p:sp>
      <p:pic>
        <p:nvPicPr>
          <p:cNvPr id="4" name="femarosa image" descr="preencoded.png">    </p:cNvPr>
          <p:cNvPicPr>
            <a:picLocks noChangeAspect="1"/>
          </p:cNvPicPr>
          <p:nvPr/>
        </p:nvPicPr>
        <p:blipFill>
          <a:blip r:embed="rId1"/>
          <a:stretch>
            <a:fillRect/>
          </a:stretch>
        </p:blipFill>
        <p:spPr>
          <a:xfrm>
            <a:off x="548640" y="1491488"/>
            <a:ext cx="3657600" cy="4332224"/>
          </a:xfrm>
          <a:prstGeom prst="rect">
            <a:avLst/>
          </a:prstGeom>
        </p:spPr>
      </p:pic>
      <p:sp>
        <p:nvSpPr>
          <p:cNvPr id="5" name="Shape 1"/>
          <p:cNvSpPr/>
          <p:nvPr/>
        </p:nvSpPr>
        <p:spPr>
          <a:xfrm>
            <a:off x="4572000" y="1325880"/>
            <a:ext cx="7040880" cy="457200"/>
          </a:xfrm>
          <a:prstGeom prst="rect">
            <a:avLst/>
          </a:prstGeom>
          <a:solidFill>
            <a:schemeClr val="accent1">
              <a:alpha val="7000"/>
            </a:schemeClr>
          </a:solidFill>
          <a:ln w="12700">
            <a:solidFill>
              <a:schemeClr val="accent1">
                <a:alpha val="0"/>
              </a:schemeClr>
            </a:solidFill>
            <a:prstDash val="solid"/>
          </a:ln>
        </p:spPr>
      </p:sp>
      <p:sp>
        <p:nvSpPr>
          <p:cNvPr id="6" name="Text 2"/>
          <p:cNvSpPr txBox="1"/>
          <p:nvPr/>
        </p:nvSpPr>
        <p:spPr>
          <a:xfrm>
            <a:off x="9235440" y="1325880"/>
            <a:ext cx="2286000" cy="457200"/>
          </a:xfrm>
          <a:prstGeom prst="rect">
            <a:avLst/>
          </a:prstGeom>
          <a:noFill/>
          <a:ln/>
        </p:spPr>
        <p:txBody>
          <a:bodyPr wrap="square" lIns="0" tIns="0" rIns="76200" bIns="0" rtlCol="0" anchor="ctr"/>
          <a:lstStyle/>
          <a:p>
            <a:pPr rtl="1" algn="r" indent="0" marL="0">
              <a:buNone/>
            </a:pPr>
            <a:r>
              <a:rPr lang="en-US" sz="1300" b="1" dirty="0">
                <a:solidFill>
                  <a:schemeClr val="accent1"/>
                </a:solidFill>
              </a:rPr>
              <a:t>الاسم التجاري</a:t>
            </a:r>
            <a:endParaRPr lang="en-US" sz="1300" dirty="0"/>
          </a:p>
        </p:txBody>
      </p:sp>
      <p:sp>
        <p:nvSpPr>
          <p:cNvPr id="7" name="Text 3"/>
          <p:cNvSpPr txBox="1"/>
          <p:nvPr/>
        </p:nvSpPr>
        <p:spPr>
          <a:xfrm>
            <a:off x="4663440" y="1325880"/>
            <a:ext cx="4480560" cy="457200"/>
          </a:xfrm>
          <a:prstGeom prst="rect">
            <a:avLst/>
          </a:prstGeom>
          <a:noFill/>
          <a:ln/>
        </p:spPr>
        <p:txBody>
          <a:bodyPr wrap="square" lIns="0" tIns="0" rIns="0" bIns="0" rtlCol="0" anchor="ctr"/>
          <a:lstStyle/>
          <a:p>
            <a:pPr rtl="1" algn="r" indent="0" marL="0">
              <a:buNone/>
            </a:pPr>
            <a:r>
              <a:rPr lang="en-US" sz="1300" dirty="0">
                <a:solidFill>
                  <a:schemeClr val="tx1"/>
                </a:solidFill>
              </a:rPr>
              <a:t>Dr. Organic Fem-Arosa</a:t>
            </a:r>
            <a:endParaRPr lang="en-US" sz="1300" dirty="0"/>
          </a:p>
        </p:txBody>
      </p:sp>
      <p:sp>
        <p:nvSpPr>
          <p:cNvPr id="8" name="Text 4"/>
          <p:cNvSpPr txBox="1"/>
          <p:nvPr/>
        </p:nvSpPr>
        <p:spPr>
          <a:xfrm>
            <a:off x="9235440" y="1783080"/>
            <a:ext cx="2286000" cy="457200"/>
          </a:xfrm>
          <a:prstGeom prst="rect">
            <a:avLst/>
          </a:prstGeom>
          <a:noFill/>
          <a:ln/>
        </p:spPr>
        <p:txBody>
          <a:bodyPr wrap="square" lIns="0" tIns="0" rIns="76200" bIns="0" rtlCol="0" anchor="ctr"/>
          <a:lstStyle/>
          <a:p>
            <a:pPr rtl="1" algn="r" indent="0" marL="0">
              <a:buNone/>
            </a:pPr>
            <a:r>
              <a:rPr lang="en-US" sz="1300" b="1" dirty="0">
                <a:solidFill>
                  <a:schemeClr val="accent1"/>
                </a:solidFill>
              </a:rPr>
              <a:t>التصنيف</a:t>
            </a:r>
            <a:endParaRPr lang="en-US" sz="1300" dirty="0"/>
          </a:p>
        </p:txBody>
      </p:sp>
      <p:sp>
        <p:nvSpPr>
          <p:cNvPr id="9" name="Text 5"/>
          <p:cNvSpPr txBox="1"/>
          <p:nvPr/>
        </p:nvSpPr>
        <p:spPr>
          <a:xfrm>
            <a:off x="4663440" y="1783080"/>
            <a:ext cx="4480560" cy="457200"/>
          </a:xfrm>
          <a:prstGeom prst="rect">
            <a:avLst/>
          </a:prstGeom>
          <a:noFill/>
          <a:ln/>
        </p:spPr>
        <p:txBody>
          <a:bodyPr wrap="square" lIns="0" tIns="0" rIns="0" bIns="0" rtlCol="0" anchor="ctr"/>
          <a:lstStyle/>
          <a:p>
            <a:pPr rtl="1" algn="r" indent="0" marL="0">
              <a:buNone/>
            </a:pPr>
            <a:r>
              <a:rPr lang="en-US" sz="1300" dirty="0">
                <a:solidFill>
                  <a:schemeClr val="tx1"/>
                </a:solidFill>
              </a:rPr>
              <a:t>مكمل غذائي (Food Supplement)</a:t>
            </a:r>
            <a:endParaRPr lang="en-US" sz="1300" dirty="0"/>
          </a:p>
        </p:txBody>
      </p:sp>
      <p:sp>
        <p:nvSpPr>
          <p:cNvPr id="10" name="Shape 6"/>
          <p:cNvSpPr/>
          <p:nvPr/>
        </p:nvSpPr>
        <p:spPr>
          <a:xfrm>
            <a:off x="4572000" y="2240280"/>
            <a:ext cx="7040880" cy="457200"/>
          </a:xfrm>
          <a:prstGeom prst="rect">
            <a:avLst/>
          </a:prstGeom>
          <a:solidFill>
            <a:schemeClr val="accent1">
              <a:alpha val="7000"/>
            </a:schemeClr>
          </a:solidFill>
          <a:ln w="12700">
            <a:solidFill>
              <a:schemeClr val="accent1">
                <a:alpha val="0"/>
              </a:schemeClr>
            </a:solidFill>
            <a:prstDash val="solid"/>
          </a:ln>
        </p:spPr>
      </p:sp>
      <p:sp>
        <p:nvSpPr>
          <p:cNvPr id="11" name="Text 7"/>
          <p:cNvSpPr txBox="1"/>
          <p:nvPr/>
        </p:nvSpPr>
        <p:spPr>
          <a:xfrm>
            <a:off x="9235440" y="2240280"/>
            <a:ext cx="2286000" cy="457200"/>
          </a:xfrm>
          <a:prstGeom prst="rect">
            <a:avLst/>
          </a:prstGeom>
          <a:noFill/>
          <a:ln/>
        </p:spPr>
        <p:txBody>
          <a:bodyPr wrap="square" lIns="0" tIns="0" rIns="76200" bIns="0" rtlCol="0" anchor="ctr"/>
          <a:lstStyle/>
          <a:p>
            <a:pPr rtl="1" algn="r" indent="0" marL="0">
              <a:buNone/>
            </a:pPr>
            <a:r>
              <a:rPr lang="en-US" sz="1300" b="1" dirty="0">
                <a:solidFill>
                  <a:schemeClr val="accent1"/>
                </a:solidFill>
              </a:rPr>
              <a:t>الشكل والحجم</a:t>
            </a:r>
            <a:endParaRPr lang="en-US" sz="1300" dirty="0"/>
          </a:p>
        </p:txBody>
      </p:sp>
      <p:sp>
        <p:nvSpPr>
          <p:cNvPr id="12" name="Text 8"/>
          <p:cNvSpPr txBox="1"/>
          <p:nvPr/>
        </p:nvSpPr>
        <p:spPr>
          <a:xfrm>
            <a:off x="4663440" y="2240280"/>
            <a:ext cx="4480560" cy="457200"/>
          </a:xfrm>
          <a:prstGeom prst="rect">
            <a:avLst/>
          </a:prstGeom>
          <a:noFill/>
          <a:ln/>
        </p:spPr>
        <p:txBody>
          <a:bodyPr wrap="square" lIns="0" tIns="0" rIns="0" bIns="0" rtlCol="0" anchor="ctr"/>
          <a:lstStyle/>
          <a:p>
            <a:pPr rtl="1" algn="r" indent="0" marL="0">
              <a:buNone/>
            </a:pPr>
            <a:r>
              <a:rPr lang="en-US" sz="1300" dirty="0">
                <a:solidFill>
                  <a:schemeClr val="tx1"/>
                </a:solidFill>
              </a:rPr>
              <a:t>نقط (Drops) · 30 مل</a:t>
            </a:r>
            <a:endParaRPr lang="en-US" sz="1300" dirty="0"/>
          </a:p>
        </p:txBody>
      </p:sp>
      <p:sp>
        <p:nvSpPr>
          <p:cNvPr id="13" name="Text 9"/>
          <p:cNvSpPr txBox="1"/>
          <p:nvPr/>
        </p:nvSpPr>
        <p:spPr>
          <a:xfrm>
            <a:off x="9235440" y="2697480"/>
            <a:ext cx="2286000" cy="457200"/>
          </a:xfrm>
          <a:prstGeom prst="rect">
            <a:avLst/>
          </a:prstGeom>
          <a:noFill/>
          <a:ln/>
        </p:spPr>
        <p:txBody>
          <a:bodyPr wrap="square" lIns="0" tIns="0" rIns="76200" bIns="0" rtlCol="0" anchor="ctr"/>
          <a:lstStyle/>
          <a:p>
            <a:pPr rtl="1" algn="r" indent="0" marL="0">
              <a:buNone/>
            </a:pPr>
            <a:r>
              <a:rPr lang="en-US" sz="1300" b="1" dirty="0">
                <a:solidFill>
                  <a:schemeClr val="accent1"/>
                </a:solidFill>
              </a:rPr>
              <a:t>النكهة</a:t>
            </a:r>
            <a:endParaRPr lang="en-US" sz="1300" dirty="0"/>
          </a:p>
        </p:txBody>
      </p:sp>
      <p:sp>
        <p:nvSpPr>
          <p:cNvPr id="14" name="Text 10"/>
          <p:cNvSpPr txBox="1"/>
          <p:nvPr/>
        </p:nvSpPr>
        <p:spPr>
          <a:xfrm>
            <a:off x="4663440" y="2697480"/>
            <a:ext cx="4480560" cy="457200"/>
          </a:xfrm>
          <a:prstGeom prst="rect">
            <a:avLst/>
          </a:prstGeom>
          <a:noFill/>
          <a:ln/>
        </p:spPr>
        <p:txBody>
          <a:bodyPr wrap="square" lIns="0" tIns="0" rIns="0" bIns="0" rtlCol="0" anchor="ctr"/>
          <a:lstStyle/>
          <a:p>
            <a:pPr rtl="1" algn="r" indent="0" marL="0">
              <a:buNone/>
            </a:pPr>
            <a:r>
              <a:rPr lang="en-US" sz="1300" dirty="0">
                <a:solidFill>
                  <a:schemeClr val="tx1"/>
                </a:solidFill>
              </a:rPr>
              <a:t>توت مشكّل طبيعي</a:t>
            </a:r>
            <a:endParaRPr lang="en-US" sz="1300" dirty="0"/>
          </a:p>
        </p:txBody>
      </p:sp>
      <p:sp>
        <p:nvSpPr>
          <p:cNvPr id="15" name="Shape 11"/>
          <p:cNvSpPr/>
          <p:nvPr/>
        </p:nvSpPr>
        <p:spPr>
          <a:xfrm>
            <a:off x="4572000" y="3154680"/>
            <a:ext cx="7040880" cy="457200"/>
          </a:xfrm>
          <a:prstGeom prst="rect">
            <a:avLst/>
          </a:prstGeom>
          <a:solidFill>
            <a:schemeClr val="accent1">
              <a:alpha val="7000"/>
            </a:schemeClr>
          </a:solidFill>
          <a:ln w="12700">
            <a:solidFill>
              <a:schemeClr val="accent1">
                <a:alpha val="0"/>
              </a:schemeClr>
            </a:solidFill>
            <a:prstDash val="solid"/>
          </a:ln>
        </p:spPr>
      </p:sp>
      <p:sp>
        <p:nvSpPr>
          <p:cNvPr id="16" name="Text 12"/>
          <p:cNvSpPr txBox="1"/>
          <p:nvPr/>
        </p:nvSpPr>
        <p:spPr>
          <a:xfrm>
            <a:off x="9235440" y="3154680"/>
            <a:ext cx="2286000" cy="457200"/>
          </a:xfrm>
          <a:prstGeom prst="rect">
            <a:avLst/>
          </a:prstGeom>
          <a:noFill/>
          <a:ln/>
        </p:spPr>
        <p:txBody>
          <a:bodyPr wrap="square" lIns="0" tIns="0" rIns="76200" bIns="0" rtlCol="0" anchor="ctr"/>
          <a:lstStyle/>
          <a:p>
            <a:pPr rtl="1" algn="r" indent="0" marL="0">
              <a:buNone/>
            </a:pPr>
            <a:r>
              <a:rPr lang="en-US" sz="1300" b="1" dirty="0">
                <a:solidFill>
                  <a:schemeClr val="accent1"/>
                </a:solidFill>
              </a:rPr>
              <a:t>الفئة العمرية</a:t>
            </a:r>
            <a:endParaRPr lang="en-US" sz="1300" dirty="0"/>
          </a:p>
        </p:txBody>
      </p:sp>
      <p:sp>
        <p:nvSpPr>
          <p:cNvPr id="17" name="Text 13"/>
          <p:cNvSpPr txBox="1"/>
          <p:nvPr/>
        </p:nvSpPr>
        <p:spPr>
          <a:xfrm>
            <a:off x="4663440" y="3154680"/>
            <a:ext cx="4480560" cy="457200"/>
          </a:xfrm>
          <a:prstGeom prst="rect">
            <a:avLst/>
          </a:prstGeom>
          <a:noFill/>
          <a:ln/>
        </p:spPr>
        <p:txBody>
          <a:bodyPr wrap="square" lIns="0" tIns="0" rIns="0" bIns="0" rtlCol="0" anchor="ctr"/>
          <a:lstStyle/>
          <a:p>
            <a:pPr rtl="1" algn="r" indent="0" marL="0">
              <a:buNone/>
            </a:pPr>
            <a:r>
              <a:rPr lang="en-US" sz="1300" dirty="0">
                <a:solidFill>
                  <a:schemeClr val="tx1"/>
                </a:solidFill>
              </a:rPr>
              <a:t>السيدات أكبر من 18 سنة</a:t>
            </a:r>
            <a:endParaRPr lang="en-US" sz="1300" dirty="0"/>
          </a:p>
        </p:txBody>
      </p:sp>
      <p:sp>
        <p:nvSpPr>
          <p:cNvPr id="18" name="Text 14"/>
          <p:cNvSpPr txBox="1"/>
          <p:nvPr/>
        </p:nvSpPr>
        <p:spPr>
          <a:xfrm>
            <a:off x="9235440" y="3611880"/>
            <a:ext cx="2286000" cy="457200"/>
          </a:xfrm>
          <a:prstGeom prst="rect">
            <a:avLst/>
          </a:prstGeom>
          <a:noFill/>
          <a:ln/>
        </p:spPr>
        <p:txBody>
          <a:bodyPr wrap="square" lIns="0" tIns="0" rIns="76200" bIns="0" rtlCol="0" anchor="ctr"/>
          <a:lstStyle/>
          <a:p>
            <a:pPr rtl="1" algn="r" indent="0" marL="0">
              <a:buNone/>
            </a:pPr>
            <a:r>
              <a:rPr lang="en-US" sz="1300" b="1" dirty="0">
                <a:solidFill>
                  <a:schemeClr val="accent1"/>
                </a:solidFill>
              </a:rPr>
              <a:t>التسجيل SFDA</a:t>
            </a:r>
            <a:endParaRPr lang="en-US" sz="1300" dirty="0"/>
          </a:p>
        </p:txBody>
      </p:sp>
      <p:sp>
        <p:nvSpPr>
          <p:cNvPr id="19" name="Text 15"/>
          <p:cNvSpPr txBox="1"/>
          <p:nvPr/>
        </p:nvSpPr>
        <p:spPr>
          <a:xfrm>
            <a:off x="4663440" y="3611880"/>
            <a:ext cx="4480560" cy="457200"/>
          </a:xfrm>
          <a:prstGeom prst="rect">
            <a:avLst/>
          </a:prstGeom>
          <a:noFill/>
          <a:ln/>
        </p:spPr>
        <p:txBody>
          <a:bodyPr wrap="square" lIns="0" tIns="0" rIns="0" bIns="0" rtlCol="0" anchor="ctr"/>
          <a:lstStyle/>
          <a:p>
            <a:pPr rtl="1" algn="r" indent="0" marL="0">
              <a:buNone/>
            </a:pPr>
            <a:r>
              <a:rPr lang="en-US" sz="1300" dirty="0">
                <a:solidFill>
                  <a:schemeClr val="tx1"/>
                </a:solidFill>
              </a:rPr>
              <a:t>FOM-24-56091-FOP-110126-10077-C-12688-5160</a:t>
            </a:r>
            <a:endParaRPr lang="en-US" sz="1300" dirty="0"/>
          </a:p>
        </p:txBody>
      </p:sp>
      <p:sp>
        <p:nvSpPr>
          <p:cNvPr id="20" name="Shape 16"/>
          <p:cNvSpPr/>
          <p:nvPr/>
        </p:nvSpPr>
        <p:spPr>
          <a:xfrm>
            <a:off x="4572000" y="4069080"/>
            <a:ext cx="7040880" cy="457200"/>
          </a:xfrm>
          <a:prstGeom prst="rect">
            <a:avLst/>
          </a:prstGeom>
          <a:solidFill>
            <a:schemeClr val="accent1">
              <a:alpha val="7000"/>
            </a:schemeClr>
          </a:solidFill>
          <a:ln w="12700">
            <a:solidFill>
              <a:schemeClr val="accent1">
                <a:alpha val="0"/>
              </a:schemeClr>
            </a:solidFill>
            <a:prstDash val="solid"/>
          </a:ln>
        </p:spPr>
      </p:sp>
      <p:sp>
        <p:nvSpPr>
          <p:cNvPr id="21" name="Text 17"/>
          <p:cNvSpPr txBox="1"/>
          <p:nvPr/>
        </p:nvSpPr>
        <p:spPr>
          <a:xfrm>
            <a:off x="9235440" y="4069080"/>
            <a:ext cx="2286000" cy="457200"/>
          </a:xfrm>
          <a:prstGeom prst="rect">
            <a:avLst/>
          </a:prstGeom>
          <a:noFill/>
          <a:ln/>
        </p:spPr>
        <p:txBody>
          <a:bodyPr wrap="square" lIns="0" tIns="0" rIns="76200" bIns="0" rtlCol="0" anchor="ctr"/>
          <a:lstStyle/>
          <a:p>
            <a:pPr rtl="1" algn="r" indent="0" marL="0">
              <a:buNone/>
            </a:pPr>
            <a:r>
              <a:rPr lang="en-US" sz="1300" b="1" dirty="0">
                <a:solidFill>
                  <a:schemeClr val="accent1"/>
                </a:solidFill>
              </a:rPr>
              <a:t>الباركود</a:t>
            </a:r>
            <a:endParaRPr lang="en-US" sz="1300" dirty="0"/>
          </a:p>
        </p:txBody>
      </p:sp>
      <p:sp>
        <p:nvSpPr>
          <p:cNvPr id="22" name="Text 18"/>
          <p:cNvSpPr txBox="1"/>
          <p:nvPr/>
        </p:nvSpPr>
        <p:spPr>
          <a:xfrm>
            <a:off x="4663440" y="4069080"/>
            <a:ext cx="4480560" cy="457200"/>
          </a:xfrm>
          <a:prstGeom prst="rect">
            <a:avLst/>
          </a:prstGeom>
          <a:noFill/>
          <a:ln/>
        </p:spPr>
        <p:txBody>
          <a:bodyPr wrap="square" lIns="0" tIns="0" rIns="0" bIns="0" rtlCol="0" anchor="ctr"/>
          <a:lstStyle/>
          <a:p>
            <a:pPr rtl="1" algn="r" indent="0" marL="0">
              <a:buNone/>
            </a:pPr>
            <a:r>
              <a:rPr lang="en-US" sz="1300" dirty="0">
                <a:solidFill>
                  <a:schemeClr val="tx1"/>
                </a:solidFill>
              </a:rPr>
              <a:t>00762497361537</a:t>
            </a:r>
            <a:endParaRPr lang="en-US" sz="1300" dirty="0"/>
          </a:p>
        </p:txBody>
      </p:sp>
      <p:sp>
        <p:nvSpPr>
          <p:cNvPr id="23" name="Text 19"/>
          <p:cNvSpPr txBox="1"/>
          <p:nvPr/>
        </p:nvSpPr>
        <p:spPr>
          <a:xfrm>
            <a:off x="9235440" y="4526280"/>
            <a:ext cx="2286000" cy="457200"/>
          </a:xfrm>
          <a:prstGeom prst="rect">
            <a:avLst/>
          </a:prstGeom>
          <a:noFill/>
          <a:ln/>
        </p:spPr>
        <p:txBody>
          <a:bodyPr wrap="square" lIns="0" tIns="0" rIns="76200" bIns="0" rtlCol="0" anchor="ctr"/>
          <a:lstStyle/>
          <a:p>
            <a:pPr rtl="1" algn="r" indent="0" marL="0">
              <a:buNone/>
            </a:pPr>
            <a:r>
              <a:rPr lang="en-US" sz="1300" b="1" dirty="0">
                <a:solidFill>
                  <a:schemeClr val="accent1"/>
                </a:solidFill>
              </a:rPr>
              <a:t>الصلاحية والحفظ</a:t>
            </a:r>
            <a:endParaRPr lang="en-US" sz="1300" dirty="0"/>
          </a:p>
        </p:txBody>
      </p:sp>
      <p:sp>
        <p:nvSpPr>
          <p:cNvPr id="24" name="Text 20"/>
          <p:cNvSpPr txBox="1"/>
          <p:nvPr/>
        </p:nvSpPr>
        <p:spPr>
          <a:xfrm>
            <a:off x="4663440" y="4526280"/>
            <a:ext cx="4480560" cy="457200"/>
          </a:xfrm>
          <a:prstGeom prst="rect">
            <a:avLst/>
          </a:prstGeom>
          <a:noFill/>
          <a:ln/>
        </p:spPr>
        <p:txBody>
          <a:bodyPr wrap="square" lIns="0" tIns="0" rIns="0" bIns="0" rtlCol="0" anchor="ctr"/>
          <a:lstStyle/>
          <a:p>
            <a:pPr rtl="1" algn="r" indent="0" marL="0">
              <a:buNone/>
            </a:pPr>
            <a:r>
              <a:rPr lang="en-US" sz="1300" dirty="0">
                <a:solidFill>
                  <a:schemeClr val="tx1"/>
                </a:solidFill>
              </a:rPr>
              <a:t>24 شهر · أقل من 25°م</a:t>
            </a:r>
            <a:endParaRPr lang="en-US" sz="1300" dirty="0"/>
          </a:p>
        </p:txBody>
      </p:sp>
      <p:sp>
        <p:nvSpPr>
          <p:cNvPr id="25" name="Shape 21"/>
          <p:cNvSpPr/>
          <p:nvPr/>
        </p:nvSpPr>
        <p:spPr>
          <a:xfrm>
            <a:off x="4572000" y="4983480"/>
            <a:ext cx="7040880" cy="457200"/>
          </a:xfrm>
          <a:prstGeom prst="rect">
            <a:avLst/>
          </a:prstGeom>
          <a:solidFill>
            <a:schemeClr val="accent1">
              <a:alpha val="7000"/>
            </a:schemeClr>
          </a:solidFill>
          <a:ln w="12700">
            <a:solidFill>
              <a:schemeClr val="accent1">
                <a:alpha val="0"/>
              </a:schemeClr>
            </a:solidFill>
            <a:prstDash val="solid"/>
          </a:ln>
        </p:spPr>
      </p:sp>
      <p:sp>
        <p:nvSpPr>
          <p:cNvPr id="26" name="Text 22"/>
          <p:cNvSpPr txBox="1"/>
          <p:nvPr/>
        </p:nvSpPr>
        <p:spPr>
          <a:xfrm>
            <a:off x="9235440" y="4983480"/>
            <a:ext cx="2286000" cy="457200"/>
          </a:xfrm>
          <a:prstGeom prst="rect">
            <a:avLst/>
          </a:prstGeom>
          <a:noFill/>
          <a:ln/>
        </p:spPr>
        <p:txBody>
          <a:bodyPr wrap="square" lIns="0" tIns="0" rIns="76200" bIns="0" rtlCol="0" anchor="ctr"/>
          <a:lstStyle/>
          <a:p>
            <a:pPr rtl="1" algn="r" indent="0" marL="0">
              <a:buNone/>
            </a:pPr>
            <a:r>
              <a:rPr lang="en-US" sz="1300" b="1" dirty="0">
                <a:solidFill>
                  <a:schemeClr val="accent1"/>
                </a:solidFill>
              </a:rPr>
              <a:t>المصنع</a:t>
            </a:r>
            <a:endParaRPr lang="en-US" sz="1300" dirty="0"/>
          </a:p>
        </p:txBody>
      </p:sp>
      <p:sp>
        <p:nvSpPr>
          <p:cNvPr id="27" name="Text 23"/>
          <p:cNvSpPr txBox="1"/>
          <p:nvPr/>
        </p:nvSpPr>
        <p:spPr>
          <a:xfrm>
            <a:off x="4663440" y="4983480"/>
            <a:ext cx="4480560" cy="457200"/>
          </a:xfrm>
          <a:prstGeom prst="rect">
            <a:avLst/>
          </a:prstGeom>
          <a:noFill/>
          <a:ln/>
        </p:spPr>
        <p:txBody>
          <a:bodyPr wrap="square" lIns="0" tIns="0" rIns="0" bIns="0" rtlCol="0" anchor="ctr"/>
          <a:lstStyle/>
          <a:p>
            <a:pPr rtl="1" algn="r" indent="0" marL="0">
              <a:buNone/>
            </a:pPr>
            <a:r>
              <a:rPr lang="en-US" sz="1300" dirty="0">
                <a:solidFill>
                  <a:schemeClr val="tx1"/>
                </a:solidFill>
              </a:rPr>
              <a:t>ASTRIX PHARMA — الخرج، السعودية</a:t>
            </a:r>
            <a:endParaRPr lang="en-US" sz="1300" dirty="0"/>
          </a:p>
        </p:txBody>
      </p:sp>
      <p:sp>
        <p:nvSpPr>
          <p:cNvPr id="28" name="Text 24"/>
          <p:cNvSpPr txBox="1"/>
          <p:nvPr/>
        </p:nvSpPr>
        <p:spPr>
          <a:xfrm>
            <a:off x="9235440" y="5440680"/>
            <a:ext cx="2286000" cy="457200"/>
          </a:xfrm>
          <a:prstGeom prst="rect">
            <a:avLst/>
          </a:prstGeom>
          <a:noFill/>
          <a:ln/>
        </p:spPr>
        <p:txBody>
          <a:bodyPr wrap="square" lIns="0" tIns="0" rIns="76200" bIns="0" rtlCol="0" anchor="ctr"/>
          <a:lstStyle/>
          <a:p>
            <a:pPr rtl="1" algn="r" indent="0" marL="0">
              <a:buNone/>
            </a:pPr>
            <a:r>
              <a:rPr lang="en-US" sz="1300" b="1" dirty="0">
                <a:solidFill>
                  <a:schemeClr val="accent1"/>
                </a:solidFill>
              </a:rPr>
              <a:t>سعر الجمهور</a:t>
            </a:r>
            <a:endParaRPr lang="en-US" sz="1300" dirty="0"/>
          </a:p>
        </p:txBody>
      </p:sp>
      <p:sp>
        <p:nvSpPr>
          <p:cNvPr id="29" name="Text 25"/>
          <p:cNvSpPr txBox="1"/>
          <p:nvPr/>
        </p:nvSpPr>
        <p:spPr>
          <a:xfrm>
            <a:off x="4663440" y="5440680"/>
            <a:ext cx="4480560" cy="457200"/>
          </a:xfrm>
          <a:prstGeom prst="rect">
            <a:avLst/>
          </a:prstGeom>
          <a:noFill/>
          <a:ln/>
        </p:spPr>
        <p:txBody>
          <a:bodyPr wrap="square" lIns="0" tIns="0" rIns="0" bIns="0" rtlCol="0" anchor="ctr"/>
          <a:lstStyle/>
          <a:p>
            <a:pPr rtl="1" algn="r" indent="0" marL="0">
              <a:buNone/>
            </a:pPr>
            <a:r>
              <a:rPr lang="en-US" sz="1300" dirty="0">
                <a:solidFill>
                  <a:schemeClr val="tx1"/>
                </a:solidFill>
              </a:rPr>
              <a:t>49 ريال (غير شامل الضريبة)</a:t>
            </a:r>
            <a:endParaRPr lang="en-US" sz="1300" dirty="0"/>
          </a:p>
        </p:txBody>
      </p:sp>
      <p:sp>
        <p:nvSpPr>
          <p:cNvPr id="25" name="Slide Number Placeholder 0"/>
          <p:cNvSpPr>
            <a:spLocks noGrp="1"/>
          </p:cNvSpPr>
          <p:nvPr>
            <p:ph type="sldNum" sz="quarter" idx="4294967295"/>
          </p:nvPr>
        </p:nvSpPr>
        <p:spPr>
          <a:xfrm>
            <a:off x="5806440" y="630936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ct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2" type="title" hasCustomPrompt="1"/>
          </p:nvPr>
        </p:nvSpPr>
        <p:spPr>
          <a:xfrm>
            <a:off x="548640" y="320040"/>
            <a:ext cx="11064240" cy="777240"/>
          </a:xfrm>
          <a:prstGeom prst="rect">
            <a:avLst/>
          </a:prstGeom>
          <a:noFill/>
          <a:ln/>
        </p:spPr>
        <p:txBody>
          <a:bodyPr wrap="square" rtlCol="0" anchor="ctr"/>
          <a:lstStyle/>
          <a:p>
            <a:pPr rtl="1" algn="r" indent="0" marL="0">
              <a:buNone/>
            </a:pPr>
            <a:r>
              <a:rPr lang="en-US" sz="3200" b="1" dirty="0">
                <a:solidFill>
                  <a:schemeClr val="tx2"/>
                </a:solidFill>
              </a:rPr>
              <a:t>Fem-Arosa — 12 مكوّن فعّال ودور كل واحد</a:t>
            </a:r>
            <a:endParaRPr lang="en-US" sz="3200" dirty="0"/>
          </a:p>
        </p:txBody>
      </p:sp>
      <p:sp>
        <p:nvSpPr>
          <p:cNvPr id="4" name="Shape 1"/>
          <p:cNvSpPr/>
          <p:nvPr/>
        </p:nvSpPr>
        <p:spPr>
          <a:xfrm>
            <a:off x="8046720" y="1325880"/>
            <a:ext cx="3566160" cy="2240280"/>
          </a:xfrm>
          <a:prstGeom prst="roundRect">
            <a:avLst>
              <a:gd name="adj" fmla="val 4898"/>
            </a:avLst>
          </a:prstGeom>
          <a:solidFill>
            <a:schemeClr val="accent1">
              <a:alpha val="8000"/>
            </a:schemeClr>
          </a:solidFill>
          <a:ln w="9525">
            <a:solidFill>
              <a:schemeClr val="accent1">
                <a:alpha val="25000"/>
              </a:schemeClr>
            </a:solidFill>
            <a:prstDash val="solid"/>
          </a:ln>
        </p:spPr>
      </p:sp>
      <p:sp>
        <p:nvSpPr>
          <p:cNvPr id="5" name="Shape 2"/>
          <p:cNvSpPr/>
          <p:nvPr/>
        </p:nvSpPr>
        <p:spPr>
          <a:xfrm>
            <a:off x="10991088" y="1490472"/>
            <a:ext cx="457200" cy="457200"/>
          </a:xfrm>
          <a:prstGeom prst="ellipse">
            <a:avLst/>
          </a:prstGeom>
          <a:solidFill>
            <a:schemeClr val="accent1"/>
          </a:solidFill>
          <a:ln w="12700">
            <a:solidFill>
              <a:schemeClr val="accent1"/>
            </a:solidFill>
            <a:prstDash val="solid"/>
          </a:ln>
        </p:spPr>
      </p:sp>
      <p:sp>
        <p:nvSpPr>
          <p:cNvPr id="6" name="Text 3"/>
          <p:cNvSpPr txBox="1"/>
          <p:nvPr/>
        </p:nvSpPr>
        <p:spPr>
          <a:xfrm>
            <a:off x="10991088" y="1490472"/>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7" name="Text 4"/>
          <p:cNvSpPr txBox="1"/>
          <p:nvPr/>
        </p:nvSpPr>
        <p:spPr>
          <a:xfrm>
            <a:off x="8183880" y="1435608"/>
            <a:ext cx="2697480" cy="548640"/>
          </a:xfrm>
          <a:prstGeom prst="rect">
            <a:avLst/>
          </a:prstGeom>
          <a:noFill/>
          <a:ln/>
        </p:spPr>
        <p:txBody>
          <a:bodyPr wrap="square" lIns="0" tIns="0" rIns="0" bIns="0" rtlCol="0" anchor="ctr"/>
          <a:lstStyle/>
          <a:p>
            <a:pPr rtl="1" algn="r" indent="0" marL="0">
              <a:buNone/>
            </a:pPr>
            <a:r>
              <a:rPr lang="en-US" sz="1600" b="1" dirty="0">
                <a:solidFill>
                  <a:schemeClr val="accent1"/>
                </a:solidFill>
              </a:rPr>
              <a:t>L-Arginine</a:t>
            </a:r>
            <a:endParaRPr lang="en-US" sz="1600" dirty="0"/>
          </a:p>
        </p:txBody>
      </p:sp>
      <p:sp>
        <p:nvSpPr>
          <p:cNvPr id="8" name="Text 5"/>
          <p:cNvSpPr txBox="1"/>
          <p:nvPr/>
        </p:nvSpPr>
        <p:spPr>
          <a:xfrm>
            <a:off x="8229600" y="2039112"/>
            <a:ext cx="3200400" cy="1435608"/>
          </a:xfrm>
          <a:prstGeom prst="rect">
            <a:avLst/>
          </a:prstGeom>
          <a:noFill/>
          <a:ln/>
        </p:spPr>
        <p:txBody>
          <a:bodyPr wrap="square" lIns="0" tIns="0" rIns="0" bIns="0" rtlCol="0" anchor="t"/>
          <a:lstStyle/>
          <a:p>
            <a:pPr rtl="1" algn="r" indent="0" marL="0">
              <a:spcAft>
                <a:spcPts val="400"/>
              </a:spcAft>
              <a:buNone/>
            </a:pPr>
            <a:r>
              <a:rPr lang="en-US" sz="1600" dirty="0">
                <a:solidFill>
                  <a:schemeClr val="tx1"/>
                </a:solidFill>
              </a:rPr>
              <a:t>حمض أميني، مصدر لأكسيد النيتريك اللي بيساعد على ارتخاء الأوعية الدموية وتدفق الدم.</a:t>
            </a:r>
            <a:endParaRPr lang="en-US" sz="1600" dirty="0"/>
          </a:p>
        </p:txBody>
      </p:sp>
      <p:sp>
        <p:nvSpPr>
          <p:cNvPr id="9" name="Shape 6"/>
          <p:cNvSpPr/>
          <p:nvPr/>
        </p:nvSpPr>
        <p:spPr>
          <a:xfrm>
            <a:off x="4297680" y="1325880"/>
            <a:ext cx="3566160" cy="2240280"/>
          </a:xfrm>
          <a:prstGeom prst="roundRect">
            <a:avLst>
              <a:gd name="adj" fmla="val 4898"/>
            </a:avLst>
          </a:prstGeom>
          <a:solidFill>
            <a:schemeClr val="accent1">
              <a:alpha val="8000"/>
            </a:schemeClr>
          </a:solidFill>
          <a:ln w="9525">
            <a:solidFill>
              <a:schemeClr val="accent1">
                <a:alpha val="25000"/>
              </a:schemeClr>
            </a:solidFill>
            <a:prstDash val="solid"/>
          </a:ln>
        </p:spPr>
      </p:sp>
      <p:sp>
        <p:nvSpPr>
          <p:cNvPr id="10" name="Shape 7"/>
          <p:cNvSpPr/>
          <p:nvPr/>
        </p:nvSpPr>
        <p:spPr>
          <a:xfrm>
            <a:off x="7242048" y="1490472"/>
            <a:ext cx="457200" cy="457200"/>
          </a:xfrm>
          <a:prstGeom prst="ellipse">
            <a:avLst/>
          </a:prstGeom>
          <a:solidFill>
            <a:schemeClr val="accent1"/>
          </a:solidFill>
          <a:ln w="12700">
            <a:solidFill>
              <a:schemeClr val="accent1"/>
            </a:solidFill>
            <a:prstDash val="solid"/>
          </a:ln>
        </p:spPr>
      </p:sp>
      <p:sp>
        <p:nvSpPr>
          <p:cNvPr id="11" name="Text 8"/>
          <p:cNvSpPr txBox="1"/>
          <p:nvPr/>
        </p:nvSpPr>
        <p:spPr>
          <a:xfrm>
            <a:off x="7242048" y="1490472"/>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2" name="Text 9"/>
          <p:cNvSpPr txBox="1"/>
          <p:nvPr/>
        </p:nvSpPr>
        <p:spPr>
          <a:xfrm>
            <a:off x="4434840" y="1435608"/>
            <a:ext cx="2697480" cy="548640"/>
          </a:xfrm>
          <a:prstGeom prst="rect">
            <a:avLst/>
          </a:prstGeom>
          <a:noFill/>
          <a:ln/>
        </p:spPr>
        <p:txBody>
          <a:bodyPr wrap="square" lIns="0" tIns="0" rIns="0" bIns="0" rtlCol="0" anchor="ctr"/>
          <a:lstStyle/>
          <a:p>
            <a:pPr rtl="1" algn="r" indent="0" marL="0">
              <a:buNone/>
            </a:pPr>
            <a:r>
              <a:rPr lang="en-US" sz="1600" b="1" dirty="0">
                <a:solidFill>
                  <a:schemeClr val="accent1"/>
                </a:solidFill>
              </a:rPr>
              <a:t>Maca · Damiana · Muira Puama</a:t>
            </a:r>
            <a:endParaRPr lang="en-US" sz="1600" dirty="0"/>
          </a:p>
        </p:txBody>
      </p:sp>
      <p:sp>
        <p:nvSpPr>
          <p:cNvPr id="13" name="Text 10"/>
          <p:cNvSpPr txBox="1"/>
          <p:nvPr/>
        </p:nvSpPr>
        <p:spPr>
          <a:xfrm>
            <a:off x="4480560" y="2039112"/>
            <a:ext cx="3200400" cy="1435608"/>
          </a:xfrm>
          <a:prstGeom prst="rect">
            <a:avLst/>
          </a:prstGeom>
          <a:noFill/>
          <a:ln/>
        </p:spPr>
        <p:txBody>
          <a:bodyPr wrap="square" lIns="0" tIns="0" rIns="0" bIns="0" rtlCol="0" anchor="t"/>
          <a:lstStyle/>
          <a:p>
            <a:pPr rtl="1" algn="r" indent="0" marL="0">
              <a:spcAft>
                <a:spcPts val="400"/>
              </a:spcAft>
              <a:buNone/>
            </a:pPr>
            <a:r>
              <a:rPr lang="en-US" sz="1600" dirty="0">
                <a:solidFill>
                  <a:schemeClr val="tx1"/>
                </a:solidFill>
              </a:rPr>
              <a:t>أعشاب تقليدية معروفة لدعم الحيوية والرغبة عند السيدات.</a:t>
            </a:r>
            <a:endParaRPr lang="en-US" sz="1600" dirty="0"/>
          </a:p>
        </p:txBody>
      </p:sp>
      <p:sp>
        <p:nvSpPr>
          <p:cNvPr id="14" name="Shape 11"/>
          <p:cNvSpPr/>
          <p:nvPr/>
        </p:nvSpPr>
        <p:spPr>
          <a:xfrm>
            <a:off x="548640" y="1325880"/>
            <a:ext cx="3566160" cy="2240280"/>
          </a:xfrm>
          <a:prstGeom prst="roundRect">
            <a:avLst>
              <a:gd name="adj" fmla="val 4898"/>
            </a:avLst>
          </a:prstGeom>
          <a:solidFill>
            <a:schemeClr val="accent1">
              <a:alpha val="8000"/>
            </a:schemeClr>
          </a:solidFill>
          <a:ln w="9525">
            <a:solidFill>
              <a:schemeClr val="accent1">
                <a:alpha val="25000"/>
              </a:schemeClr>
            </a:solidFill>
            <a:prstDash val="solid"/>
          </a:ln>
        </p:spPr>
      </p:sp>
      <p:sp>
        <p:nvSpPr>
          <p:cNvPr id="15" name="Shape 12"/>
          <p:cNvSpPr/>
          <p:nvPr/>
        </p:nvSpPr>
        <p:spPr>
          <a:xfrm>
            <a:off x="3493008" y="1490472"/>
            <a:ext cx="457200" cy="457200"/>
          </a:xfrm>
          <a:prstGeom prst="ellipse">
            <a:avLst/>
          </a:prstGeom>
          <a:solidFill>
            <a:schemeClr val="accent1"/>
          </a:solidFill>
          <a:ln w="12700">
            <a:solidFill>
              <a:schemeClr val="accent1"/>
            </a:solidFill>
            <a:prstDash val="solid"/>
          </a:ln>
        </p:spPr>
      </p:sp>
      <p:sp>
        <p:nvSpPr>
          <p:cNvPr id="16" name="Text 13"/>
          <p:cNvSpPr txBox="1"/>
          <p:nvPr/>
        </p:nvSpPr>
        <p:spPr>
          <a:xfrm>
            <a:off x="3493008" y="1490472"/>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7" name="Text 14"/>
          <p:cNvSpPr txBox="1"/>
          <p:nvPr/>
        </p:nvSpPr>
        <p:spPr>
          <a:xfrm>
            <a:off x="685800" y="1435608"/>
            <a:ext cx="2697480" cy="548640"/>
          </a:xfrm>
          <a:prstGeom prst="rect">
            <a:avLst/>
          </a:prstGeom>
          <a:noFill/>
          <a:ln/>
        </p:spPr>
        <p:txBody>
          <a:bodyPr wrap="square" lIns="0" tIns="0" rIns="0" bIns="0" rtlCol="0" anchor="ctr"/>
          <a:lstStyle/>
          <a:p>
            <a:pPr rtl="1" algn="r" indent="0" marL="0">
              <a:buNone/>
            </a:pPr>
            <a:r>
              <a:rPr lang="en-US" sz="1600" b="1" dirty="0">
                <a:solidFill>
                  <a:schemeClr val="accent1"/>
                </a:solidFill>
              </a:rPr>
              <a:t>Ginseng · Ginkgo Biloba</a:t>
            </a:r>
            <a:endParaRPr lang="en-US" sz="1600" dirty="0"/>
          </a:p>
        </p:txBody>
      </p:sp>
      <p:sp>
        <p:nvSpPr>
          <p:cNvPr id="18" name="Text 15"/>
          <p:cNvSpPr txBox="1"/>
          <p:nvPr/>
        </p:nvSpPr>
        <p:spPr>
          <a:xfrm>
            <a:off x="731520" y="2039112"/>
            <a:ext cx="3200400" cy="1435608"/>
          </a:xfrm>
          <a:prstGeom prst="rect">
            <a:avLst/>
          </a:prstGeom>
          <a:noFill/>
          <a:ln/>
        </p:spPr>
        <p:txBody>
          <a:bodyPr wrap="square" lIns="0" tIns="0" rIns="0" bIns="0" rtlCol="0" anchor="t"/>
          <a:lstStyle/>
          <a:p>
            <a:pPr rtl="1" algn="r" indent="0" marL="0">
              <a:spcAft>
                <a:spcPts val="400"/>
              </a:spcAft>
              <a:buNone/>
            </a:pPr>
            <a:r>
              <a:rPr lang="en-US" sz="1600" dirty="0">
                <a:solidFill>
                  <a:schemeClr val="tx1"/>
                </a:solidFill>
              </a:rPr>
              <a:t>جنسنج للطاقة والتكيّف مع الإجهاد، وجنكة لتحسين الدورة الدموية الدقيقة.</a:t>
            </a:r>
            <a:endParaRPr lang="en-US" sz="1600" dirty="0"/>
          </a:p>
        </p:txBody>
      </p:sp>
      <p:sp>
        <p:nvSpPr>
          <p:cNvPr id="19" name="Shape 16"/>
          <p:cNvSpPr/>
          <p:nvPr/>
        </p:nvSpPr>
        <p:spPr>
          <a:xfrm>
            <a:off x="8046720" y="3749040"/>
            <a:ext cx="3566160" cy="2240280"/>
          </a:xfrm>
          <a:prstGeom prst="roundRect">
            <a:avLst>
              <a:gd name="adj" fmla="val 4898"/>
            </a:avLst>
          </a:prstGeom>
          <a:solidFill>
            <a:schemeClr val="accent1">
              <a:alpha val="8000"/>
            </a:schemeClr>
          </a:solidFill>
          <a:ln w="9525">
            <a:solidFill>
              <a:schemeClr val="accent1">
                <a:alpha val="25000"/>
              </a:schemeClr>
            </a:solidFill>
            <a:prstDash val="solid"/>
          </a:ln>
        </p:spPr>
      </p:sp>
      <p:sp>
        <p:nvSpPr>
          <p:cNvPr id="20" name="Shape 17"/>
          <p:cNvSpPr/>
          <p:nvPr/>
        </p:nvSpPr>
        <p:spPr>
          <a:xfrm>
            <a:off x="10991088" y="3913632"/>
            <a:ext cx="457200" cy="457200"/>
          </a:xfrm>
          <a:prstGeom prst="ellipse">
            <a:avLst/>
          </a:prstGeom>
          <a:solidFill>
            <a:schemeClr val="accent1"/>
          </a:solidFill>
          <a:ln w="12700">
            <a:solidFill>
              <a:schemeClr val="accent1"/>
            </a:solidFill>
            <a:prstDash val="solid"/>
          </a:ln>
        </p:spPr>
      </p:sp>
      <p:sp>
        <p:nvSpPr>
          <p:cNvPr id="21" name="Text 18"/>
          <p:cNvSpPr txBox="1"/>
          <p:nvPr/>
        </p:nvSpPr>
        <p:spPr>
          <a:xfrm>
            <a:off x="10991088" y="3913632"/>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2" name="Text 19"/>
          <p:cNvSpPr txBox="1"/>
          <p:nvPr/>
        </p:nvSpPr>
        <p:spPr>
          <a:xfrm>
            <a:off x="8183880" y="3858768"/>
            <a:ext cx="2697480" cy="548640"/>
          </a:xfrm>
          <a:prstGeom prst="rect">
            <a:avLst/>
          </a:prstGeom>
          <a:noFill/>
          <a:ln/>
        </p:spPr>
        <p:txBody>
          <a:bodyPr wrap="square" lIns="0" tIns="0" rIns="0" bIns="0" rtlCol="0" anchor="ctr"/>
          <a:lstStyle/>
          <a:p>
            <a:pPr rtl="1" algn="r" indent="0" marL="0">
              <a:buNone/>
            </a:pPr>
            <a:r>
              <a:rPr lang="en-US" sz="1600" b="1" dirty="0">
                <a:solidFill>
                  <a:schemeClr val="accent1"/>
                </a:solidFill>
              </a:rPr>
              <a:t>Saffron · Fenugreek</a:t>
            </a:r>
            <a:endParaRPr lang="en-US" sz="1600" dirty="0"/>
          </a:p>
        </p:txBody>
      </p:sp>
      <p:sp>
        <p:nvSpPr>
          <p:cNvPr id="23" name="Text 20"/>
          <p:cNvSpPr txBox="1"/>
          <p:nvPr/>
        </p:nvSpPr>
        <p:spPr>
          <a:xfrm>
            <a:off x="8229600" y="4462272"/>
            <a:ext cx="3200400" cy="1435608"/>
          </a:xfrm>
          <a:prstGeom prst="rect">
            <a:avLst/>
          </a:prstGeom>
          <a:noFill/>
          <a:ln/>
        </p:spPr>
        <p:txBody>
          <a:bodyPr wrap="square" lIns="0" tIns="0" rIns="0" bIns="0" rtlCol="0" anchor="t"/>
          <a:lstStyle/>
          <a:p>
            <a:pPr rtl="1" algn="r" indent="0" marL="0">
              <a:spcAft>
                <a:spcPts val="400"/>
              </a:spcAft>
              <a:buNone/>
            </a:pPr>
            <a:r>
              <a:rPr lang="en-US" sz="1600" dirty="0">
                <a:solidFill>
                  <a:schemeClr val="tx1"/>
                </a:solidFill>
              </a:rPr>
              <a:t>الزعفران اتدرس على تحسين الإثارة والترطيب، والحلبة عشبة تقليدية لصحة المرأة.</a:t>
            </a:r>
            <a:endParaRPr lang="en-US" sz="1600" dirty="0"/>
          </a:p>
        </p:txBody>
      </p:sp>
      <p:sp>
        <p:nvSpPr>
          <p:cNvPr id="24" name="Shape 21"/>
          <p:cNvSpPr/>
          <p:nvPr/>
        </p:nvSpPr>
        <p:spPr>
          <a:xfrm>
            <a:off x="4297680" y="3749040"/>
            <a:ext cx="3566160" cy="2240280"/>
          </a:xfrm>
          <a:prstGeom prst="roundRect">
            <a:avLst>
              <a:gd name="adj" fmla="val 4898"/>
            </a:avLst>
          </a:prstGeom>
          <a:solidFill>
            <a:schemeClr val="accent1">
              <a:alpha val="8000"/>
            </a:schemeClr>
          </a:solidFill>
          <a:ln w="9525">
            <a:solidFill>
              <a:schemeClr val="accent1">
                <a:alpha val="25000"/>
              </a:schemeClr>
            </a:solidFill>
            <a:prstDash val="solid"/>
          </a:ln>
        </p:spPr>
      </p:sp>
      <p:sp>
        <p:nvSpPr>
          <p:cNvPr id="25" name="Shape 22"/>
          <p:cNvSpPr/>
          <p:nvPr/>
        </p:nvSpPr>
        <p:spPr>
          <a:xfrm>
            <a:off x="7242048" y="3913632"/>
            <a:ext cx="457200" cy="457200"/>
          </a:xfrm>
          <a:prstGeom prst="ellipse">
            <a:avLst/>
          </a:prstGeom>
          <a:solidFill>
            <a:schemeClr val="accent1"/>
          </a:solidFill>
          <a:ln w="12700">
            <a:solidFill>
              <a:schemeClr val="accent1"/>
            </a:solidFill>
            <a:prstDash val="solid"/>
          </a:ln>
        </p:spPr>
      </p:sp>
      <p:sp>
        <p:nvSpPr>
          <p:cNvPr id="26" name="Text 23"/>
          <p:cNvSpPr txBox="1"/>
          <p:nvPr/>
        </p:nvSpPr>
        <p:spPr>
          <a:xfrm>
            <a:off x="7242048" y="3913632"/>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27" name="Text 24"/>
          <p:cNvSpPr txBox="1"/>
          <p:nvPr/>
        </p:nvSpPr>
        <p:spPr>
          <a:xfrm>
            <a:off x="4434840" y="3858768"/>
            <a:ext cx="2697480" cy="548640"/>
          </a:xfrm>
          <a:prstGeom prst="rect">
            <a:avLst/>
          </a:prstGeom>
          <a:noFill/>
          <a:ln/>
        </p:spPr>
        <p:txBody>
          <a:bodyPr wrap="square" lIns="0" tIns="0" rIns="0" bIns="0" rtlCol="0" anchor="ctr"/>
          <a:lstStyle/>
          <a:p>
            <a:pPr rtl="1" algn="r" indent="0" marL="0">
              <a:buNone/>
            </a:pPr>
            <a:r>
              <a:rPr lang="en-US" sz="1600" b="1" dirty="0">
                <a:solidFill>
                  <a:schemeClr val="accent1"/>
                </a:solidFill>
              </a:rPr>
              <a:t>Ginger · Cinnamon</a:t>
            </a:r>
            <a:endParaRPr lang="en-US" sz="1600" dirty="0"/>
          </a:p>
        </p:txBody>
      </p:sp>
      <p:sp>
        <p:nvSpPr>
          <p:cNvPr id="28" name="Text 25"/>
          <p:cNvSpPr txBox="1"/>
          <p:nvPr/>
        </p:nvSpPr>
        <p:spPr>
          <a:xfrm>
            <a:off x="4480560" y="4462272"/>
            <a:ext cx="3200400" cy="1435608"/>
          </a:xfrm>
          <a:prstGeom prst="rect">
            <a:avLst/>
          </a:prstGeom>
          <a:noFill/>
          <a:ln/>
        </p:spPr>
        <p:txBody>
          <a:bodyPr wrap="square" lIns="0" tIns="0" rIns="0" bIns="0" rtlCol="0" anchor="t"/>
          <a:lstStyle/>
          <a:p>
            <a:pPr rtl="1" algn="r" indent="0" marL="0">
              <a:spcAft>
                <a:spcPts val="400"/>
              </a:spcAft>
              <a:buNone/>
            </a:pPr>
            <a:r>
              <a:rPr lang="en-US" sz="1600" dirty="0">
                <a:solidFill>
                  <a:schemeClr val="tx1"/>
                </a:solidFill>
              </a:rPr>
              <a:t>زنجبيل وقرفة لتنشيط الدورة الدموية والإحساس بالدفء.</a:t>
            </a:r>
            <a:endParaRPr lang="en-US" sz="1600" dirty="0"/>
          </a:p>
        </p:txBody>
      </p:sp>
      <p:sp>
        <p:nvSpPr>
          <p:cNvPr id="29" name="Shape 26"/>
          <p:cNvSpPr/>
          <p:nvPr/>
        </p:nvSpPr>
        <p:spPr>
          <a:xfrm>
            <a:off x="548640" y="3749040"/>
            <a:ext cx="3566160" cy="2240280"/>
          </a:xfrm>
          <a:prstGeom prst="roundRect">
            <a:avLst>
              <a:gd name="adj" fmla="val 4898"/>
            </a:avLst>
          </a:prstGeom>
          <a:solidFill>
            <a:schemeClr val="accent1">
              <a:alpha val="8000"/>
            </a:schemeClr>
          </a:solidFill>
          <a:ln w="9525">
            <a:solidFill>
              <a:schemeClr val="accent1">
                <a:alpha val="25000"/>
              </a:schemeClr>
            </a:solidFill>
            <a:prstDash val="solid"/>
          </a:ln>
        </p:spPr>
      </p:sp>
      <p:sp>
        <p:nvSpPr>
          <p:cNvPr id="30" name="Shape 27"/>
          <p:cNvSpPr/>
          <p:nvPr/>
        </p:nvSpPr>
        <p:spPr>
          <a:xfrm>
            <a:off x="3493008" y="3913632"/>
            <a:ext cx="457200" cy="457200"/>
          </a:xfrm>
          <a:prstGeom prst="ellipse">
            <a:avLst/>
          </a:prstGeom>
          <a:solidFill>
            <a:schemeClr val="accent1"/>
          </a:solidFill>
          <a:ln w="12700">
            <a:solidFill>
              <a:schemeClr val="accent1"/>
            </a:solidFill>
            <a:prstDash val="solid"/>
          </a:ln>
        </p:spPr>
      </p:sp>
      <p:sp>
        <p:nvSpPr>
          <p:cNvPr id="31" name="Text 28"/>
          <p:cNvSpPr txBox="1"/>
          <p:nvPr/>
        </p:nvSpPr>
        <p:spPr>
          <a:xfrm>
            <a:off x="3493008" y="3913632"/>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6</a:t>
            </a:r>
            <a:endParaRPr lang="en-US" sz="1400" dirty="0"/>
          </a:p>
        </p:txBody>
      </p:sp>
      <p:sp>
        <p:nvSpPr>
          <p:cNvPr id="32" name="Text 29"/>
          <p:cNvSpPr txBox="1"/>
          <p:nvPr/>
        </p:nvSpPr>
        <p:spPr>
          <a:xfrm>
            <a:off x="685800" y="3858768"/>
            <a:ext cx="2697480" cy="548640"/>
          </a:xfrm>
          <a:prstGeom prst="rect">
            <a:avLst/>
          </a:prstGeom>
          <a:noFill/>
          <a:ln/>
        </p:spPr>
        <p:txBody>
          <a:bodyPr wrap="square" lIns="0" tIns="0" rIns="0" bIns="0" rtlCol="0" anchor="ctr"/>
          <a:lstStyle/>
          <a:p>
            <a:pPr rtl="1" algn="r" indent="0" marL="0">
              <a:buNone/>
            </a:pPr>
            <a:r>
              <a:rPr lang="en-US" sz="1600" b="1" dirty="0">
                <a:solidFill>
                  <a:schemeClr val="accent1"/>
                </a:solidFill>
              </a:rPr>
              <a:t>Vitamin B6 · Niacin (B3)</a:t>
            </a:r>
            <a:endParaRPr lang="en-US" sz="1600" dirty="0"/>
          </a:p>
        </p:txBody>
      </p:sp>
      <p:sp>
        <p:nvSpPr>
          <p:cNvPr id="33" name="Text 30"/>
          <p:cNvSpPr txBox="1"/>
          <p:nvPr/>
        </p:nvSpPr>
        <p:spPr>
          <a:xfrm>
            <a:off x="731520" y="4462272"/>
            <a:ext cx="3200400" cy="1435608"/>
          </a:xfrm>
          <a:prstGeom prst="rect">
            <a:avLst/>
          </a:prstGeom>
          <a:noFill/>
          <a:ln/>
        </p:spPr>
        <p:txBody>
          <a:bodyPr wrap="square" lIns="0" tIns="0" rIns="0" bIns="0" rtlCol="0" anchor="t"/>
          <a:lstStyle/>
          <a:p>
            <a:pPr rtl="1" algn="r" indent="0" marL="0">
              <a:spcAft>
                <a:spcPts val="400"/>
              </a:spcAft>
              <a:buNone/>
            </a:pPr>
            <a:r>
              <a:rPr lang="en-US" sz="1600" dirty="0">
                <a:solidFill>
                  <a:schemeClr val="tx1"/>
                </a:solidFill>
              </a:rPr>
              <a:t>B6 بيساهم في تنظيم النشاط الهرموني، والنياسين في تقليل التعب والإرهاق.</a:t>
            </a:r>
            <a:endParaRPr lang="en-US" sz="1600" dirty="0"/>
          </a:p>
        </p:txBody>
      </p:sp>
      <p:sp>
        <p:nvSpPr>
          <p:cNvPr id="25" name="Slide Number Placeholder 0"/>
          <p:cNvSpPr>
            <a:spLocks noGrp="1"/>
          </p:cNvSpPr>
          <p:nvPr>
            <p:ph type="sldNum" sz="quarter" idx="4294967295"/>
          </p:nvPr>
        </p:nvSpPr>
        <p:spPr>
          <a:xfrm>
            <a:off x="5806440" y="630936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ct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2" type="title" hasCustomPrompt="1"/>
          </p:nvPr>
        </p:nvSpPr>
        <p:spPr>
          <a:xfrm>
            <a:off x="548640" y="320040"/>
            <a:ext cx="11064240" cy="777240"/>
          </a:xfrm>
          <a:prstGeom prst="rect">
            <a:avLst/>
          </a:prstGeom>
          <a:noFill/>
          <a:ln/>
        </p:spPr>
        <p:txBody>
          <a:bodyPr wrap="square" rtlCol="0" anchor="ctr"/>
          <a:lstStyle/>
          <a:p>
            <a:pPr rtl="1" algn="r" indent="0" marL="0">
              <a:buNone/>
            </a:pPr>
            <a:r>
              <a:rPr lang="en-US" sz="3200" b="1" dirty="0">
                <a:solidFill>
                  <a:schemeClr val="tx2"/>
                </a:solidFill>
              </a:rPr>
              <a:t>Fem-Arosa — الدليل العلمي على المكونات</a:t>
            </a:r>
            <a:endParaRPr lang="en-US" sz="3200" dirty="0"/>
          </a:p>
        </p:txBody>
      </p:sp>
      <p:sp>
        <p:nvSpPr>
          <p:cNvPr id="4" name="Shape 1"/>
          <p:cNvSpPr/>
          <p:nvPr/>
        </p:nvSpPr>
        <p:spPr>
          <a:xfrm>
            <a:off x="8778240" y="1325880"/>
            <a:ext cx="2834640" cy="2194560"/>
          </a:xfrm>
          <a:prstGeom prst="roundRect">
            <a:avLst>
              <a:gd name="adj" fmla="val 5000"/>
            </a:avLst>
          </a:prstGeom>
          <a:solidFill>
            <a:schemeClr val="accent1">
              <a:alpha val="8000"/>
            </a:schemeClr>
          </a:solidFill>
          <a:ln w="9525">
            <a:solidFill>
              <a:schemeClr val="accent1">
                <a:alpha val="25000"/>
              </a:schemeClr>
            </a:solidFill>
            <a:prstDash val="solid"/>
          </a:ln>
        </p:spPr>
      </p:sp>
      <p:sp>
        <p:nvSpPr>
          <p:cNvPr id="5" name="Text 2"/>
          <p:cNvSpPr txBox="1"/>
          <p:nvPr/>
        </p:nvSpPr>
        <p:spPr>
          <a:xfrm>
            <a:off x="8778240" y="1435608"/>
            <a:ext cx="2834640" cy="987552"/>
          </a:xfrm>
          <a:prstGeom prst="rect">
            <a:avLst/>
          </a:prstGeom>
          <a:noFill/>
          <a:ln/>
        </p:spPr>
        <p:txBody>
          <a:bodyPr wrap="square" lIns="0" tIns="0" rIns="0" bIns="0" rtlCol="0" anchor="ctr"/>
          <a:lstStyle/>
          <a:p>
            <a:pPr algn="ctr" indent="0" marL="0">
              <a:buNone/>
            </a:pPr>
            <a:r>
              <a:rPr lang="en-US" sz="3200" b="1" dirty="0">
                <a:solidFill>
                  <a:schemeClr val="accent1"/>
                </a:solidFill>
              </a:rPr>
              <a:t>73.5%</a:t>
            </a:r>
            <a:endParaRPr lang="en-US" sz="3200" dirty="0"/>
          </a:p>
        </p:txBody>
      </p:sp>
      <p:sp>
        <p:nvSpPr>
          <p:cNvPr id="6" name="Text 3"/>
          <p:cNvSpPr txBox="1"/>
          <p:nvPr/>
        </p:nvSpPr>
        <p:spPr>
          <a:xfrm>
            <a:off x="8869680" y="2423160"/>
            <a:ext cx="2651760" cy="365760"/>
          </a:xfrm>
          <a:prstGeom prst="rect">
            <a:avLst/>
          </a:prstGeom>
          <a:noFill/>
          <a:ln/>
        </p:spPr>
        <p:txBody>
          <a:bodyPr wrap="square" lIns="0" tIns="0" rIns="0" bIns="0" rtlCol="0" anchor="ctr"/>
          <a:lstStyle/>
          <a:p>
            <a:pPr rtl="1" algn="ctr" indent="0" marL="0">
              <a:buNone/>
            </a:pPr>
            <a:r>
              <a:rPr lang="en-US" sz="1400" b="1" dirty="0">
                <a:solidFill>
                  <a:schemeClr val="tx1"/>
                </a:solidFill>
              </a:rPr>
              <a:t>مقابل 37.2% للدواء الوهمي</a:t>
            </a:r>
            <a:endParaRPr lang="en-US" sz="1400" dirty="0"/>
          </a:p>
        </p:txBody>
      </p:sp>
      <p:sp>
        <p:nvSpPr>
          <p:cNvPr id="7" name="Text 4"/>
          <p:cNvSpPr txBox="1"/>
          <p:nvPr/>
        </p:nvSpPr>
        <p:spPr>
          <a:xfrm>
            <a:off x="8915400" y="2788920"/>
            <a:ext cx="2560320" cy="640080"/>
          </a:xfrm>
          <a:prstGeom prst="rect">
            <a:avLst/>
          </a:prstGeom>
          <a:noFill/>
          <a:ln/>
        </p:spPr>
        <p:txBody>
          <a:bodyPr wrap="square" lIns="0" tIns="0" rIns="0" bIns="0" rtlCol="0" anchor="t"/>
          <a:lstStyle/>
          <a:p>
            <a:pPr rtl="1" algn="ctr" indent="0" marL="0">
              <a:buNone/>
            </a:pPr>
            <a:r>
              <a:rPr lang="en-US" sz="1200" dirty="0">
                <a:solidFill>
                  <a:schemeClr val="accent5"/>
                </a:solidFill>
              </a:rPr>
              <a:t>تحسّن الرضا العام — Ito 2001</a:t>
            </a:r>
            <a:endParaRPr lang="en-US" sz="1200" dirty="0"/>
          </a:p>
        </p:txBody>
      </p:sp>
      <p:sp>
        <p:nvSpPr>
          <p:cNvPr id="8" name="Shape 5"/>
          <p:cNvSpPr/>
          <p:nvPr/>
        </p:nvSpPr>
        <p:spPr>
          <a:xfrm>
            <a:off x="5852160" y="1325880"/>
            <a:ext cx="2743200" cy="2194560"/>
          </a:xfrm>
          <a:prstGeom prst="roundRect">
            <a:avLst>
              <a:gd name="adj" fmla="val 5000"/>
            </a:avLst>
          </a:prstGeom>
          <a:solidFill>
            <a:schemeClr val="accent1">
              <a:alpha val="8000"/>
            </a:schemeClr>
          </a:solidFill>
          <a:ln w="9525">
            <a:solidFill>
              <a:schemeClr val="accent1">
                <a:alpha val="25000"/>
              </a:schemeClr>
            </a:solidFill>
            <a:prstDash val="solid"/>
          </a:ln>
        </p:spPr>
      </p:sp>
      <p:sp>
        <p:nvSpPr>
          <p:cNvPr id="9" name="Text 6"/>
          <p:cNvSpPr txBox="1"/>
          <p:nvPr/>
        </p:nvSpPr>
        <p:spPr>
          <a:xfrm>
            <a:off x="6035040" y="1435608"/>
            <a:ext cx="2377440" cy="365760"/>
          </a:xfrm>
          <a:prstGeom prst="rect">
            <a:avLst/>
          </a:prstGeom>
          <a:noFill/>
          <a:ln/>
        </p:spPr>
        <p:txBody>
          <a:bodyPr wrap="square" lIns="0" tIns="0" rIns="0" bIns="0" rtlCol="0" anchor="ctr"/>
          <a:lstStyle/>
          <a:p>
            <a:pPr algn="l" indent="0" marL="0">
              <a:buNone/>
            </a:pPr>
            <a:r>
              <a:rPr lang="en-US" sz="1400" b="1" dirty="0">
                <a:solidFill>
                  <a:schemeClr val="accent1"/>
                </a:solidFill>
              </a:rPr>
              <a:t>Ito, 2001 · RCT</a:t>
            </a:r>
            <a:endParaRPr lang="en-US" sz="1400" dirty="0"/>
          </a:p>
        </p:txBody>
      </p:sp>
      <p:sp>
        <p:nvSpPr>
          <p:cNvPr id="10" name="Text 7"/>
          <p:cNvSpPr txBox="1"/>
          <p:nvPr/>
        </p:nvSpPr>
        <p:spPr>
          <a:xfrm>
            <a:off x="6035040" y="1828800"/>
            <a:ext cx="2377440" cy="685800"/>
          </a:xfrm>
          <a:prstGeom prst="rect">
            <a:avLst/>
          </a:prstGeom>
          <a:noFill/>
          <a:ln/>
        </p:spPr>
        <p:txBody>
          <a:bodyPr wrap="square" lIns="0" tIns="0" rIns="0" bIns="0" rtlCol="0" anchor="t"/>
          <a:lstStyle/>
          <a:p>
            <a:pPr rtl="1" algn="r" indent="0" marL="0">
              <a:buNone/>
            </a:pPr>
            <a:r>
              <a:rPr lang="en-US" sz="1300" dirty="0">
                <a:solidFill>
                  <a:schemeClr val="accent5"/>
                </a:solidFill>
              </a:rPr>
              <a:t>77 سيدة · أرجينين + جنسنج + جنكة + دميانا · 4 أسابيع</a:t>
            </a:r>
            <a:endParaRPr lang="en-US" sz="1300" dirty="0"/>
          </a:p>
        </p:txBody>
      </p:sp>
      <p:sp>
        <p:nvSpPr>
          <p:cNvPr id="11" name="Text 8"/>
          <p:cNvSpPr txBox="1"/>
          <p:nvPr/>
        </p:nvSpPr>
        <p:spPr>
          <a:xfrm>
            <a:off x="6035040" y="2514600"/>
            <a:ext cx="2377440" cy="914400"/>
          </a:xfrm>
          <a:prstGeom prst="rect">
            <a:avLst/>
          </a:prstGeom>
          <a:noFill/>
          <a:ln/>
        </p:spPr>
        <p:txBody>
          <a:bodyPr wrap="square" lIns="0" tIns="0" rIns="0" bIns="0" rtlCol="0" anchor="t"/>
          <a:lstStyle/>
          <a:p>
            <a:pPr rtl="1" algn="r" indent="0" marL="0">
              <a:buNone/>
            </a:pPr>
            <a:r>
              <a:rPr lang="en-US" sz="1400" b="1" dirty="0">
                <a:solidFill>
                  <a:schemeClr val="tx1"/>
                </a:solidFill>
              </a:rPr>
              <a:t>تحسّن في الرغبة والرضا بدون آثار جانبية ملحوظة</a:t>
            </a:r>
            <a:endParaRPr lang="en-US" sz="1400" dirty="0"/>
          </a:p>
        </p:txBody>
      </p:sp>
      <p:sp>
        <p:nvSpPr>
          <p:cNvPr id="12" name="Shape 9"/>
          <p:cNvSpPr/>
          <p:nvPr/>
        </p:nvSpPr>
        <p:spPr>
          <a:xfrm>
            <a:off x="2926080" y="1325880"/>
            <a:ext cx="2743200" cy="2194560"/>
          </a:xfrm>
          <a:prstGeom prst="roundRect">
            <a:avLst>
              <a:gd name="adj" fmla="val 5000"/>
            </a:avLst>
          </a:prstGeom>
          <a:solidFill>
            <a:schemeClr val="accent1">
              <a:alpha val="8000"/>
            </a:schemeClr>
          </a:solidFill>
          <a:ln w="9525">
            <a:solidFill>
              <a:schemeClr val="accent1">
                <a:alpha val="25000"/>
              </a:schemeClr>
            </a:solidFill>
            <a:prstDash val="solid"/>
          </a:ln>
        </p:spPr>
      </p:sp>
      <p:sp>
        <p:nvSpPr>
          <p:cNvPr id="13" name="Text 10"/>
          <p:cNvSpPr txBox="1"/>
          <p:nvPr/>
        </p:nvSpPr>
        <p:spPr>
          <a:xfrm>
            <a:off x="3108960" y="1435608"/>
            <a:ext cx="2377440" cy="365760"/>
          </a:xfrm>
          <a:prstGeom prst="rect">
            <a:avLst/>
          </a:prstGeom>
          <a:noFill/>
          <a:ln/>
        </p:spPr>
        <p:txBody>
          <a:bodyPr wrap="square" lIns="0" tIns="0" rIns="0" bIns="0" rtlCol="0" anchor="ctr"/>
          <a:lstStyle/>
          <a:p>
            <a:pPr algn="l" indent="0" marL="0">
              <a:buNone/>
            </a:pPr>
            <a:r>
              <a:rPr lang="en-US" sz="1400" b="1" dirty="0">
                <a:solidFill>
                  <a:schemeClr val="accent1"/>
                </a:solidFill>
              </a:rPr>
              <a:t>Dording, 2015 · RCT</a:t>
            </a:r>
            <a:endParaRPr lang="en-US" sz="1400" dirty="0"/>
          </a:p>
        </p:txBody>
      </p:sp>
      <p:sp>
        <p:nvSpPr>
          <p:cNvPr id="14" name="Text 11"/>
          <p:cNvSpPr txBox="1"/>
          <p:nvPr/>
        </p:nvSpPr>
        <p:spPr>
          <a:xfrm>
            <a:off x="3108960" y="1828800"/>
            <a:ext cx="2377440" cy="685800"/>
          </a:xfrm>
          <a:prstGeom prst="rect">
            <a:avLst/>
          </a:prstGeom>
          <a:noFill/>
          <a:ln/>
        </p:spPr>
        <p:txBody>
          <a:bodyPr wrap="square" lIns="0" tIns="0" rIns="0" bIns="0" rtlCol="0" anchor="t"/>
          <a:lstStyle/>
          <a:p>
            <a:pPr rtl="1" algn="r" indent="0" marL="0">
              <a:buNone/>
            </a:pPr>
            <a:r>
              <a:rPr lang="en-US" sz="1300" dirty="0">
                <a:solidFill>
                  <a:schemeClr val="accent5"/>
                </a:solidFill>
              </a:rPr>
              <a:t>45 سيدة · ماكا 3 جم يومياً · 12 أسبوع</a:t>
            </a:r>
            <a:endParaRPr lang="en-US" sz="1300" dirty="0"/>
          </a:p>
        </p:txBody>
      </p:sp>
      <p:sp>
        <p:nvSpPr>
          <p:cNvPr id="15" name="Text 12"/>
          <p:cNvSpPr txBox="1"/>
          <p:nvPr/>
        </p:nvSpPr>
        <p:spPr>
          <a:xfrm>
            <a:off x="3108960" y="2514600"/>
            <a:ext cx="2377440" cy="914400"/>
          </a:xfrm>
          <a:prstGeom prst="rect">
            <a:avLst/>
          </a:prstGeom>
          <a:noFill/>
          <a:ln/>
        </p:spPr>
        <p:txBody>
          <a:bodyPr wrap="square" lIns="0" tIns="0" rIns="0" bIns="0" rtlCol="0" anchor="t"/>
          <a:lstStyle/>
          <a:p>
            <a:pPr rtl="1" algn="r" indent="0" marL="0">
              <a:buNone/>
            </a:pPr>
            <a:r>
              <a:rPr lang="en-US" sz="1400" b="1" dirty="0">
                <a:solidFill>
                  <a:schemeClr val="tx1"/>
                </a:solidFill>
              </a:rPr>
              <a:t>تحسّن أوضح عند السيدات بعد انقطاع الطمث، وتحمّل جيد</a:t>
            </a:r>
            <a:endParaRPr lang="en-US" sz="1400" dirty="0"/>
          </a:p>
        </p:txBody>
      </p:sp>
      <p:sp>
        <p:nvSpPr>
          <p:cNvPr id="16" name="Shape 13"/>
          <p:cNvSpPr/>
          <p:nvPr/>
        </p:nvSpPr>
        <p:spPr>
          <a:xfrm>
            <a:off x="548640" y="1325880"/>
            <a:ext cx="2194560" cy="2194560"/>
          </a:xfrm>
          <a:prstGeom prst="roundRect">
            <a:avLst>
              <a:gd name="adj" fmla="val 5000"/>
            </a:avLst>
          </a:prstGeom>
          <a:solidFill>
            <a:schemeClr val="accent1">
              <a:alpha val="8000"/>
            </a:schemeClr>
          </a:solidFill>
          <a:ln w="9525">
            <a:solidFill>
              <a:schemeClr val="accent1">
                <a:alpha val="25000"/>
              </a:schemeClr>
            </a:solidFill>
            <a:prstDash val="solid"/>
          </a:ln>
        </p:spPr>
      </p:sp>
      <p:sp>
        <p:nvSpPr>
          <p:cNvPr id="17" name="Text 14"/>
          <p:cNvSpPr txBox="1"/>
          <p:nvPr/>
        </p:nvSpPr>
        <p:spPr>
          <a:xfrm>
            <a:off x="731520" y="1435608"/>
            <a:ext cx="1828800" cy="365760"/>
          </a:xfrm>
          <a:prstGeom prst="rect">
            <a:avLst/>
          </a:prstGeom>
          <a:noFill/>
          <a:ln/>
        </p:spPr>
        <p:txBody>
          <a:bodyPr wrap="square" lIns="0" tIns="0" rIns="0" bIns="0" rtlCol="0" anchor="ctr"/>
          <a:lstStyle/>
          <a:p>
            <a:pPr algn="l" indent="0" marL="0">
              <a:buNone/>
            </a:pPr>
            <a:r>
              <a:rPr lang="en-US" sz="1400" b="1" dirty="0">
                <a:solidFill>
                  <a:schemeClr val="accent1"/>
                </a:solidFill>
              </a:rPr>
              <a:t>Kashani, 2013</a:t>
            </a:r>
            <a:endParaRPr lang="en-US" sz="1400" dirty="0"/>
          </a:p>
        </p:txBody>
      </p:sp>
      <p:sp>
        <p:nvSpPr>
          <p:cNvPr id="18" name="Text 15"/>
          <p:cNvSpPr txBox="1"/>
          <p:nvPr/>
        </p:nvSpPr>
        <p:spPr>
          <a:xfrm>
            <a:off x="731520" y="1828800"/>
            <a:ext cx="1828800" cy="685800"/>
          </a:xfrm>
          <a:prstGeom prst="rect">
            <a:avLst/>
          </a:prstGeom>
          <a:noFill/>
          <a:ln/>
        </p:spPr>
        <p:txBody>
          <a:bodyPr wrap="square" lIns="0" tIns="0" rIns="0" bIns="0" rtlCol="0" anchor="t"/>
          <a:lstStyle/>
          <a:p>
            <a:pPr rtl="1" algn="r" indent="0" marL="0">
              <a:buNone/>
            </a:pPr>
            <a:r>
              <a:rPr lang="en-US" sz="1300" dirty="0">
                <a:solidFill>
                  <a:schemeClr val="accent5"/>
                </a:solidFill>
              </a:rPr>
              <a:t>38 سيدة · زعفران 30 ملجم · 4 أسابيع</a:t>
            </a:r>
            <a:endParaRPr lang="en-US" sz="1300" dirty="0"/>
          </a:p>
        </p:txBody>
      </p:sp>
      <p:sp>
        <p:nvSpPr>
          <p:cNvPr id="19" name="Text 16"/>
          <p:cNvSpPr txBox="1"/>
          <p:nvPr/>
        </p:nvSpPr>
        <p:spPr>
          <a:xfrm>
            <a:off x="731520" y="2514600"/>
            <a:ext cx="1828800" cy="914400"/>
          </a:xfrm>
          <a:prstGeom prst="rect">
            <a:avLst/>
          </a:prstGeom>
          <a:noFill/>
          <a:ln/>
        </p:spPr>
        <p:txBody>
          <a:bodyPr wrap="square" lIns="0" tIns="0" rIns="0" bIns="0" rtlCol="0" anchor="t"/>
          <a:lstStyle/>
          <a:p>
            <a:pPr rtl="1" algn="r" indent="0" marL="0">
              <a:buNone/>
            </a:pPr>
            <a:r>
              <a:rPr lang="en-US" sz="1400" b="1" dirty="0">
                <a:solidFill>
                  <a:schemeClr val="tx1"/>
                </a:solidFill>
              </a:rPr>
              <a:t>تحسّن الإثارة والترطيب</a:t>
            </a:r>
            <a:endParaRPr lang="en-US" sz="1400" dirty="0"/>
          </a:p>
        </p:txBody>
      </p:sp>
      <p:sp>
        <p:nvSpPr>
          <p:cNvPr id="20" name="Shape 17"/>
          <p:cNvSpPr/>
          <p:nvPr/>
        </p:nvSpPr>
        <p:spPr>
          <a:xfrm>
            <a:off x="5852160" y="3749040"/>
            <a:ext cx="5760720" cy="2286000"/>
          </a:xfrm>
          <a:prstGeom prst="roundRect">
            <a:avLst>
              <a:gd name="adj" fmla="val 4800"/>
            </a:avLst>
          </a:prstGeom>
          <a:solidFill>
            <a:schemeClr val="accent1">
              <a:alpha val="8000"/>
            </a:schemeClr>
          </a:solidFill>
          <a:ln w="9525">
            <a:solidFill>
              <a:schemeClr val="accent1">
                <a:alpha val="25000"/>
              </a:schemeClr>
            </a:solidFill>
            <a:prstDash val="solid"/>
          </a:ln>
        </p:spPr>
      </p:sp>
      <p:sp>
        <p:nvSpPr>
          <p:cNvPr id="21" name="Text 18"/>
          <p:cNvSpPr txBox="1"/>
          <p:nvPr/>
        </p:nvSpPr>
        <p:spPr>
          <a:xfrm>
            <a:off x="6035040" y="3858768"/>
            <a:ext cx="5394960" cy="365760"/>
          </a:xfrm>
          <a:prstGeom prst="rect">
            <a:avLst/>
          </a:prstGeom>
          <a:noFill/>
          <a:ln/>
        </p:spPr>
        <p:txBody>
          <a:bodyPr wrap="square" lIns="0" tIns="0" rIns="0" bIns="0" rtlCol="0" anchor="ctr"/>
          <a:lstStyle/>
          <a:p>
            <a:pPr algn="l" indent="0" marL="0">
              <a:buNone/>
            </a:pPr>
            <a:r>
              <a:rPr lang="en-US" sz="1400" b="1" dirty="0">
                <a:solidFill>
                  <a:schemeClr val="accent1"/>
                </a:solidFill>
              </a:rPr>
              <a:t>Oh, 2010 · RCT (Korean red ginseng)</a:t>
            </a:r>
            <a:endParaRPr lang="en-US" sz="1400" dirty="0"/>
          </a:p>
        </p:txBody>
      </p:sp>
      <p:sp>
        <p:nvSpPr>
          <p:cNvPr id="22" name="Text 19"/>
          <p:cNvSpPr txBox="1"/>
          <p:nvPr/>
        </p:nvSpPr>
        <p:spPr>
          <a:xfrm>
            <a:off x="6035040" y="4251960"/>
            <a:ext cx="5394960" cy="685800"/>
          </a:xfrm>
          <a:prstGeom prst="rect">
            <a:avLst/>
          </a:prstGeom>
          <a:noFill/>
          <a:ln/>
        </p:spPr>
        <p:txBody>
          <a:bodyPr wrap="square" lIns="0" tIns="0" rIns="0" bIns="0" rtlCol="0" anchor="t"/>
          <a:lstStyle/>
          <a:p>
            <a:pPr rtl="1" algn="r" indent="0" marL="0">
              <a:buNone/>
            </a:pPr>
            <a:r>
              <a:rPr lang="en-US" sz="1300" dirty="0">
                <a:solidFill>
                  <a:schemeClr val="accent5"/>
                </a:solidFill>
              </a:rPr>
              <a:t>سيدات في سن انقطاع الطمث · دراسة مزدوجة التعمية · 8 أسابيع</a:t>
            </a:r>
            <a:endParaRPr lang="en-US" sz="1300" dirty="0"/>
          </a:p>
        </p:txBody>
      </p:sp>
      <p:sp>
        <p:nvSpPr>
          <p:cNvPr id="23" name="Text 20"/>
          <p:cNvSpPr txBox="1"/>
          <p:nvPr/>
        </p:nvSpPr>
        <p:spPr>
          <a:xfrm>
            <a:off x="6035040" y="4937760"/>
            <a:ext cx="5394960" cy="1005840"/>
          </a:xfrm>
          <a:prstGeom prst="rect">
            <a:avLst/>
          </a:prstGeom>
          <a:noFill/>
          <a:ln/>
        </p:spPr>
        <p:txBody>
          <a:bodyPr wrap="square" lIns="0" tIns="0" rIns="0" bIns="0" rtlCol="0" anchor="t"/>
          <a:lstStyle/>
          <a:p>
            <a:pPr rtl="1" algn="r" indent="0" marL="0">
              <a:buNone/>
            </a:pPr>
            <a:r>
              <a:rPr lang="en-US" sz="1400" b="1" dirty="0">
                <a:solidFill>
                  <a:schemeClr val="tx1"/>
                </a:solidFill>
              </a:rPr>
              <a:t>تحسّن ملحوظ في الإثارة مقارنة بالدواء الوهمي</a:t>
            </a:r>
            <a:endParaRPr lang="en-US" sz="1400" dirty="0"/>
          </a:p>
        </p:txBody>
      </p:sp>
      <p:sp>
        <p:nvSpPr>
          <p:cNvPr id="24" name="Shape 21"/>
          <p:cNvSpPr/>
          <p:nvPr/>
        </p:nvSpPr>
        <p:spPr>
          <a:xfrm>
            <a:off x="548640" y="3749040"/>
            <a:ext cx="5120640" cy="2286000"/>
          </a:xfrm>
          <a:prstGeom prst="roundRect">
            <a:avLst>
              <a:gd name="adj" fmla="val 4800"/>
            </a:avLst>
          </a:prstGeom>
          <a:solidFill>
            <a:schemeClr val="accent5">
              <a:alpha val="6000"/>
            </a:schemeClr>
          </a:solidFill>
          <a:ln w="9525">
            <a:solidFill>
              <a:schemeClr val="accent5">
                <a:alpha val="25000"/>
              </a:schemeClr>
            </a:solidFill>
            <a:prstDash val="solid"/>
          </a:ln>
        </p:spPr>
      </p:sp>
      <p:sp>
        <p:nvSpPr>
          <p:cNvPr id="25" name="Text 22"/>
          <p:cNvSpPr txBox="1"/>
          <p:nvPr/>
        </p:nvSpPr>
        <p:spPr>
          <a:xfrm>
            <a:off x="731520" y="3886200"/>
            <a:ext cx="4754880" cy="2011680"/>
          </a:xfrm>
          <a:prstGeom prst="rect">
            <a:avLst/>
          </a:prstGeom>
          <a:noFill/>
          <a:ln/>
        </p:spPr>
        <p:txBody>
          <a:bodyPr wrap="square" lIns="0" tIns="0" rIns="0" bIns="0" rtlCol="0" anchor="t"/>
          <a:lstStyle/>
          <a:p>
            <a:pPr rtl="1" algn="r" marL="342900" indent="-342900">
              <a:spcAft>
                <a:spcPts val="600"/>
              </a:spcAft>
              <a:buSzPct val="100000"/>
              <a:buChar char="•"/>
            </a:pPr>
            <a:r>
              <a:rPr lang="en-US" sz="1400" dirty="0">
                <a:solidFill>
                  <a:srgbClr val="000000"/>
                </a:solidFill>
              </a:rPr>
              <a:t>الدراسات على المكونات أو تركيبات شبيهة، مش على المنتج النهائي.</a:t>
            </a:r>
            <a:endParaRPr lang="en-US" sz="1400" dirty="0"/>
          </a:p>
          <a:p>
            <a:pPr rtl="1" algn="r" marL="342900" indent="-342900">
              <a:spcAft>
                <a:spcPts val="600"/>
              </a:spcAft>
              <a:buSzPct val="100000"/>
              <a:buChar char="•"/>
            </a:pPr>
            <a:r>
              <a:rPr lang="en-US" sz="1400" dirty="0">
                <a:solidFill>
                  <a:srgbClr val="000000"/>
                </a:solidFill>
              </a:rPr>
              <a:t>جرعات الدراسات ممكن تكون مختلفة عن جرعة المنتج.</a:t>
            </a:r>
            <a:endParaRPr lang="en-US" sz="1400" dirty="0"/>
          </a:p>
          <a:p>
            <a:pPr rtl="1" algn="r" marL="342900" indent="-342900">
              <a:spcAft>
                <a:spcPts val="600"/>
              </a:spcAft>
              <a:buSzPct val="100000"/>
              <a:buChar char="•"/>
            </a:pPr>
            <a:r>
              <a:rPr lang="en-US" sz="1400" dirty="0">
                <a:solidFill>
                  <a:srgbClr val="000000"/>
                </a:solidFill>
              </a:rPr>
              <a:t>نتكلم عن "دعم الحيوية"، ومنقولش "علاج".</a:t>
            </a:r>
            <a:endParaRPr lang="en-US" sz="1400" dirty="0"/>
          </a:p>
        </p:txBody>
      </p:sp>
      <p:sp>
        <p:nvSpPr>
          <p:cNvPr id="25" name="Slide Number Placeholder 0"/>
          <p:cNvSpPr>
            <a:spLocks noGrp="1"/>
          </p:cNvSpPr>
          <p:nvPr>
            <p:ph type="sldNum" sz="quarter" idx="4294967295"/>
          </p:nvPr>
        </p:nvSpPr>
        <p:spPr>
          <a:xfrm>
            <a:off x="5806440" y="630936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ct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2" type="title" hasCustomPrompt="1"/>
          </p:nvPr>
        </p:nvSpPr>
        <p:spPr>
          <a:xfrm>
            <a:off x="548640" y="320040"/>
            <a:ext cx="11064240" cy="777240"/>
          </a:xfrm>
          <a:prstGeom prst="rect">
            <a:avLst/>
          </a:prstGeom>
          <a:noFill/>
          <a:ln/>
        </p:spPr>
        <p:txBody>
          <a:bodyPr wrap="square" rtlCol="0" anchor="ctr"/>
          <a:lstStyle/>
          <a:p>
            <a:pPr rtl="1" algn="r" indent="0" marL="0">
              <a:buNone/>
            </a:pPr>
            <a:r>
              <a:rPr lang="en-US" sz="3200" b="1" dirty="0">
                <a:solidFill>
                  <a:schemeClr val="tx2"/>
                </a:solidFill>
              </a:rPr>
              <a:t>Fem-Arosa — إزاي يتعرض على الطبيب</a:t>
            </a:r>
            <a:endParaRPr lang="en-US" sz="3200" dirty="0"/>
          </a:p>
        </p:txBody>
      </p:sp>
      <p:sp>
        <p:nvSpPr>
          <p:cNvPr id="4" name="Shape 1"/>
          <p:cNvSpPr/>
          <p:nvPr/>
        </p:nvSpPr>
        <p:spPr>
          <a:xfrm>
            <a:off x="548640" y="1325880"/>
            <a:ext cx="11064240" cy="1188720"/>
          </a:xfrm>
          <a:prstGeom prst="roundRect">
            <a:avLst>
              <a:gd name="adj" fmla="val 11538"/>
            </a:avLst>
          </a:prstGeom>
          <a:solidFill>
            <a:schemeClr val="accent1"/>
          </a:solidFill>
          <a:ln w="12700">
            <a:solidFill>
              <a:schemeClr val="accent1"/>
            </a:solidFill>
            <a:prstDash val="solid"/>
          </a:ln>
        </p:spPr>
      </p:sp>
      <p:sp>
        <p:nvSpPr>
          <p:cNvPr id="5" name="Text 2"/>
          <p:cNvSpPr txBox="1"/>
          <p:nvPr/>
        </p:nvSpPr>
        <p:spPr>
          <a:xfrm>
            <a:off x="822960" y="1325880"/>
            <a:ext cx="10515600" cy="1188720"/>
          </a:xfrm>
          <a:prstGeom prst="rect">
            <a:avLst/>
          </a:prstGeom>
          <a:noFill/>
          <a:ln/>
        </p:spPr>
        <p:txBody>
          <a:bodyPr wrap="square" lIns="0" tIns="0" rIns="0" bIns="0" rtlCol="0" anchor="ctr"/>
          <a:lstStyle/>
          <a:p>
            <a:pPr algn="r" indent="0" marL="0">
              <a:spcAft>
                <a:spcPts val="400"/>
              </a:spcAft>
              <a:buNone/>
            </a:pPr>
            <a:r>
              <a:rPr lang="en-US" sz="1200" b="1" dirty="0">
                <a:solidFill>
                  <a:schemeClr val="bg1"/>
                </a:solidFill>
              </a:rPr>
              <a:t>Key Selling Point</a:t>
            </a:r>
            <a:endParaRPr lang="en-US" sz="1200" dirty="0"/>
          </a:p>
          <a:p>
            <a:pPr rtl="1" algn="r" indent="0" marL="0">
              <a:spcAft>
                <a:spcPts val="400"/>
              </a:spcAft>
              <a:buNone/>
            </a:pPr>
            <a:r>
              <a:rPr lang="en-US" sz="1800" b="1" dirty="0">
                <a:solidFill>
                  <a:schemeClr val="bg1"/>
                </a:solidFill>
              </a:rPr>
              <a:t>تركيبة أعشاب متكاملة لدعم حيوية المرأة البالغة، في نقط سهلة الاستخدام</a:t>
            </a:r>
            <a:endParaRPr lang="en-US" sz="1200" dirty="0"/>
          </a:p>
        </p:txBody>
      </p:sp>
      <p:sp>
        <p:nvSpPr>
          <p:cNvPr id="6" name="Shape 3"/>
          <p:cNvSpPr/>
          <p:nvPr/>
        </p:nvSpPr>
        <p:spPr>
          <a:xfrm>
            <a:off x="7863840" y="2743200"/>
            <a:ext cx="3749040" cy="3291840"/>
          </a:xfrm>
          <a:prstGeom prst="roundRect">
            <a:avLst>
              <a:gd name="adj" fmla="val 3333"/>
            </a:avLst>
          </a:prstGeom>
          <a:solidFill>
            <a:schemeClr val="accent1">
              <a:alpha val="8000"/>
            </a:schemeClr>
          </a:solidFill>
          <a:ln w="9525">
            <a:solidFill>
              <a:schemeClr val="accent1">
                <a:alpha val="25000"/>
              </a:schemeClr>
            </a:solidFill>
            <a:prstDash val="solid"/>
          </a:ln>
        </p:spPr>
      </p:sp>
      <p:sp>
        <p:nvSpPr>
          <p:cNvPr id="7" name="Shape 4"/>
          <p:cNvSpPr/>
          <p:nvPr/>
        </p:nvSpPr>
        <p:spPr>
          <a:xfrm>
            <a:off x="10991088" y="2907792"/>
            <a:ext cx="457200" cy="457200"/>
          </a:xfrm>
          <a:prstGeom prst="ellipse">
            <a:avLst/>
          </a:prstGeom>
          <a:solidFill>
            <a:schemeClr val="accent1"/>
          </a:solidFill>
          <a:ln w="12700">
            <a:solidFill>
              <a:schemeClr val="accent1"/>
            </a:solidFill>
            <a:prstDash val="solid"/>
          </a:ln>
        </p:spPr>
      </p:sp>
      <p:sp>
        <p:nvSpPr>
          <p:cNvPr id="8" name="Text 5"/>
          <p:cNvSpPr txBox="1"/>
          <p:nvPr/>
        </p:nvSpPr>
        <p:spPr>
          <a:xfrm>
            <a:off x="10991088" y="2907792"/>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9" name="Text 6"/>
          <p:cNvSpPr txBox="1"/>
          <p:nvPr/>
        </p:nvSpPr>
        <p:spPr>
          <a:xfrm>
            <a:off x="8001000" y="2852928"/>
            <a:ext cx="2880360" cy="548640"/>
          </a:xfrm>
          <a:prstGeom prst="rect">
            <a:avLst/>
          </a:prstGeom>
          <a:noFill/>
          <a:ln/>
        </p:spPr>
        <p:txBody>
          <a:bodyPr wrap="square" lIns="0" tIns="0" rIns="0" bIns="0" rtlCol="0" anchor="ctr"/>
          <a:lstStyle/>
          <a:p>
            <a:pPr rtl="1" algn="r" indent="0" marL="0">
              <a:buNone/>
            </a:pPr>
            <a:r>
              <a:rPr lang="en-US" sz="1600" b="1" dirty="0">
                <a:solidFill>
                  <a:schemeClr val="accent1"/>
                </a:solidFill>
              </a:rPr>
              <a:t>الطبيب والعميلة المستهدفين</a:t>
            </a:r>
            <a:endParaRPr lang="en-US" sz="1600" dirty="0"/>
          </a:p>
        </p:txBody>
      </p:sp>
      <p:sp>
        <p:nvSpPr>
          <p:cNvPr id="10" name="Text 7"/>
          <p:cNvSpPr txBox="1"/>
          <p:nvPr/>
        </p:nvSpPr>
        <p:spPr>
          <a:xfrm>
            <a:off x="8046720" y="3456432"/>
            <a:ext cx="3383280" cy="2487168"/>
          </a:xfrm>
          <a:prstGeom prst="rect">
            <a:avLst/>
          </a:prstGeom>
          <a:noFill/>
          <a:ln/>
        </p:spPr>
        <p:txBody>
          <a:bodyPr wrap="square" lIns="0" tIns="0" rIns="0" bIns="0" rtlCol="0" anchor="t"/>
          <a:lstStyle/>
          <a:p>
            <a:pPr rtl="1" algn="r" marL="342900" indent="-342900">
              <a:spcAft>
                <a:spcPts val="600"/>
              </a:spcAft>
              <a:buSzPct val="100000"/>
              <a:buChar char="•"/>
            </a:pPr>
            <a:r>
              <a:rPr lang="en-US" sz="1800" dirty="0">
                <a:solidFill>
                  <a:schemeClr val="tx1"/>
                </a:solidFill>
              </a:rPr>
              <a:t>أطباء النساء والتوليد</a:t>
            </a:r>
            <a:endParaRPr lang="en-US" sz="1400" dirty="0"/>
          </a:p>
          <a:p>
            <a:pPr rtl="1" algn="r" marL="342900" indent="-342900">
              <a:spcAft>
                <a:spcPts val="600"/>
              </a:spcAft>
              <a:buSzPct val="100000"/>
              <a:buChar char="•"/>
            </a:pPr>
            <a:r>
              <a:rPr lang="en-US" sz="1800" dirty="0">
                <a:solidFill>
                  <a:schemeClr val="tx1"/>
                </a:solidFill>
              </a:rPr>
              <a:t>الصيدليات</a:t>
            </a:r>
            <a:endParaRPr lang="en-US" sz="1400" dirty="0"/>
          </a:p>
          <a:p>
            <a:pPr rtl="1" algn="r" marL="342900" indent="-342900">
              <a:spcAft>
                <a:spcPts val="600"/>
              </a:spcAft>
              <a:buSzPct val="100000"/>
              <a:buChar char="•"/>
            </a:pPr>
            <a:r>
              <a:rPr lang="en-US" sz="1800" dirty="0">
                <a:solidFill>
                  <a:schemeClr val="tx1"/>
                </a:solidFill>
              </a:rPr>
              <a:t>سيدات فوق 18 سنة بيشتكوا من قلة الحيوية والإرهاق</a:t>
            </a:r>
            <a:endParaRPr lang="en-US" sz="1400" dirty="0"/>
          </a:p>
        </p:txBody>
      </p:sp>
      <p:sp>
        <p:nvSpPr>
          <p:cNvPr id="11" name="Shape 8"/>
          <p:cNvSpPr/>
          <p:nvPr/>
        </p:nvSpPr>
        <p:spPr>
          <a:xfrm>
            <a:off x="4023360" y="2743200"/>
            <a:ext cx="3657600" cy="3291840"/>
          </a:xfrm>
          <a:prstGeom prst="roundRect">
            <a:avLst>
              <a:gd name="adj" fmla="val 3333"/>
            </a:avLst>
          </a:prstGeom>
          <a:solidFill>
            <a:schemeClr val="accent1">
              <a:alpha val="8000"/>
            </a:schemeClr>
          </a:solidFill>
          <a:ln w="9525">
            <a:solidFill>
              <a:schemeClr val="accent1">
                <a:alpha val="25000"/>
              </a:schemeClr>
            </a:solidFill>
            <a:prstDash val="solid"/>
          </a:ln>
        </p:spPr>
      </p:sp>
      <p:sp>
        <p:nvSpPr>
          <p:cNvPr id="12" name="Shape 9"/>
          <p:cNvSpPr/>
          <p:nvPr/>
        </p:nvSpPr>
        <p:spPr>
          <a:xfrm>
            <a:off x="7059168" y="2907792"/>
            <a:ext cx="457200" cy="457200"/>
          </a:xfrm>
          <a:prstGeom prst="ellipse">
            <a:avLst/>
          </a:prstGeom>
          <a:solidFill>
            <a:schemeClr val="accent1"/>
          </a:solidFill>
          <a:ln w="12700">
            <a:solidFill>
              <a:schemeClr val="accent1"/>
            </a:solidFill>
            <a:prstDash val="solid"/>
          </a:ln>
        </p:spPr>
      </p:sp>
      <p:sp>
        <p:nvSpPr>
          <p:cNvPr id="13" name="Text 10"/>
          <p:cNvSpPr txBox="1"/>
          <p:nvPr/>
        </p:nvSpPr>
        <p:spPr>
          <a:xfrm>
            <a:off x="7059168" y="2907792"/>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4" name="Text 11"/>
          <p:cNvSpPr txBox="1"/>
          <p:nvPr/>
        </p:nvSpPr>
        <p:spPr>
          <a:xfrm>
            <a:off x="4160520" y="2852928"/>
            <a:ext cx="2788920" cy="548640"/>
          </a:xfrm>
          <a:prstGeom prst="rect">
            <a:avLst/>
          </a:prstGeom>
          <a:noFill/>
          <a:ln/>
        </p:spPr>
        <p:txBody>
          <a:bodyPr wrap="square" lIns="0" tIns="0" rIns="0" bIns="0" rtlCol="0" anchor="ctr"/>
          <a:lstStyle/>
          <a:p>
            <a:pPr rtl="1" algn="r" indent="0" marL="0">
              <a:buNone/>
            </a:pPr>
            <a:r>
              <a:rPr lang="en-US" sz="1600" b="1" dirty="0">
                <a:solidFill>
                  <a:schemeClr val="accent1"/>
                </a:solidFill>
              </a:rPr>
              <a:t>نقاط القوة</a:t>
            </a:r>
            <a:endParaRPr lang="en-US" sz="1600" dirty="0"/>
          </a:p>
        </p:txBody>
      </p:sp>
      <p:sp>
        <p:nvSpPr>
          <p:cNvPr id="15" name="Text 12"/>
          <p:cNvSpPr txBox="1"/>
          <p:nvPr/>
        </p:nvSpPr>
        <p:spPr>
          <a:xfrm>
            <a:off x="4206240" y="3456432"/>
            <a:ext cx="3291840" cy="2487168"/>
          </a:xfrm>
          <a:prstGeom prst="rect">
            <a:avLst/>
          </a:prstGeom>
          <a:noFill/>
          <a:ln/>
        </p:spPr>
        <p:txBody>
          <a:bodyPr wrap="square" lIns="0" tIns="0" rIns="0" bIns="0" rtlCol="0" anchor="t"/>
          <a:lstStyle/>
          <a:p>
            <a:pPr rtl="1" algn="r" marL="342900" indent="-342900">
              <a:spcAft>
                <a:spcPts val="600"/>
              </a:spcAft>
              <a:buSzPct val="100000"/>
              <a:buChar char="•"/>
            </a:pPr>
            <a:r>
              <a:rPr lang="en-US" sz="1800" dirty="0">
                <a:solidFill>
                  <a:schemeClr val="tx1"/>
                </a:solidFill>
              </a:rPr>
              <a:t>12 مكوّن في منتج واحد</a:t>
            </a:r>
            <a:endParaRPr lang="en-US" sz="1400" dirty="0"/>
          </a:p>
          <a:p>
            <a:pPr rtl="1" algn="r" marL="342900" indent="-342900">
              <a:spcAft>
                <a:spcPts val="600"/>
              </a:spcAft>
              <a:buSzPct val="100000"/>
              <a:buChar char="•"/>
            </a:pPr>
            <a:r>
              <a:rPr lang="en-US" sz="1800" dirty="0">
                <a:solidFill>
                  <a:schemeClr val="tx1"/>
                </a:solidFill>
              </a:rPr>
              <a:t>نقط بطعم التوت، سهلة الاستخدام</a:t>
            </a:r>
            <a:endParaRPr lang="en-US" sz="1400" dirty="0"/>
          </a:p>
          <a:p>
            <a:pPr rtl="1" algn="r" marL="342900" indent="-342900">
              <a:spcAft>
                <a:spcPts val="600"/>
              </a:spcAft>
              <a:buSzPct val="100000"/>
              <a:buChar char="•"/>
            </a:pPr>
            <a:r>
              <a:rPr lang="en-US" sz="1800" dirty="0">
                <a:solidFill>
                  <a:schemeClr val="tx1"/>
                </a:solidFill>
              </a:rPr>
              <a:t>بيتعرض مع Femina في نفس الزيارة</a:t>
            </a:r>
            <a:endParaRPr lang="en-US" sz="1400" dirty="0"/>
          </a:p>
        </p:txBody>
      </p:sp>
      <p:sp>
        <p:nvSpPr>
          <p:cNvPr id="16" name="Shape 13"/>
          <p:cNvSpPr/>
          <p:nvPr/>
        </p:nvSpPr>
        <p:spPr>
          <a:xfrm>
            <a:off x="548640" y="2743200"/>
            <a:ext cx="3291840" cy="3291840"/>
          </a:xfrm>
          <a:prstGeom prst="roundRect">
            <a:avLst>
              <a:gd name="adj" fmla="val 3333"/>
            </a:avLst>
          </a:prstGeom>
          <a:solidFill>
            <a:schemeClr val="accent1">
              <a:alpha val="8000"/>
            </a:schemeClr>
          </a:solidFill>
          <a:ln w="9525">
            <a:solidFill>
              <a:schemeClr val="accent1">
                <a:alpha val="25000"/>
              </a:schemeClr>
            </a:solidFill>
            <a:prstDash val="solid"/>
          </a:ln>
        </p:spPr>
      </p:sp>
      <p:sp>
        <p:nvSpPr>
          <p:cNvPr id="17" name="Shape 14"/>
          <p:cNvSpPr/>
          <p:nvPr/>
        </p:nvSpPr>
        <p:spPr>
          <a:xfrm>
            <a:off x="3218688" y="2907792"/>
            <a:ext cx="457200" cy="457200"/>
          </a:xfrm>
          <a:prstGeom prst="ellipse">
            <a:avLst/>
          </a:prstGeom>
          <a:solidFill>
            <a:schemeClr val="accent1"/>
          </a:solidFill>
          <a:ln w="12700">
            <a:solidFill>
              <a:schemeClr val="accent1"/>
            </a:solidFill>
            <a:prstDash val="solid"/>
          </a:ln>
        </p:spPr>
      </p:sp>
      <p:sp>
        <p:nvSpPr>
          <p:cNvPr id="18" name="Text 15"/>
          <p:cNvSpPr txBox="1"/>
          <p:nvPr/>
        </p:nvSpPr>
        <p:spPr>
          <a:xfrm>
            <a:off x="3218688" y="2907792"/>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9" name="Text 16"/>
          <p:cNvSpPr txBox="1"/>
          <p:nvPr/>
        </p:nvSpPr>
        <p:spPr>
          <a:xfrm>
            <a:off x="685800" y="2852928"/>
            <a:ext cx="2423160" cy="548640"/>
          </a:xfrm>
          <a:prstGeom prst="rect">
            <a:avLst/>
          </a:prstGeom>
          <a:noFill/>
          <a:ln/>
        </p:spPr>
        <p:txBody>
          <a:bodyPr wrap="square" lIns="0" tIns="0" rIns="0" bIns="0" rtlCol="0" anchor="ctr"/>
          <a:lstStyle/>
          <a:p>
            <a:pPr rtl="1" algn="r" indent="0" marL="0">
              <a:buNone/>
            </a:pPr>
            <a:r>
              <a:rPr lang="en-US" sz="1600" b="1" dirty="0">
                <a:solidFill>
                  <a:schemeClr val="accent1"/>
                </a:solidFill>
              </a:rPr>
              <a:t>أسئلة متوقعة</a:t>
            </a:r>
            <a:endParaRPr lang="en-US" sz="1600" dirty="0"/>
          </a:p>
        </p:txBody>
      </p:sp>
      <p:sp>
        <p:nvSpPr>
          <p:cNvPr id="20" name="Text 17"/>
          <p:cNvSpPr txBox="1"/>
          <p:nvPr/>
        </p:nvSpPr>
        <p:spPr>
          <a:xfrm>
            <a:off x="731520" y="3456432"/>
            <a:ext cx="2926080" cy="2487168"/>
          </a:xfrm>
          <a:prstGeom prst="rect">
            <a:avLst/>
          </a:prstGeom>
          <a:noFill/>
          <a:ln/>
        </p:spPr>
        <p:txBody>
          <a:bodyPr wrap="square" lIns="0" tIns="0" rIns="0" bIns="0" rtlCol="0" anchor="t"/>
          <a:lstStyle/>
          <a:p>
            <a:pPr rtl="1" algn="r" marL="342900" indent="-342900">
              <a:spcAft>
                <a:spcPts val="600"/>
              </a:spcAft>
              <a:buSzPct val="100000"/>
              <a:buChar char="•"/>
            </a:pPr>
            <a:r>
              <a:rPr lang="en-US" sz="1800" dirty="0">
                <a:solidFill>
                  <a:schemeClr val="tx1"/>
                </a:solidFill>
              </a:rPr>
              <a:t>الحمل والرضاعة؟ لا يُنصح به.</a:t>
            </a:r>
            <a:endParaRPr lang="en-US" sz="1400" dirty="0"/>
          </a:p>
          <a:p>
            <a:pPr rtl="1" algn="r" marL="342900" indent="-342900">
              <a:spcAft>
                <a:spcPts val="600"/>
              </a:spcAft>
              <a:buSzPct val="100000"/>
              <a:buChar char="•"/>
            </a:pPr>
            <a:r>
              <a:rPr lang="en-US" sz="1800" dirty="0">
                <a:solidFill>
                  <a:schemeClr val="tx1"/>
                </a:solidFill>
              </a:rPr>
              <a:t>الجرعة؟ حسب إرشادات العبوة.</a:t>
            </a:r>
            <a:endParaRPr lang="en-US" sz="1400" dirty="0"/>
          </a:p>
          <a:p>
            <a:pPr rtl="1" algn="r" marL="342900" indent="-342900">
              <a:spcAft>
                <a:spcPts val="600"/>
              </a:spcAft>
              <a:buSzPct val="100000"/>
              <a:buChar char="•"/>
            </a:pPr>
            <a:r>
              <a:rPr lang="en-US" sz="1800" dirty="0">
                <a:solidFill>
                  <a:schemeClr val="tx1"/>
                </a:solidFill>
              </a:rPr>
              <a:t>للرجالة؟ لا، منتج للسيدات.</a:t>
            </a:r>
            <a:endParaRPr lang="en-US" sz="1400" dirty="0"/>
          </a:p>
        </p:txBody>
      </p:sp>
      <p:sp>
        <p:nvSpPr>
          <p:cNvPr id="25" name="Slide Number Placeholder 0"/>
          <p:cNvSpPr>
            <a:spLocks noGrp="1"/>
          </p:cNvSpPr>
          <p:nvPr>
            <p:ph type="sldNum" sz="quarter" idx="4294967295"/>
          </p:nvPr>
        </p:nvSpPr>
        <p:spPr>
          <a:xfrm>
            <a:off x="5806440" y="630936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ct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2" type="title" hasCustomPrompt="1"/>
          </p:nvPr>
        </p:nvSpPr>
        <p:spPr>
          <a:xfrm>
            <a:off x="548640" y="320040"/>
            <a:ext cx="11064240" cy="777240"/>
          </a:xfrm>
          <a:prstGeom prst="rect">
            <a:avLst/>
          </a:prstGeom>
          <a:noFill/>
          <a:ln/>
        </p:spPr>
        <p:txBody>
          <a:bodyPr wrap="square" rtlCol="0" anchor="ctr"/>
          <a:lstStyle/>
          <a:p>
            <a:pPr rtl="1" algn="r" indent="0" marL="0">
              <a:buNone/>
            </a:pPr>
            <a:r>
              <a:rPr lang="en-US" sz="3200" b="1" dirty="0">
                <a:solidFill>
                  <a:schemeClr val="tx2"/>
                </a:solidFill>
              </a:rPr>
              <a:t>Femina — بطاقة المنتج</a:t>
            </a:r>
            <a:endParaRPr lang="en-US" sz="3200" dirty="0"/>
          </a:p>
        </p:txBody>
      </p:sp>
      <p:pic>
        <p:nvPicPr>
          <p:cNvPr id="4" name="femina image" descr="preencoded.png">    </p:cNvPr>
          <p:cNvPicPr>
            <a:picLocks noChangeAspect="1"/>
          </p:cNvPicPr>
          <p:nvPr/>
        </p:nvPicPr>
        <p:blipFill>
          <a:blip r:embed="rId1"/>
          <a:stretch>
            <a:fillRect/>
          </a:stretch>
        </p:blipFill>
        <p:spPr>
          <a:xfrm>
            <a:off x="851266" y="1280160"/>
            <a:ext cx="3052348" cy="4754880"/>
          </a:xfrm>
          <a:prstGeom prst="rect">
            <a:avLst/>
          </a:prstGeom>
        </p:spPr>
      </p:pic>
      <p:sp>
        <p:nvSpPr>
          <p:cNvPr id="5" name="Shape 1"/>
          <p:cNvSpPr/>
          <p:nvPr/>
        </p:nvSpPr>
        <p:spPr>
          <a:xfrm>
            <a:off x="4572000" y="1325880"/>
            <a:ext cx="7040880" cy="457200"/>
          </a:xfrm>
          <a:prstGeom prst="rect">
            <a:avLst/>
          </a:prstGeom>
          <a:solidFill>
            <a:schemeClr val="accent1">
              <a:alpha val="7000"/>
            </a:schemeClr>
          </a:solidFill>
          <a:ln w="12700">
            <a:solidFill>
              <a:schemeClr val="accent1">
                <a:alpha val="0"/>
              </a:schemeClr>
            </a:solidFill>
            <a:prstDash val="solid"/>
          </a:ln>
        </p:spPr>
      </p:sp>
      <p:sp>
        <p:nvSpPr>
          <p:cNvPr id="6" name="Text 2"/>
          <p:cNvSpPr txBox="1"/>
          <p:nvPr/>
        </p:nvSpPr>
        <p:spPr>
          <a:xfrm>
            <a:off x="9235440" y="1325880"/>
            <a:ext cx="2286000" cy="457200"/>
          </a:xfrm>
          <a:prstGeom prst="rect">
            <a:avLst/>
          </a:prstGeom>
          <a:noFill/>
          <a:ln/>
        </p:spPr>
        <p:txBody>
          <a:bodyPr wrap="square" lIns="0" tIns="0" rIns="76200" bIns="0" rtlCol="0" anchor="ctr"/>
          <a:lstStyle/>
          <a:p>
            <a:pPr rtl="1" algn="r" indent="0" marL="0">
              <a:buNone/>
            </a:pPr>
            <a:r>
              <a:rPr lang="en-US" sz="1300" b="1" dirty="0">
                <a:solidFill>
                  <a:schemeClr val="accent1"/>
                </a:solidFill>
              </a:rPr>
              <a:t>الاسم التجاري</a:t>
            </a:r>
            <a:endParaRPr lang="en-US" sz="1300" dirty="0"/>
          </a:p>
        </p:txBody>
      </p:sp>
      <p:sp>
        <p:nvSpPr>
          <p:cNvPr id="7" name="Text 3"/>
          <p:cNvSpPr txBox="1"/>
          <p:nvPr/>
        </p:nvSpPr>
        <p:spPr>
          <a:xfrm>
            <a:off x="4663440" y="1325880"/>
            <a:ext cx="4480560" cy="457200"/>
          </a:xfrm>
          <a:prstGeom prst="rect">
            <a:avLst/>
          </a:prstGeom>
          <a:noFill/>
          <a:ln/>
        </p:spPr>
        <p:txBody>
          <a:bodyPr wrap="square" lIns="0" tIns="0" rIns="0" bIns="0" rtlCol="0" anchor="ctr"/>
          <a:lstStyle/>
          <a:p>
            <a:pPr rtl="1" algn="r" indent="0" marL="0">
              <a:buNone/>
            </a:pPr>
            <a:r>
              <a:rPr lang="en-US" sz="1300" dirty="0">
                <a:solidFill>
                  <a:schemeClr val="tx1"/>
                </a:solidFill>
              </a:rPr>
              <a:t>AVIANCE Femina — Feminine Hygiene Foaming Cleanser</a:t>
            </a:r>
            <a:endParaRPr lang="en-US" sz="1300" dirty="0"/>
          </a:p>
        </p:txBody>
      </p:sp>
      <p:sp>
        <p:nvSpPr>
          <p:cNvPr id="8" name="Text 4"/>
          <p:cNvSpPr txBox="1"/>
          <p:nvPr/>
        </p:nvSpPr>
        <p:spPr>
          <a:xfrm>
            <a:off x="9235440" y="1783080"/>
            <a:ext cx="2286000" cy="457200"/>
          </a:xfrm>
          <a:prstGeom prst="rect">
            <a:avLst/>
          </a:prstGeom>
          <a:noFill/>
          <a:ln/>
        </p:spPr>
        <p:txBody>
          <a:bodyPr wrap="square" lIns="0" tIns="0" rIns="76200" bIns="0" rtlCol="0" anchor="ctr"/>
          <a:lstStyle/>
          <a:p>
            <a:pPr rtl="1" algn="r" indent="0" marL="0">
              <a:buNone/>
            </a:pPr>
            <a:r>
              <a:rPr lang="en-US" sz="1300" b="1" dirty="0">
                <a:solidFill>
                  <a:schemeClr val="accent1"/>
                </a:solidFill>
              </a:rPr>
              <a:t>التصنيف</a:t>
            </a:r>
            <a:endParaRPr lang="en-US" sz="1300" dirty="0"/>
          </a:p>
        </p:txBody>
      </p:sp>
      <p:sp>
        <p:nvSpPr>
          <p:cNvPr id="9" name="Text 5"/>
          <p:cNvSpPr txBox="1"/>
          <p:nvPr/>
        </p:nvSpPr>
        <p:spPr>
          <a:xfrm>
            <a:off x="4663440" y="1783080"/>
            <a:ext cx="4480560" cy="457200"/>
          </a:xfrm>
          <a:prstGeom prst="rect">
            <a:avLst/>
          </a:prstGeom>
          <a:noFill/>
          <a:ln/>
        </p:spPr>
        <p:txBody>
          <a:bodyPr wrap="square" lIns="0" tIns="0" rIns="0" bIns="0" rtlCol="0" anchor="ctr"/>
          <a:lstStyle/>
          <a:p>
            <a:pPr rtl="1" algn="r" indent="0" marL="0">
              <a:buNone/>
            </a:pPr>
            <a:r>
              <a:rPr lang="en-US" sz="1300" dirty="0">
                <a:solidFill>
                  <a:schemeClr val="tx1"/>
                </a:solidFill>
              </a:rPr>
              <a:t>مستحضر عناية (Skin products)</a:t>
            </a:r>
            <a:endParaRPr lang="en-US" sz="1300" dirty="0"/>
          </a:p>
        </p:txBody>
      </p:sp>
      <p:sp>
        <p:nvSpPr>
          <p:cNvPr id="10" name="Shape 6"/>
          <p:cNvSpPr/>
          <p:nvPr/>
        </p:nvSpPr>
        <p:spPr>
          <a:xfrm>
            <a:off x="4572000" y="2240280"/>
            <a:ext cx="7040880" cy="457200"/>
          </a:xfrm>
          <a:prstGeom prst="rect">
            <a:avLst/>
          </a:prstGeom>
          <a:solidFill>
            <a:schemeClr val="accent1">
              <a:alpha val="7000"/>
            </a:schemeClr>
          </a:solidFill>
          <a:ln w="12700">
            <a:solidFill>
              <a:schemeClr val="accent1">
                <a:alpha val="0"/>
              </a:schemeClr>
            </a:solidFill>
            <a:prstDash val="solid"/>
          </a:ln>
        </p:spPr>
      </p:sp>
      <p:sp>
        <p:nvSpPr>
          <p:cNvPr id="11" name="Text 7"/>
          <p:cNvSpPr txBox="1"/>
          <p:nvPr/>
        </p:nvSpPr>
        <p:spPr>
          <a:xfrm>
            <a:off x="9235440" y="2240280"/>
            <a:ext cx="2286000" cy="457200"/>
          </a:xfrm>
          <a:prstGeom prst="rect">
            <a:avLst/>
          </a:prstGeom>
          <a:noFill/>
          <a:ln/>
        </p:spPr>
        <p:txBody>
          <a:bodyPr wrap="square" lIns="0" tIns="0" rIns="76200" bIns="0" rtlCol="0" anchor="ctr"/>
          <a:lstStyle/>
          <a:p>
            <a:pPr rtl="1" algn="r" indent="0" marL="0">
              <a:buNone/>
            </a:pPr>
            <a:r>
              <a:rPr lang="en-US" sz="1300" b="1" dirty="0">
                <a:solidFill>
                  <a:schemeClr val="accent1"/>
                </a:solidFill>
              </a:rPr>
              <a:t>الشكل والحجم</a:t>
            </a:r>
            <a:endParaRPr lang="en-US" sz="1300" dirty="0"/>
          </a:p>
        </p:txBody>
      </p:sp>
      <p:sp>
        <p:nvSpPr>
          <p:cNvPr id="12" name="Text 8"/>
          <p:cNvSpPr txBox="1"/>
          <p:nvPr/>
        </p:nvSpPr>
        <p:spPr>
          <a:xfrm>
            <a:off x="4663440" y="2240280"/>
            <a:ext cx="4480560" cy="457200"/>
          </a:xfrm>
          <a:prstGeom prst="rect">
            <a:avLst/>
          </a:prstGeom>
          <a:noFill/>
          <a:ln/>
        </p:spPr>
        <p:txBody>
          <a:bodyPr wrap="square" lIns="0" tIns="0" rIns="0" bIns="0" rtlCol="0" anchor="ctr"/>
          <a:lstStyle/>
          <a:p>
            <a:pPr rtl="1" algn="r" indent="0" marL="0">
              <a:buNone/>
            </a:pPr>
            <a:r>
              <a:rPr lang="en-US" sz="1300" dirty="0">
                <a:solidFill>
                  <a:schemeClr val="tx1"/>
                </a:solidFill>
              </a:rPr>
              <a:t>غسول فوم · 200 مل</a:t>
            </a:r>
            <a:endParaRPr lang="en-US" sz="1300" dirty="0"/>
          </a:p>
        </p:txBody>
      </p:sp>
      <p:sp>
        <p:nvSpPr>
          <p:cNvPr id="13" name="Text 9"/>
          <p:cNvSpPr txBox="1"/>
          <p:nvPr/>
        </p:nvSpPr>
        <p:spPr>
          <a:xfrm>
            <a:off x="9235440" y="2697480"/>
            <a:ext cx="2286000" cy="457200"/>
          </a:xfrm>
          <a:prstGeom prst="rect">
            <a:avLst/>
          </a:prstGeom>
          <a:noFill/>
          <a:ln/>
        </p:spPr>
        <p:txBody>
          <a:bodyPr wrap="square" lIns="0" tIns="0" rIns="76200" bIns="0" rtlCol="0" anchor="ctr"/>
          <a:lstStyle/>
          <a:p>
            <a:pPr rtl="1" algn="r" indent="0" marL="0">
              <a:buNone/>
            </a:pPr>
            <a:r>
              <a:rPr lang="en-US" sz="1300" b="1" dirty="0">
                <a:solidFill>
                  <a:schemeClr val="accent1"/>
                </a:solidFill>
              </a:rPr>
              <a:t>درجة الحموضة</a:t>
            </a:r>
            <a:endParaRPr lang="en-US" sz="1300" dirty="0"/>
          </a:p>
        </p:txBody>
      </p:sp>
      <p:sp>
        <p:nvSpPr>
          <p:cNvPr id="14" name="Text 10"/>
          <p:cNvSpPr txBox="1"/>
          <p:nvPr/>
        </p:nvSpPr>
        <p:spPr>
          <a:xfrm>
            <a:off x="4663440" y="2697480"/>
            <a:ext cx="4480560" cy="457200"/>
          </a:xfrm>
          <a:prstGeom prst="rect">
            <a:avLst/>
          </a:prstGeom>
          <a:noFill/>
          <a:ln/>
        </p:spPr>
        <p:txBody>
          <a:bodyPr wrap="square" lIns="0" tIns="0" rIns="0" bIns="0" rtlCol="0" anchor="ctr"/>
          <a:lstStyle/>
          <a:p>
            <a:pPr rtl="1" algn="r" indent="0" marL="0">
              <a:buNone/>
            </a:pPr>
            <a:r>
              <a:rPr lang="en-US" sz="1300" dirty="0">
                <a:solidFill>
                  <a:schemeClr val="tx1"/>
                </a:solidFill>
              </a:rPr>
              <a:t>pH 3.5 – 4.5</a:t>
            </a:r>
            <a:endParaRPr lang="en-US" sz="1300" dirty="0"/>
          </a:p>
        </p:txBody>
      </p:sp>
      <p:sp>
        <p:nvSpPr>
          <p:cNvPr id="15" name="Shape 11"/>
          <p:cNvSpPr/>
          <p:nvPr/>
        </p:nvSpPr>
        <p:spPr>
          <a:xfrm>
            <a:off x="4572000" y="3154680"/>
            <a:ext cx="7040880" cy="457200"/>
          </a:xfrm>
          <a:prstGeom prst="rect">
            <a:avLst/>
          </a:prstGeom>
          <a:solidFill>
            <a:schemeClr val="accent1">
              <a:alpha val="7000"/>
            </a:schemeClr>
          </a:solidFill>
          <a:ln w="12700">
            <a:solidFill>
              <a:schemeClr val="accent1">
                <a:alpha val="0"/>
              </a:schemeClr>
            </a:solidFill>
            <a:prstDash val="solid"/>
          </a:ln>
        </p:spPr>
      </p:sp>
      <p:sp>
        <p:nvSpPr>
          <p:cNvPr id="16" name="Text 12"/>
          <p:cNvSpPr txBox="1"/>
          <p:nvPr/>
        </p:nvSpPr>
        <p:spPr>
          <a:xfrm>
            <a:off x="9235440" y="3154680"/>
            <a:ext cx="2286000" cy="457200"/>
          </a:xfrm>
          <a:prstGeom prst="rect">
            <a:avLst/>
          </a:prstGeom>
          <a:noFill/>
          <a:ln/>
        </p:spPr>
        <p:txBody>
          <a:bodyPr wrap="square" lIns="0" tIns="0" rIns="76200" bIns="0" rtlCol="0" anchor="ctr"/>
          <a:lstStyle/>
          <a:p>
            <a:pPr rtl="1" algn="r" indent="0" marL="0">
              <a:buNone/>
            </a:pPr>
            <a:r>
              <a:rPr lang="en-US" sz="1300" b="1" dirty="0">
                <a:solidFill>
                  <a:schemeClr val="accent1"/>
                </a:solidFill>
              </a:rPr>
              <a:t>خالي من</a:t>
            </a:r>
            <a:endParaRPr lang="en-US" sz="1300" dirty="0"/>
          </a:p>
        </p:txBody>
      </p:sp>
      <p:sp>
        <p:nvSpPr>
          <p:cNvPr id="17" name="Text 13"/>
          <p:cNvSpPr txBox="1"/>
          <p:nvPr/>
        </p:nvSpPr>
        <p:spPr>
          <a:xfrm>
            <a:off x="4663440" y="3154680"/>
            <a:ext cx="4480560" cy="457200"/>
          </a:xfrm>
          <a:prstGeom prst="rect">
            <a:avLst/>
          </a:prstGeom>
          <a:noFill/>
          <a:ln/>
        </p:spPr>
        <p:txBody>
          <a:bodyPr wrap="square" lIns="0" tIns="0" rIns="0" bIns="0" rtlCol="0" anchor="ctr"/>
          <a:lstStyle/>
          <a:p>
            <a:pPr rtl="1" algn="r" indent="0" marL="0">
              <a:buNone/>
            </a:pPr>
            <a:r>
              <a:rPr lang="en-US" sz="1300" dirty="0">
                <a:solidFill>
                  <a:schemeClr val="tx1"/>
                </a:solidFill>
              </a:rPr>
              <a:t>الكحول · البارابين · الجلوتين</a:t>
            </a:r>
            <a:endParaRPr lang="en-US" sz="1300" dirty="0"/>
          </a:p>
        </p:txBody>
      </p:sp>
      <p:sp>
        <p:nvSpPr>
          <p:cNvPr id="18" name="Text 14"/>
          <p:cNvSpPr txBox="1"/>
          <p:nvPr/>
        </p:nvSpPr>
        <p:spPr>
          <a:xfrm>
            <a:off x="9235440" y="3611880"/>
            <a:ext cx="2286000" cy="457200"/>
          </a:xfrm>
          <a:prstGeom prst="rect">
            <a:avLst/>
          </a:prstGeom>
          <a:noFill/>
          <a:ln/>
        </p:spPr>
        <p:txBody>
          <a:bodyPr wrap="square" lIns="0" tIns="0" rIns="76200" bIns="0" rtlCol="0" anchor="ctr"/>
          <a:lstStyle/>
          <a:p>
            <a:pPr rtl="1" algn="r" indent="0" marL="0">
              <a:buNone/>
            </a:pPr>
            <a:r>
              <a:rPr lang="en-US" sz="1300" b="1" dirty="0">
                <a:solidFill>
                  <a:schemeClr val="accent1"/>
                </a:solidFill>
              </a:rPr>
              <a:t>الإخطار SFDA</a:t>
            </a:r>
            <a:endParaRPr lang="en-US" sz="1300" dirty="0"/>
          </a:p>
        </p:txBody>
      </p:sp>
      <p:sp>
        <p:nvSpPr>
          <p:cNvPr id="19" name="Text 15"/>
          <p:cNvSpPr txBox="1"/>
          <p:nvPr/>
        </p:nvSpPr>
        <p:spPr>
          <a:xfrm>
            <a:off x="4663440" y="3611880"/>
            <a:ext cx="4480560" cy="457200"/>
          </a:xfrm>
          <a:prstGeom prst="rect">
            <a:avLst/>
          </a:prstGeom>
          <a:noFill/>
          <a:ln/>
        </p:spPr>
        <p:txBody>
          <a:bodyPr wrap="square" lIns="0" tIns="0" rIns="0" bIns="0" rtlCol="0" anchor="ctr"/>
          <a:lstStyle/>
          <a:p>
            <a:pPr rtl="1" algn="r" indent="0" marL="0">
              <a:buNone/>
            </a:pPr>
            <a:r>
              <a:rPr lang="en-US" sz="1300" dirty="0">
                <a:solidFill>
                  <a:schemeClr val="tx1"/>
                </a:solidFill>
              </a:rPr>
              <a:t>CN-2023-36519 (ساري حتى 23/11/2027)</a:t>
            </a:r>
            <a:endParaRPr lang="en-US" sz="1300" dirty="0"/>
          </a:p>
        </p:txBody>
      </p:sp>
      <p:sp>
        <p:nvSpPr>
          <p:cNvPr id="20" name="Shape 16"/>
          <p:cNvSpPr/>
          <p:nvPr/>
        </p:nvSpPr>
        <p:spPr>
          <a:xfrm>
            <a:off x="4572000" y="4069080"/>
            <a:ext cx="7040880" cy="457200"/>
          </a:xfrm>
          <a:prstGeom prst="rect">
            <a:avLst/>
          </a:prstGeom>
          <a:solidFill>
            <a:schemeClr val="accent1">
              <a:alpha val="7000"/>
            </a:schemeClr>
          </a:solidFill>
          <a:ln w="12700">
            <a:solidFill>
              <a:schemeClr val="accent1">
                <a:alpha val="0"/>
              </a:schemeClr>
            </a:solidFill>
            <a:prstDash val="solid"/>
          </a:ln>
        </p:spPr>
      </p:sp>
      <p:sp>
        <p:nvSpPr>
          <p:cNvPr id="21" name="Text 17"/>
          <p:cNvSpPr txBox="1"/>
          <p:nvPr/>
        </p:nvSpPr>
        <p:spPr>
          <a:xfrm>
            <a:off x="9235440" y="4069080"/>
            <a:ext cx="2286000" cy="457200"/>
          </a:xfrm>
          <a:prstGeom prst="rect">
            <a:avLst/>
          </a:prstGeom>
          <a:noFill/>
          <a:ln/>
        </p:spPr>
        <p:txBody>
          <a:bodyPr wrap="square" lIns="0" tIns="0" rIns="76200" bIns="0" rtlCol="0" anchor="ctr"/>
          <a:lstStyle/>
          <a:p>
            <a:pPr rtl="1" algn="r" indent="0" marL="0">
              <a:buNone/>
            </a:pPr>
            <a:r>
              <a:rPr lang="en-US" sz="1300" b="1" dirty="0">
                <a:solidFill>
                  <a:schemeClr val="accent1"/>
                </a:solidFill>
              </a:rPr>
              <a:t>الباركود</a:t>
            </a:r>
            <a:endParaRPr lang="en-US" sz="1300" dirty="0"/>
          </a:p>
        </p:txBody>
      </p:sp>
      <p:sp>
        <p:nvSpPr>
          <p:cNvPr id="22" name="Text 18"/>
          <p:cNvSpPr txBox="1"/>
          <p:nvPr/>
        </p:nvSpPr>
        <p:spPr>
          <a:xfrm>
            <a:off x="4663440" y="4069080"/>
            <a:ext cx="4480560" cy="457200"/>
          </a:xfrm>
          <a:prstGeom prst="rect">
            <a:avLst/>
          </a:prstGeom>
          <a:noFill/>
          <a:ln/>
        </p:spPr>
        <p:txBody>
          <a:bodyPr wrap="square" lIns="0" tIns="0" rIns="0" bIns="0" rtlCol="0" anchor="ctr"/>
          <a:lstStyle/>
          <a:p>
            <a:pPr rtl="1" algn="r" indent="0" marL="0">
              <a:buNone/>
            </a:pPr>
            <a:r>
              <a:rPr lang="en-US" sz="1300" dirty="0">
                <a:solidFill>
                  <a:schemeClr val="tx1"/>
                </a:solidFill>
              </a:rPr>
              <a:t>6772505023146</a:t>
            </a:r>
            <a:endParaRPr lang="en-US" sz="1300" dirty="0"/>
          </a:p>
        </p:txBody>
      </p:sp>
      <p:sp>
        <p:nvSpPr>
          <p:cNvPr id="23" name="Text 19"/>
          <p:cNvSpPr txBox="1"/>
          <p:nvPr/>
        </p:nvSpPr>
        <p:spPr>
          <a:xfrm>
            <a:off x="9235440" y="4526280"/>
            <a:ext cx="2286000" cy="457200"/>
          </a:xfrm>
          <a:prstGeom prst="rect">
            <a:avLst/>
          </a:prstGeom>
          <a:noFill/>
          <a:ln/>
        </p:spPr>
        <p:txBody>
          <a:bodyPr wrap="square" lIns="0" tIns="0" rIns="76200" bIns="0" rtlCol="0" anchor="ctr"/>
          <a:lstStyle/>
          <a:p>
            <a:pPr rtl="1" algn="r" indent="0" marL="0">
              <a:buNone/>
            </a:pPr>
            <a:r>
              <a:rPr lang="en-US" sz="1300" b="1" dirty="0">
                <a:solidFill>
                  <a:schemeClr val="accent1"/>
                </a:solidFill>
              </a:rPr>
              <a:t>الاستخدام</a:t>
            </a:r>
            <a:endParaRPr lang="en-US" sz="1300" dirty="0"/>
          </a:p>
        </p:txBody>
      </p:sp>
      <p:sp>
        <p:nvSpPr>
          <p:cNvPr id="24" name="Text 20"/>
          <p:cNvSpPr txBox="1"/>
          <p:nvPr/>
        </p:nvSpPr>
        <p:spPr>
          <a:xfrm>
            <a:off x="4663440" y="4526280"/>
            <a:ext cx="4480560" cy="457200"/>
          </a:xfrm>
          <a:prstGeom prst="rect">
            <a:avLst/>
          </a:prstGeom>
          <a:noFill/>
          <a:ln/>
        </p:spPr>
        <p:txBody>
          <a:bodyPr wrap="square" lIns="0" tIns="0" rIns="0" bIns="0" rtlCol="0" anchor="ctr"/>
          <a:lstStyle/>
          <a:p>
            <a:pPr rtl="1" algn="r" indent="0" marL="0">
              <a:buNone/>
            </a:pPr>
            <a:r>
              <a:rPr lang="en-US" sz="1300" dirty="0">
                <a:solidFill>
                  <a:schemeClr val="tx1"/>
                </a:solidFill>
              </a:rPr>
              <a:t>مرتين يومياً، مخفّف أو مباشرة</a:t>
            </a:r>
            <a:endParaRPr lang="en-US" sz="1300" dirty="0"/>
          </a:p>
        </p:txBody>
      </p:sp>
      <p:sp>
        <p:nvSpPr>
          <p:cNvPr id="25" name="Shape 21"/>
          <p:cNvSpPr/>
          <p:nvPr/>
        </p:nvSpPr>
        <p:spPr>
          <a:xfrm>
            <a:off x="4572000" y="4983480"/>
            <a:ext cx="7040880" cy="457200"/>
          </a:xfrm>
          <a:prstGeom prst="rect">
            <a:avLst/>
          </a:prstGeom>
          <a:solidFill>
            <a:schemeClr val="accent1">
              <a:alpha val="7000"/>
            </a:schemeClr>
          </a:solidFill>
          <a:ln w="12700">
            <a:solidFill>
              <a:schemeClr val="accent1">
                <a:alpha val="0"/>
              </a:schemeClr>
            </a:solidFill>
            <a:prstDash val="solid"/>
          </a:ln>
        </p:spPr>
      </p:sp>
      <p:sp>
        <p:nvSpPr>
          <p:cNvPr id="26" name="Text 22"/>
          <p:cNvSpPr txBox="1"/>
          <p:nvPr/>
        </p:nvSpPr>
        <p:spPr>
          <a:xfrm>
            <a:off x="9235440" y="4983480"/>
            <a:ext cx="2286000" cy="457200"/>
          </a:xfrm>
          <a:prstGeom prst="rect">
            <a:avLst/>
          </a:prstGeom>
          <a:noFill/>
          <a:ln/>
        </p:spPr>
        <p:txBody>
          <a:bodyPr wrap="square" lIns="0" tIns="0" rIns="76200" bIns="0" rtlCol="0" anchor="ctr"/>
          <a:lstStyle/>
          <a:p>
            <a:pPr rtl="1" algn="r" indent="0" marL="0">
              <a:buNone/>
            </a:pPr>
            <a:r>
              <a:rPr lang="en-US" sz="1300" b="1" dirty="0">
                <a:solidFill>
                  <a:schemeClr val="accent1"/>
                </a:solidFill>
              </a:rPr>
              <a:t>المصنع</a:t>
            </a:r>
            <a:endParaRPr lang="en-US" sz="1300" dirty="0"/>
          </a:p>
        </p:txBody>
      </p:sp>
      <p:sp>
        <p:nvSpPr>
          <p:cNvPr id="27" name="Text 23"/>
          <p:cNvSpPr txBox="1"/>
          <p:nvPr/>
        </p:nvSpPr>
        <p:spPr>
          <a:xfrm>
            <a:off x="4663440" y="4983480"/>
            <a:ext cx="4480560" cy="457200"/>
          </a:xfrm>
          <a:prstGeom prst="rect">
            <a:avLst/>
          </a:prstGeom>
          <a:noFill/>
          <a:ln/>
        </p:spPr>
        <p:txBody>
          <a:bodyPr wrap="square" lIns="0" tIns="0" rIns="0" bIns="0" rtlCol="0" anchor="ctr"/>
          <a:lstStyle/>
          <a:p>
            <a:pPr rtl="1" algn="r" indent="0" marL="0">
              <a:buNone/>
            </a:pPr>
            <a:r>
              <a:rPr lang="en-US" sz="1300" dirty="0">
                <a:solidFill>
                  <a:schemeClr val="tx1"/>
                </a:solidFill>
              </a:rPr>
              <a:t>Brand International — مصر</a:t>
            </a:r>
            <a:endParaRPr lang="en-US" sz="1300" dirty="0"/>
          </a:p>
        </p:txBody>
      </p:sp>
      <p:sp>
        <p:nvSpPr>
          <p:cNvPr id="28" name="Text 24"/>
          <p:cNvSpPr txBox="1"/>
          <p:nvPr/>
        </p:nvSpPr>
        <p:spPr>
          <a:xfrm>
            <a:off x="9235440" y="5440680"/>
            <a:ext cx="2286000" cy="457200"/>
          </a:xfrm>
          <a:prstGeom prst="rect">
            <a:avLst/>
          </a:prstGeom>
          <a:noFill/>
          <a:ln/>
        </p:spPr>
        <p:txBody>
          <a:bodyPr wrap="square" lIns="0" tIns="0" rIns="76200" bIns="0" rtlCol="0" anchor="ctr"/>
          <a:lstStyle/>
          <a:p>
            <a:pPr rtl="1" algn="r" indent="0" marL="0">
              <a:buNone/>
            </a:pPr>
            <a:r>
              <a:rPr lang="en-US" sz="1300" b="1" dirty="0">
                <a:solidFill>
                  <a:schemeClr val="accent1"/>
                </a:solidFill>
              </a:rPr>
              <a:t>سعر الجمهور</a:t>
            </a:r>
            <a:endParaRPr lang="en-US" sz="1300" dirty="0"/>
          </a:p>
        </p:txBody>
      </p:sp>
      <p:sp>
        <p:nvSpPr>
          <p:cNvPr id="29" name="Text 25"/>
          <p:cNvSpPr txBox="1"/>
          <p:nvPr/>
        </p:nvSpPr>
        <p:spPr>
          <a:xfrm>
            <a:off x="4663440" y="5440680"/>
            <a:ext cx="4480560" cy="457200"/>
          </a:xfrm>
          <a:prstGeom prst="rect">
            <a:avLst/>
          </a:prstGeom>
          <a:noFill/>
          <a:ln/>
        </p:spPr>
        <p:txBody>
          <a:bodyPr wrap="square" lIns="0" tIns="0" rIns="0" bIns="0" rtlCol="0" anchor="ctr"/>
          <a:lstStyle/>
          <a:p>
            <a:pPr rtl="1" algn="r" indent="0" marL="0">
              <a:buNone/>
            </a:pPr>
            <a:r>
              <a:rPr lang="en-US" sz="1300" dirty="0">
                <a:solidFill>
                  <a:schemeClr val="tx1"/>
                </a:solidFill>
              </a:rPr>
              <a:t>65 ريال (غير شامل الضريبة)</a:t>
            </a:r>
            <a:endParaRPr lang="en-US" sz="1300" dirty="0"/>
          </a:p>
        </p:txBody>
      </p:sp>
      <p:sp>
        <p:nvSpPr>
          <p:cNvPr id="25" name="Slide Number Placeholder 0"/>
          <p:cNvSpPr>
            <a:spLocks noGrp="1"/>
          </p:cNvSpPr>
          <p:nvPr>
            <p:ph type="sldNum" sz="quarter" idx="4294967295"/>
          </p:nvPr>
        </p:nvSpPr>
        <p:spPr>
          <a:xfrm>
            <a:off x="5806440" y="630936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ct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2" type="title" hasCustomPrompt="1"/>
          </p:nvPr>
        </p:nvSpPr>
        <p:spPr>
          <a:xfrm>
            <a:off x="548640" y="320040"/>
            <a:ext cx="11064240" cy="777240"/>
          </a:xfrm>
          <a:prstGeom prst="rect">
            <a:avLst/>
          </a:prstGeom>
          <a:noFill/>
          <a:ln/>
        </p:spPr>
        <p:txBody>
          <a:bodyPr wrap="square" rtlCol="0" anchor="ctr"/>
          <a:lstStyle/>
          <a:p>
            <a:pPr rtl="1" algn="r" indent="0" marL="0">
              <a:buNone/>
            </a:pPr>
            <a:r>
              <a:rPr lang="en-US" sz="3200" b="1" dirty="0">
                <a:solidFill>
                  <a:schemeClr val="tx2"/>
                </a:solidFill>
              </a:rPr>
              <a:t>Femina — الخلفية العلمية: المناعة الطبيعية للمهبل</a:t>
            </a:r>
            <a:endParaRPr lang="en-US" sz="3200" dirty="0"/>
          </a:p>
        </p:txBody>
      </p:sp>
      <p:sp>
        <p:nvSpPr>
          <p:cNvPr id="4" name="Shape 1"/>
          <p:cNvSpPr/>
          <p:nvPr/>
        </p:nvSpPr>
        <p:spPr>
          <a:xfrm>
            <a:off x="8778240" y="1325880"/>
            <a:ext cx="2834640" cy="2286000"/>
          </a:xfrm>
          <a:prstGeom prst="roundRect">
            <a:avLst>
              <a:gd name="adj" fmla="val 4800"/>
            </a:avLst>
          </a:prstGeom>
          <a:solidFill>
            <a:schemeClr val="accent1">
              <a:alpha val="8000"/>
            </a:schemeClr>
          </a:solidFill>
          <a:ln w="9525">
            <a:solidFill>
              <a:schemeClr val="accent1">
                <a:alpha val="25000"/>
              </a:schemeClr>
            </a:solidFill>
            <a:prstDash val="solid"/>
          </a:ln>
        </p:spPr>
      </p:sp>
      <p:sp>
        <p:nvSpPr>
          <p:cNvPr id="5" name="Text 2"/>
          <p:cNvSpPr txBox="1"/>
          <p:nvPr/>
        </p:nvSpPr>
        <p:spPr>
          <a:xfrm>
            <a:off x="8778240" y="1435608"/>
            <a:ext cx="2834640" cy="1028700"/>
          </a:xfrm>
          <a:prstGeom prst="rect">
            <a:avLst/>
          </a:prstGeom>
          <a:noFill/>
          <a:ln/>
        </p:spPr>
        <p:txBody>
          <a:bodyPr wrap="square" lIns="0" tIns="0" rIns="0" bIns="0" rtlCol="0" anchor="ctr"/>
          <a:lstStyle/>
          <a:p>
            <a:pPr algn="ctr" indent="0" marL="0">
              <a:buNone/>
            </a:pPr>
            <a:r>
              <a:rPr lang="en-US" sz="3200" b="1" dirty="0">
                <a:solidFill>
                  <a:schemeClr val="accent1"/>
                </a:solidFill>
              </a:rPr>
              <a:t>95%</a:t>
            </a:r>
            <a:endParaRPr lang="en-US" sz="3200" dirty="0"/>
          </a:p>
        </p:txBody>
      </p:sp>
      <p:sp>
        <p:nvSpPr>
          <p:cNvPr id="6" name="Text 3"/>
          <p:cNvSpPr txBox="1"/>
          <p:nvPr/>
        </p:nvSpPr>
        <p:spPr>
          <a:xfrm>
            <a:off x="8869680" y="2468880"/>
            <a:ext cx="2651760" cy="365760"/>
          </a:xfrm>
          <a:prstGeom prst="rect">
            <a:avLst/>
          </a:prstGeom>
          <a:noFill/>
          <a:ln/>
        </p:spPr>
        <p:txBody>
          <a:bodyPr wrap="square" lIns="0" tIns="0" rIns="0" bIns="0" rtlCol="0" anchor="ctr"/>
          <a:lstStyle/>
          <a:p>
            <a:pPr rtl="1" algn="ctr" indent="0" marL="0">
              <a:buNone/>
            </a:pPr>
            <a:r>
              <a:rPr lang="en-US" sz="1400" b="1" dirty="0">
                <a:solidFill>
                  <a:schemeClr val="tx1"/>
                </a:solidFill>
              </a:rPr>
              <a:t>من البكتيريا السليمة</a:t>
            </a:r>
            <a:endParaRPr lang="en-US" sz="1400" dirty="0"/>
          </a:p>
        </p:txBody>
      </p:sp>
      <p:sp>
        <p:nvSpPr>
          <p:cNvPr id="7" name="Text 4"/>
          <p:cNvSpPr txBox="1"/>
          <p:nvPr/>
        </p:nvSpPr>
        <p:spPr>
          <a:xfrm>
            <a:off x="8915400" y="2834640"/>
            <a:ext cx="2560320" cy="685800"/>
          </a:xfrm>
          <a:prstGeom prst="rect">
            <a:avLst/>
          </a:prstGeom>
          <a:noFill/>
          <a:ln/>
        </p:spPr>
        <p:txBody>
          <a:bodyPr wrap="square" lIns="0" tIns="0" rIns="0" bIns="0" rtlCol="0" anchor="t"/>
          <a:lstStyle/>
          <a:p>
            <a:pPr rtl="1" algn="ctr" indent="0" marL="0">
              <a:buNone/>
            </a:pPr>
            <a:r>
              <a:rPr lang="en-US" sz="1200" dirty="0">
                <a:solidFill>
                  <a:schemeClr val="accent5"/>
                </a:solidFill>
              </a:rPr>
              <a:t>Lactobacilli</a:t>
            </a:r>
            <a:endParaRPr lang="en-US" sz="1200" dirty="0"/>
          </a:p>
        </p:txBody>
      </p:sp>
      <p:sp>
        <p:nvSpPr>
          <p:cNvPr id="8" name="Shape 5"/>
          <p:cNvSpPr/>
          <p:nvPr/>
        </p:nvSpPr>
        <p:spPr>
          <a:xfrm>
            <a:off x="5760720" y="1325880"/>
            <a:ext cx="2834640" cy="2286000"/>
          </a:xfrm>
          <a:prstGeom prst="roundRect">
            <a:avLst>
              <a:gd name="adj" fmla="val 4800"/>
            </a:avLst>
          </a:prstGeom>
          <a:solidFill>
            <a:schemeClr val="accent1">
              <a:alpha val="8000"/>
            </a:schemeClr>
          </a:solidFill>
          <a:ln w="9525">
            <a:solidFill>
              <a:schemeClr val="accent1">
                <a:alpha val="25000"/>
              </a:schemeClr>
            </a:solidFill>
            <a:prstDash val="solid"/>
          </a:ln>
        </p:spPr>
      </p:sp>
      <p:sp>
        <p:nvSpPr>
          <p:cNvPr id="9" name="Text 6"/>
          <p:cNvSpPr txBox="1"/>
          <p:nvPr/>
        </p:nvSpPr>
        <p:spPr>
          <a:xfrm>
            <a:off x="5760720" y="1435608"/>
            <a:ext cx="2834640" cy="1028700"/>
          </a:xfrm>
          <a:prstGeom prst="rect">
            <a:avLst/>
          </a:prstGeom>
          <a:noFill/>
          <a:ln/>
        </p:spPr>
        <p:txBody>
          <a:bodyPr wrap="square" lIns="0" tIns="0" rIns="0" bIns="0" rtlCol="0" anchor="ctr"/>
          <a:lstStyle/>
          <a:p>
            <a:pPr algn="ctr" indent="0" marL="0">
              <a:buNone/>
            </a:pPr>
            <a:r>
              <a:rPr lang="en-US" sz="3200" b="1" dirty="0">
                <a:solidFill>
                  <a:schemeClr val="accent1"/>
                </a:solidFill>
              </a:rPr>
              <a:t>3.8–4.5</a:t>
            </a:r>
            <a:endParaRPr lang="en-US" sz="3200" dirty="0"/>
          </a:p>
        </p:txBody>
      </p:sp>
      <p:sp>
        <p:nvSpPr>
          <p:cNvPr id="10" name="Text 7"/>
          <p:cNvSpPr txBox="1"/>
          <p:nvPr/>
        </p:nvSpPr>
        <p:spPr>
          <a:xfrm>
            <a:off x="5852160" y="2468880"/>
            <a:ext cx="2651760" cy="365760"/>
          </a:xfrm>
          <a:prstGeom prst="rect">
            <a:avLst/>
          </a:prstGeom>
          <a:noFill/>
          <a:ln/>
        </p:spPr>
        <p:txBody>
          <a:bodyPr wrap="square" lIns="0" tIns="0" rIns="0" bIns="0" rtlCol="0" anchor="ctr"/>
          <a:lstStyle/>
          <a:p>
            <a:pPr rtl="1" algn="ctr" indent="0" marL="0">
              <a:buNone/>
            </a:pPr>
            <a:r>
              <a:rPr lang="en-US" sz="1400" b="1" dirty="0">
                <a:solidFill>
                  <a:schemeClr val="tx1"/>
                </a:solidFill>
              </a:rPr>
              <a:t>pH المهبل الطبيعي</a:t>
            </a:r>
            <a:endParaRPr lang="en-US" sz="1400" dirty="0"/>
          </a:p>
        </p:txBody>
      </p:sp>
      <p:sp>
        <p:nvSpPr>
          <p:cNvPr id="11" name="Text 8"/>
          <p:cNvSpPr txBox="1"/>
          <p:nvPr/>
        </p:nvSpPr>
        <p:spPr>
          <a:xfrm>
            <a:off x="5897880" y="2834640"/>
            <a:ext cx="2560320" cy="685800"/>
          </a:xfrm>
          <a:prstGeom prst="rect">
            <a:avLst/>
          </a:prstGeom>
          <a:noFill/>
          <a:ln/>
        </p:spPr>
        <p:txBody>
          <a:bodyPr wrap="square" lIns="0" tIns="0" rIns="0" bIns="0" rtlCol="0" anchor="t"/>
          <a:lstStyle/>
          <a:p>
            <a:pPr rtl="1" algn="ctr" indent="0" marL="0">
              <a:buNone/>
            </a:pPr>
            <a:r>
              <a:rPr lang="en-US" sz="1200" dirty="0">
                <a:solidFill>
                  <a:schemeClr val="accent5"/>
                </a:solidFill>
              </a:rPr>
              <a:t>بيئة حمضية بتحمي من الميكروبات</a:t>
            </a:r>
            <a:endParaRPr lang="en-US" sz="1200" dirty="0"/>
          </a:p>
        </p:txBody>
      </p:sp>
      <p:sp>
        <p:nvSpPr>
          <p:cNvPr id="12" name="Shape 9"/>
          <p:cNvSpPr/>
          <p:nvPr/>
        </p:nvSpPr>
        <p:spPr>
          <a:xfrm>
            <a:off x="2743200" y="1325880"/>
            <a:ext cx="2834640" cy="2286000"/>
          </a:xfrm>
          <a:prstGeom prst="roundRect">
            <a:avLst>
              <a:gd name="adj" fmla="val 4800"/>
            </a:avLst>
          </a:prstGeom>
          <a:solidFill>
            <a:schemeClr val="accent1">
              <a:alpha val="8000"/>
            </a:schemeClr>
          </a:solidFill>
          <a:ln w="9525">
            <a:solidFill>
              <a:schemeClr val="accent1">
                <a:alpha val="25000"/>
              </a:schemeClr>
            </a:solidFill>
            <a:prstDash val="solid"/>
          </a:ln>
        </p:spPr>
      </p:sp>
      <p:sp>
        <p:nvSpPr>
          <p:cNvPr id="13" name="Text 10"/>
          <p:cNvSpPr txBox="1"/>
          <p:nvPr/>
        </p:nvSpPr>
        <p:spPr>
          <a:xfrm>
            <a:off x="2743200" y="1435608"/>
            <a:ext cx="2834640" cy="1028700"/>
          </a:xfrm>
          <a:prstGeom prst="rect">
            <a:avLst/>
          </a:prstGeom>
          <a:noFill/>
          <a:ln/>
        </p:spPr>
        <p:txBody>
          <a:bodyPr wrap="square" lIns="0" tIns="0" rIns="0" bIns="0" rtlCol="0" anchor="ctr"/>
          <a:lstStyle/>
          <a:p>
            <a:pPr algn="ctr" indent="0" marL="0">
              <a:buNone/>
            </a:pPr>
            <a:r>
              <a:rPr lang="en-US" sz="3200" b="1" dirty="0">
                <a:solidFill>
                  <a:schemeClr val="accent1"/>
                </a:solidFill>
              </a:rPr>
              <a:t>pH 3.5–4.5</a:t>
            </a:r>
            <a:endParaRPr lang="en-US" sz="3200" dirty="0"/>
          </a:p>
        </p:txBody>
      </p:sp>
      <p:sp>
        <p:nvSpPr>
          <p:cNvPr id="14" name="Text 11"/>
          <p:cNvSpPr txBox="1"/>
          <p:nvPr/>
        </p:nvSpPr>
        <p:spPr>
          <a:xfrm>
            <a:off x="2834640" y="2468880"/>
            <a:ext cx="2651760" cy="365760"/>
          </a:xfrm>
          <a:prstGeom prst="rect">
            <a:avLst/>
          </a:prstGeom>
          <a:noFill/>
          <a:ln/>
        </p:spPr>
        <p:txBody>
          <a:bodyPr wrap="square" lIns="0" tIns="0" rIns="0" bIns="0" rtlCol="0" anchor="ctr"/>
          <a:lstStyle/>
          <a:p>
            <a:pPr rtl="1" algn="ctr" indent="0" marL="0">
              <a:buNone/>
            </a:pPr>
            <a:r>
              <a:rPr lang="en-US" sz="1400" b="1" dirty="0">
                <a:solidFill>
                  <a:schemeClr val="tx1"/>
                </a:solidFill>
              </a:rPr>
              <a:t>pH فيمينا</a:t>
            </a:r>
            <a:endParaRPr lang="en-US" sz="1400" dirty="0"/>
          </a:p>
        </p:txBody>
      </p:sp>
      <p:sp>
        <p:nvSpPr>
          <p:cNvPr id="15" name="Text 12"/>
          <p:cNvSpPr txBox="1"/>
          <p:nvPr/>
        </p:nvSpPr>
        <p:spPr>
          <a:xfrm>
            <a:off x="2880360" y="2834640"/>
            <a:ext cx="2560320" cy="685800"/>
          </a:xfrm>
          <a:prstGeom prst="rect">
            <a:avLst/>
          </a:prstGeom>
          <a:noFill/>
          <a:ln/>
        </p:spPr>
        <p:txBody>
          <a:bodyPr wrap="square" lIns="0" tIns="0" rIns="0" bIns="0" rtlCol="0" anchor="t"/>
          <a:lstStyle/>
          <a:p>
            <a:pPr rtl="1" algn="ctr" indent="0" marL="0">
              <a:buNone/>
            </a:pPr>
            <a:r>
              <a:rPr lang="en-US" sz="1200" dirty="0">
                <a:solidFill>
                  <a:schemeClr val="accent5"/>
                </a:solidFill>
              </a:rPr>
              <a:t>متوافق مع البيئة الطبيعية</a:t>
            </a:r>
            <a:endParaRPr lang="en-US" sz="1200" dirty="0"/>
          </a:p>
        </p:txBody>
      </p:sp>
      <p:sp>
        <p:nvSpPr>
          <p:cNvPr id="16" name="Shape 13"/>
          <p:cNvSpPr/>
          <p:nvPr/>
        </p:nvSpPr>
        <p:spPr>
          <a:xfrm>
            <a:off x="6172200" y="3840480"/>
            <a:ext cx="5440680" cy="2240280"/>
          </a:xfrm>
          <a:prstGeom prst="roundRect">
            <a:avLst>
              <a:gd name="adj" fmla="val 4898"/>
            </a:avLst>
          </a:prstGeom>
          <a:solidFill>
            <a:schemeClr val="accent1">
              <a:alpha val="8000"/>
            </a:schemeClr>
          </a:solidFill>
          <a:ln w="9525">
            <a:solidFill>
              <a:schemeClr val="accent1">
                <a:alpha val="25000"/>
              </a:schemeClr>
            </a:solidFill>
            <a:prstDash val="solid"/>
          </a:ln>
        </p:spPr>
      </p:sp>
      <p:sp>
        <p:nvSpPr>
          <p:cNvPr id="17" name="Shape 14"/>
          <p:cNvSpPr/>
          <p:nvPr/>
        </p:nvSpPr>
        <p:spPr>
          <a:xfrm>
            <a:off x="10991088" y="4005072"/>
            <a:ext cx="457200" cy="457200"/>
          </a:xfrm>
          <a:prstGeom prst="ellipse">
            <a:avLst/>
          </a:prstGeom>
          <a:solidFill>
            <a:schemeClr val="accent1"/>
          </a:solidFill>
          <a:ln w="12700">
            <a:solidFill>
              <a:schemeClr val="accent1"/>
            </a:solidFill>
            <a:prstDash val="solid"/>
          </a:ln>
        </p:spPr>
      </p:sp>
      <p:sp>
        <p:nvSpPr>
          <p:cNvPr id="18" name="Text 15"/>
          <p:cNvSpPr txBox="1"/>
          <p:nvPr/>
        </p:nvSpPr>
        <p:spPr>
          <a:xfrm>
            <a:off x="10991088" y="4005072"/>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19" name="Text 16"/>
          <p:cNvSpPr txBox="1"/>
          <p:nvPr/>
        </p:nvSpPr>
        <p:spPr>
          <a:xfrm>
            <a:off x="6309360" y="3950208"/>
            <a:ext cx="4572000" cy="548640"/>
          </a:xfrm>
          <a:prstGeom prst="rect">
            <a:avLst/>
          </a:prstGeom>
          <a:noFill/>
          <a:ln/>
        </p:spPr>
        <p:txBody>
          <a:bodyPr wrap="square" lIns="0" tIns="0" rIns="0" bIns="0" rtlCol="0" anchor="ctr"/>
          <a:lstStyle/>
          <a:p>
            <a:pPr rtl="1" algn="r" indent="0" marL="0">
              <a:buNone/>
            </a:pPr>
            <a:r>
              <a:rPr lang="en-US" sz="1600" b="1" dirty="0">
                <a:solidFill>
                  <a:schemeClr val="accent1"/>
                </a:solidFill>
              </a:rPr>
              <a:t>إزاي البيئة الحمضية بتحمي؟</a:t>
            </a:r>
            <a:endParaRPr lang="en-US" sz="1600" dirty="0"/>
          </a:p>
        </p:txBody>
      </p:sp>
      <p:sp>
        <p:nvSpPr>
          <p:cNvPr id="20" name="Text 17"/>
          <p:cNvSpPr txBox="1"/>
          <p:nvPr/>
        </p:nvSpPr>
        <p:spPr>
          <a:xfrm>
            <a:off x="6355080" y="4553712"/>
            <a:ext cx="5074920" cy="1435608"/>
          </a:xfrm>
          <a:prstGeom prst="rect">
            <a:avLst/>
          </a:prstGeom>
          <a:noFill/>
          <a:ln/>
        </p:spPr>
        <p:txBody>
          <a:bodyPr wrap="square" lIns="0" tIns="0" rIns="0" bIns="0" rtlCol="0" anchor="t"/>
          <a:lstStyle/>
          <a:p>
            <a:pPr rtl="1" algn="r" indent="0" marL="0">
              <a:spcAft>
                <a:spcPts val="400"/>
              </a:spcAft>
              <a:buNone/>
            </a:pPr>
            <a:r>
              <a:rPr lang="en-US" sz="1300" dirty="0">
                <a:solidFill>
                  <a:schemeClr val="tx1"/>
                </a:solidFill>
              </a:rPr>
              <a:t>حمض اللاكتيك اللي بتفرزه اللاكتوباسيلاي بيخلّي الوسط حمضي، وده بيقلّل نمو الميكروبات الضارة وبيمنعها تلتصق بخلايا المهبل.</a:t>
            </a:r>
            <a:endParaRPr lang="en-US" sz="1300" dirty="0"/>
          </a:p>
        </p:txBody>
      </p:sp>
      <p:sp>
        <p:nvSpPr>
          <p:cNvPr id="21" name="Shape 18"/>
          <p:cNvSpPr/>
          <p:nvPr/>
        </p:nvSpPr>
        <p:spPr>
          <a:xfrm>
            <a:off x="548640" y="3840480"/>
            <a:ext cx="5440680" cy="2240280"/>
          </a:xfrm>
          <a:prstGeom prst="roundRect">
            <a:avLst>
              <a:gd name="adj" fmla="val 4898"/>
            </a:avLst>
          </a:prstGeom>
          <a:solidFill>
            <a:schemeClr val="accent1">
              <a:alpha val="8000"/>
            </a:schemeClr>
          </a:solidFill>
          <a:ln w="9525">
            <a:solidFill>
              <a:schemeClr val="accent1">
                <a:alpha val="25000"/>
              </a:schemeClr>
            </a:solidFill>
            <a:prstDash val="solid"/>
          </a:ln>
        </p:spPr>
      </p:sp>
      <p:sp>
        <p:nvSpPr>
          <p:cNvPr id="22" name="Shape 19"/>
          <p:cNvSpPr/>
          <p:nvPr/>
        </p:nvSpPr>
        <p:spPr>
          <a:xfrm>
            <a:off x="5367528" y="4005072"/>
            <a:ext cx="457200" cy="457200"/>
          </a:xfrm>
          <a:prstGeom prst="ellipse">
            <a:avLst/>
          </a:prstGeom>
          <a:solidFill>
            <a:schemeClr val="accent1"/>
          </a:solidFill>
          <a:ln w="12700">
            <a:solidFill>
              <a:schemeClr val="accent1"/>
            </a:solidFill>
            <a:prstDash val="solid"/>
          </a:ln>
        </p:spPr>
      </p:sp>
      <p:sp>
        <p:nvSpPr>
          <p:cNvPr id="23" name="Text 20"/>
          <p:cNvSpPr txBox="1"/>
          <p:nvPr/>
        </p:nvSpPr>
        <p:spPr>
          <a:xfrm>
            <a:off x="5367528" y="4005072"/>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24" name="Text 21"/>
          <p:cNvSpPr txBox="1"/>
          <p:nvPr/>
        </p:nvSpPr>
        <p:spPr>
          <a:xfrm>
            <a:off x="685800" y="3950208"/>
            <a:ext cx="4572000" cy="548640"/>
          </a:xfrm>
          <a:prstGeom prst="rect">
            <a:avLst/>
          </a:prstGeom>
          <a:noFill/>
          <a:ln/>
        </p:spPr>
        <p:txBody>
          <a:bodyPr wrap="square" lIns="0" tIns="0" rIns="0" bIns="0" rtlCol="0" anchor="ctr"/>
          <a:lstStyle/>
          <a:p>
            <a:pPr rtl="1" algn="r" indent="0" marL="0">
              <a:buNone/>
            </a:pPr>
            <a:r>
              <a:rPr lang="en-US" sz="1600" b="1" dirty="0">
                <a:solidFill>
                  <a:schemeClr val="accent1"/>
                </a:solidFill>
              </a:rPr>
              <a:t>إيه اللي بيخرّب التوازن؟</a:t>
            </a:r>
            <a:endParaRPr lang="en-US" sz="1600" dirty="0"/>
          </a:p>
        </p:txBody>
      </p:sp>
      <p:sp>
        <p:nvSpPr>
          <p:cNvPr id="25" name="Text 22"/>
          <p:cNvSpPr txBox="1"/>
          <p:nvPr/>
        </p:nvSpPr>
        <p:spPr>
          <a:xfrm>
            <a:off x="731520" y="4553712"/>
            <a:ext cx="5074920" cy="1435608"/>
          </a:xfrm>
          <a:prstGeom prst="rect">
            <a:avLst/>
          </a:prstGeom>
          <a:noFill/>
          <a:ln/>
        </p:spPr>
        <p:txBody>
          <a:bodyPr wrap="square" lIns="0" tIns="0" rIns="0" bIns="0" rtlCol="0" anchor="t"/>
          <a:lstStyle/>
          <a:p>
            <a:pPr rtl="1" algn="r" indent="0" marL="0">
              <a:spcAft>
                <a:spcPts val="400"/>
              </a:spcAft>
              <a:buNone/>
            </a:pPr>
            <a:r>
              <a:rPr lang="en-US" sz="1300" dirty="0">
                <a:solidFill>
                  <a:schemeClr val="tx1"/>
                </a:solidFill>
              </a:rPr>
              <a:t>الصابون القلوي، المضادات الحيوية، تغيّر الهرمونات (الحمل، الدورة، انقطاع الطمث)، والغسول المهبلي الداخلي الزايد.</a:t>
            </a:r>
            <a:endParaRPr lang="en-US" sz="1300" dirty="0"/>
          </a:p>
        </p:txBody>
      </p:sp>
      <p:sp>
        <p:nvSpPr>
          <p:cNvPr id="26" name="Shape 23"/>
          <p:cNvSpPr/>
          <p:nvPr/>
        </p:nvSpPr>
        <p:spPr>
          <a:xfrm>
            <a:off x="548640" y="1325880"/>
            <a:ext cx="2011680" cy="2286000"/>
          </a:xfrm>
          <a:prstGeom prst="roundRect">
            <a:avLst>
              <a:gd name="adj" fmla="val 5455"/>
            </a:avLst>
          </a:prstGeom>
          <a:solidFill>
            <a:schemeClr val="accent1">
              <a:alpha val="6000"/>
            </a:schemeClr>
          </a:solidFill>
          <a:ln w="9525">
            <a:solidFill>
              <a:schemeClr val="accent1">
                <a:alpha val="25000"/>
              </a:schemeClr>
            </a:solidFill>
            <a:prstDash val="solid"/>
          </a:ln>
        </p:spPr>
      </p:sp>
      <p:sp>
        <p:nvSpPr>
          <p:cNvPr id="27" name="Text 24"/>
          <p:cNvSpPr txBox="1"/>
          <p:nvPr/>
        </p:nvSpPr>
        <p:spPr>
          <a:xfrm>
            <a:off x="640080" y="1417320"/>
            <a:ext cx="1828800" cy="2103120"/>
          </a:xfrm>
          <a:prstGeom prst="rect">
            <a:avLst/>
          </a:prstGeom>
          <a:noFill/>
          <a:ln/>
        </p:spPr>
        <p:txBody>
          <a:bodyPr wrap="square" lIns="0" tIns="0" rIns="0" bIns="0" rtlCol="0" anchor="ctr"/>
          <a:lstStyle/>
          <a:p>
            <a:pPr rtl="1" algn="r" indent="0" marL="0">
              <a:buNone/>
            </a:pPr>
            <a:r>
              <a:rPr lang="en-US" sz="1200" dirty="0">
                <a:solidFill>
                  <a:schemeClr val="tx1"/>
                </a:solidFill>
              </a:rPr>
              <a:t>Chen, 2017: الإرشادات الدولية بتدعم التنظيف الخارجي اللطيف يومياً بمنتج حموضته مناسبة</a:t>
            </a:r>
            <a:endParaRPr lang="en-US" sz="1200" dirty="0"/>
          </a:p>
        </p:txBody>
      </p:sp>
      <p:sp>
        <p:nvSpPr>
          <p:cNvPr id="25" name="Slide Number Placeholder 0"/>
          <p:cNvSpPr>
            <a:spLocks noGrp="1"/>
          </p:cNvSpPr>
          <p:nvPr>
            <p:ph type="sldNum" sz="quarter" idx="4294967295"/>
          </p:nvPr>
        </p:nvSpPr>
        <p:spPr>
          <a:xfrm>
            <a:off x="5806440" y="630936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ct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2" type="title" hasCustomPrompt="1"/>
          </p:nvPr>
        </p:nvSpPr>
        <p:spPr>
          <a:xfrm>
            <a:off x="548640" y="320040"/>
            <a:ext cx="11064240" cy="777240"/>
          </a:xfrm>
          <a:prstGeom prst="rect">
            <a:avLst/>
          </a:prstGeom>
          <a:noFill/>
          <a:ln/>
        </p:spPr>
        <p:txBody>
          <a:bodyPr wrap="square" rtlCol="0" anchor="ctr"/>
          <a:lstStyle/>
          <a:p>
            <a:pPr rtl="1" algn="r" indent="0" marL="0">
              <a:buNone/>
            </a:pPr>
            <a:r>
              <a:rPr lang="en-US" sz="3200" b="1" dirty="0">
                <a:solidFill>
                  <a:schemeClr val="tx2"/>
                </a:solidFill>
              </a:rPr>
              <a:t>Femina — التركيبة: 4 أدوار في منتج واحد</a:t>
            </a:r>
            <a:endParaRPr lang="en-US" sz="3200" dirty="0"/>
          </a:p>
        </p:txBody>
      </p:sp>
      <p:sp>
        <p:nvSpPr>
          <p:cNvPr id="4" name="Shape 1"/>
          <p:cNvSpPr/>
          <p:nvPr/>
        </p:nvSpPr>
        <p:spPr>
          <a:xfrm>
            <a:off x="8983980" y="1325880"/>
            <a:ext cx="2651760" cy="3108960"/>
          </a:xfrm>
          <a:prstGeom prst="roundRect">
            <a:avLst>
              <a:gd name="adj" fmla="val 4138"/>
            </a:avLst>
          </a:prstGeom>
          <a:solidFill>
            <a:schemeClr val="accent1">
              <a:alpha val="8000"/>
            </a:schemeClr>
          </a:solidFill>
          <a:ln w="9525">
            <a:solidFill>
              <a:schemeClr val="accent1">
                <a:alpha val="25000"/>
              </a:schemeClr>
            </a:solidFill>
            <a:prstDash val="solid"/>
          </a:ln>
        </p:spPr>
      </p:sp>
      <p:sp>
        <p:nvSpPr>
          <p:cNvPr id="5" name="Shape 2"/>
          <p:cNvSpPr/>
          <p:nvPr/>
        </p:nvSpPr>
        <p:spPr>
          <a:xfrm>
            <a:off x="11013948" y="1490472"/>
            <a:ext cx="457200" cy="457200"/>
          </a:xfrm>
          <a:prstGeom prst="ellipse">
            <a:avLst/>
          </a:prstGeom>
          <a:solidFill>
            <a:schemeClr val="accent1"/>
          </a:solidFill>
          <a:ln w="12700">
            <a:solidFill>
              <a:schemeClr val="accent1"/>
            </a:solidFill>
            <a:prstDash val="solid"/>
          </a:ln>
        </p:spPr>
      </p:sp>
      <p:sp>
        <p:nvSpPr>
          <p:cNvPr id="6" name="Text 3"/>
          <p:cNvSpPr txBox="1"/>
          <p:nvPr/>
        </p:nvSpPr>
        <p:spPr>
          <a:xfrm>
            <a:off x="11013948" y="1490472"/>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7" name="Text 4"/>
          <p:cNvSpPr txBox="1"/>
          <p:nvPr/>
        </p:nvSpPr>
        <p:spPr>
          <a:xfrm>
            <a:off x="9121140" y="1435608"/>
            <a:ext cx="1783080" cy="548640"/>
          </a:xfrm>
          <a:prstGeom prst="rect">
            <a:avLst/>
          </a:prstGeom>
          <a:noFill/>
          <a:ln/>
        </p:spPr>
        <p:txBody>
          <a:bodyPr wrap="square" lIns="0" tIns="0" rIns="0" bIns="0" rtlCol="0" anchor="ctr"/>
          <a:lstStyle/>
          <a:p>
            <a:pPr rtl="1" algn="r" indent="0" marL="0">
              <a:buNone/>
            </a:pPr>
            <a:r>
              <a:rPr lang="en-US" sz="1600" b="1" dirty="0">
                <a:solidFill>
                  <a:schemeClr val="accent1"/>
                </a:solidFill>
              </a:rPr>
              <a:t>مطهّر</a:t>
            </a:r>
            <a:endParaRPr lang="en-US" sz="1600" dirty="0"/>
          </a:p>
        </p:txBody>
      </p:sp>
      <p:sp>
        <p:nvSpPr>
          <p:cNvPr id="8" name="Text 5"/>
          <p:cNvSpPr txBox="1"/>
          <p:nvPr/>
        </p:nvSpPr>
        <p:spPr>
          <a:xfrm>
            <a:off x="9166860" y="2039112"/>
            <a:ext cx="2286000" cy="2304288"/>
          </a:xfrm>
          <a:prstGeom prst="rect">
            <a:avLst/>
          </a:prstGeom>
          <a:noFill/>
          <a:ln/>
        </p:spPr>
        <p:txBody>
          <a:bodyPr wrap="square" lIns="0" tIns="0" rIns="0" bIns="0" rtlCol="0" anchor="t"/>
          <a:lstStyle/>
          <a:p>
            <a:pPr rtl="1" algn="r" indent="0" marL="0">
              <a:spcAft>
                <a:spcPts val="400"/>
              </a:spcAft>
              <a:buNone/>
            </a:pPr>
            <a:r>
              <a:rPr lang="en-US" sz="1500" dirty="0">
                <a:solidFill>
                  <a:schemeClr val="tx1"/>
                </a:solidFill>
              </a:rPr>
              <a:t>Chlorhexidine 0.2%</a:t>
            </a:r>
            <a:endParaRPr lang="en-US" sz="1500" dirty="0"/>
          </a:p>
          <a:p>
            <a:pPr rtl="1" algn="r" indent="0" marL="0">
              <a:spcAft>
                <a:spcPts val="400"/>
              </a:spcAft>
              <a:buNone/>
            </a:pPr>
            <a:r>
              <a:rPr lang="en-US" sz="1500" dirty="0">
                <a:solidFill>
                  <a:schemeClr val="tx1"/>
                </a:solidFill>
              </a:rPr>
              <a:t>Tea tree oil 1%</a:t>
            </a:r>
            <a:endParaRPr lang="en-US" sz="1500" dirty="0"/>
          </a:p>
          <a:p>
            <a:pPr rtl="1" algn="r" indent="0" marL="0">
              <a:spcAft>
                <a:spcPts val="400"/>
              </a:spcAft>
              <a:buNone/>
            </a:pPr>
            <a:r>
              <a:rPr lang="en-US" sz="1500" dirty="0">
                <a:solidFill>
                  <a:schemeClr val="tx1"/>
                </a:solidFill>
              </a:rPr>
              <a:t>Thyme oil 1%</a:t>
            </a:r>
            <a:endParaRPr lang="en-US" sz="1500" dirty="0"/>
          </a:p>
          <a:p>
            <a:pPr rtl="1" algn="r" indent="0" marL="0">
              <a:spcAft>
                <a:spcPts val="400"/>
              </a:spcAft>
              <a:buNone/>
            </a:pPr>
            <a:r>
              <a:rPr lang="en-US" sz="1500" dirty="0">
                <a:solidFill>
                  <a:schemeClr val="tx1"/>
                </a:solidFill>
              </a:rPr>
              <a:t>Neem oil 3%</a:t>
            </a:r>
            <a:endParaRPr lang="en-US" sz="1500" dirty="0"/>
          </a:p>
        </p:txBody>
      </p:sp>
      <p:sp>
        <p:nvSpPr>
          <p:cNvPr id="9" name="Shape 6"/>
          <p:cNvSpPr/>
          <p:nvPr/>
        </p:nvSpPr>
        <p:spPr>
          <a:xfrm>
            <a:off x="6172200" y="1325880"/>
            <a:ext cx="2651760" cy="3108960"/>
          </a:xfrm>
          <a:prstGeom prst="roundRect">
            <a:avLst>
              <a:gd name="adj" fmla="val 4138"/>
            </a:avLst>
          </a:prstGeom>
          <a:solidFill>
            <a:schemeClr val="accent1">
              <a:alpha val="8000"/>
            </a:schemeClr>
          </a:solidFill>
          <a:ln w="9525">
            <a:solidFill>
              <a:schemeClr val="accent1">
                <a:alpha val="25000"/>
              </a:schemeClr>
            </a:solidFill>
            <a:prstDash val="solid"/>
          </a:ln>
        </p:spPr>
      </p:sp>
      <p:sp>
        <p:nvSpPr>
          <p:cNvPr id="10" name="Shape 7"/>
          <p:cNvSpPr/>
          <p:nvPr/>
        </p:nvSpPr>
        <p:spPr>
          <a:xfrm>
            <a:off x="8202168" y="1490472"/>
            <a:ext cx="457200" cy="457200"/>
          </a:xfrm>
          <a:prstGeom prst="ellipse">
            <a:avLst/>
          </a:prstGeom>
          <a:solidFill>
            <a:schemeClr val="accent1"/>
          </a:solidFill>
          <a:ln w="12700">
            <a:solidFill>
              <a:schemeClr val="accent1"/>
            </a:solidFill>
            <a:prstDash val="solid"/>
          </a:ln>
        </p:spPr>
      </p:sp>
      <p:sp>
        <p:nvSpPr>
          <p:cNvPr id="11" name="Text 8"/>
          <p:cNvSpPr txBox="1"/>
          <p:nvPr/>
        </p:nvSpPr>
        <p:spPr>
          <a:xfrm>
            <a:off x="8202168" y="1490472"/>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2" name="Text 9"/>
          <p:cNvSpPr txBox="1"/>
          <p:nvPr/>
        </p:nvSpPr>
        <p:spPr>
          <a:xfrm>
            <a:off x="6309360" y="1435608"/>
            <a:ext cx="1783080" cy="548640"/>
          </a:xfrm>
          <a:prstGeom prst="rect">
            <a:avLst/>
          </a:prstGeom>
          <a:noFill/>
          <a:ln/>
        </p:spPr>
        <p:txBody>
          <a:bodyPr wrap="square" lIns="0" tIns="0" rIns="0" bIns="0" rtlCol="0" anchor="ctr"/>
          <a:lstStyle/>
          <a:p>
            <a:pPr rtl="1" algn="r" indent="0" marL="0">
              <a:buNone/>
            </a:pPr>
            <a:r>
              <a:rPr lang="en-US" sz="1600" b="1" dirty="0">
                <a:solidFill>
                  <a:schemeClr val="accent1"/>
                </a:solidFill>
              </a:rPr>
              <a:t>مهدّئ ومضاد للحكة</a:t>
            </a:r>
            <a:endParaRPr lang="en-US" sz="1600" dirty="0"/>
          </a:p>
        </p:txBody>
      </p:sp>
      <p:sp>
        <p:nvSpPr>
          <p:cNvPr id="13" name="Text 10"/>
          <p:cNvSpPr txBox="1"/>
          <p:nvPr/>
        </p:nvSpPr>
        <p:spPr>
          <a:xfrm>
            <a:off x="6355080" y="2039112"/>
            <a:ext cx="2286000" cy="2304288"/>
          </a:xfrm>
          <a:prstGeom prst="rect">
            <a:avLst/>
          </a:prstGeom>
          <a:noFill/>
          <a:ln/>
        </p:spPr>
        <p:txBody>
          <a:bodyPr wrap="square" lIns="0" tIns="0" rIns="0" bIns="0" rtlCol="0" anchor="t"/>
          <a:lstStyle/>
          <a:p>
            <a:pPr rtl="1" algn="r" indent="0" marL="0">
              <a:spcAft>
                <a:spcPts val="400"/>
              </a:spcAft>
              <a:buNone/>
            </a:pPr>
            <a:r>
              <a:rPr lang="en-US" sz="1500" dirty="0">
                <a:solidFill>
                  <a:schemeClr val="tx1"/>
                </a:solidFill>
              </a:rPr>
              <a:t>Chamomile 1%</a:t>
            </a:r>
            <a:endParaRPr lang="en-US" sz="1500" dirty="0"/>
          </a:p>
          <a:p>
            <a:pPr rtl="1" algn="r" indent="0" marL="0">
              <a:spcAft>
                <a:spcPts val="400"/>
              </a:spcAft>
              <a:buNone/>
            </a:pPr>
            <a:r>
              <a:rPr lang="en-US" sz="1500" dirty="0">
                <a:solidFill>
                  <a:schemeClr val="tx1"/>
                </a:solidFill>
              </a:rPr>
              <a:t>Bisabolol 1%</a:t>
            </a:r>
            <a:endParaRPr lang="en-US" sz="1500" dirty="0"/>
          </a:p>
          <a:p>
            <a:pPr rtl="1" algn="r" indent="0" marL="0">
              <a:spcAft>
                <a:spcPts val="400"/>
              </a:spcAft>
              <a:buNone/>
            </a:pPr>
            <a:r>
              <a:rPr lang="en-US" sz="1500" dirty="0">
                <a:solidFill>
                  <a:schemeClr val="tx1"/>
                </a:solidFill>
              </a:rPr>
              <a:t>Aloe vera 1%</a:t>
            </a:r>
            <a:endParaRPr lang="en-US" sz="1500" dirty="0"/>
          </a:p>
          <a:p>
            <a:pPr rtl="1" algn="r" indent="0" marL="0">
              <a:spcAft>
                <a:spcPts val="400"/>
              </a:spcAft>
              <a:buNone/>
            </a:pPr>
            <a:r>
              <a:rPr lang="en-US" sz="1500" dirty="0">
                <a:solidFill>
                  <a:schemeClr val="tx1"/>
                </a:solidFill>
              </a:rPr>
              <a:t>Licorice 1%</a:t>
            </a:r>
            <a:endParaRPr lang="en-US" sz="1500" dirty="0"/>
          </a:p>
          <a:p>
            <a:pPr rtl="1" algn="r" indent="0" marL="0">
              <a:spcAft>
                <a:spcPts val="400"/>
              </a:spcAft>
              <a:buNone/>
            </a:pPr>
            <a:r>
              <a:rPr lang="en-US" sz="1500" dirty="0">
                <a:solidFill>
                  <a:schemeClr val="tx1"/>
                </a:solidFill>
              </a:rPr>
              <a:t>Menthol 0.3%</a:t>
            </a:r>
            <a:endParaRPr lang="en-US" sz="1500" dirty="0"/>
          </a:p>
        </p:txBody>
      </p:sp>
      <p:sp>
        <p:nvSpPr>
          <p:cNvPr id="14" name="Shape 11"/>
          <p:cNvSpPr/>
          <p:nvPr/>
        </p:nvSpPr>
        <p:spPr>
          <a:xfrm>
            <a:off x="3360420" y="1325880"/>
            <a:ext cx="2651760" cy="3108960"/>
          </a:xfrm>
          <a:prstGeom prst="roundRect">
            <a:avLst>
              <a:gd name="adj" fmla="val 4138"/>
            </a:avLst>
          </a:prstGeom>
          <a:solidFill>
            <a:schemeClr val="accent1">
              <a:alpha val="8000"/>
            </a:schemeClr>
          </a:solidFill>
          <a:ln w="9525">
            <a:solidFill>
              <a:schemeClr val="accent1">
                <a:alpha val="25000"/>
              </a:schemeClr>
            </a:solidFill>
            <a:prstDash val="solid"/>
          </a:ln>
        </p:spPr>
      </p:sp>
      <p:sp>
        <p:nvSpPr>
          <p:cNvPr id="15" name="Shape 12"/>
          <p:cNvSpPr/>
          <p:nvPr/>
        </p:nvSpPr>
        <p:spPr>
          <a:xfrm>
            <a:off x="5390388" y="1490472"/>
            <a:ext cx="457200" cy="457200"/>
          </a:xfrm>
          <a:prstGeom prst="ellipse">
            <a:avLst/>
          </a:prstGeom>
          <a:solidFill>
            <a:schemeClr val="accent1"/>
          </a:solidFill>
          <a:ln w="12700">
            <a:solidFill>
              <a:schemeClr val="accent1"/>
            </a:solidFill>
            <a:prstDash val="solid"/>
          </a:ln>
        </p:spPr>
      </p:sp>
      <p:sp>
        <p:nvSpPr>
          <p:cNvPr id="16" name="Text 13"/>
          <p:cNvSpPr txBox="1"/>
          <p:nvPr/>
        </p:nvSpPr>
        <p:spPr>
          <a:xfrm>
            <a:off x="5390388" y="1490472"/>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7" name="Text 14"/>
          <p:cNvSpPr txBox="1"/>
          <p:nvPr/>
        </p:nvSpPr>
        <p:spPr>
          <a:xfrm>
            <a:off x="3497580" y="1435608"/>
            <a:ext cx="1783080" cy="548640"/>
          </a:xfrm>
          <a:prstGeom prst="rect">
            <a:avLst/>
          </a:prstGeom>
          <a:noFill/>
          <a:ln/>
        </p:spPr>
        <p:txBody>
          <a:bodyPr wrap="square" lIns="0" tIns="0" rIns="0" bIns="0" rtlCol="0" anchor="ctr"/>
          <a:lstStyle/>
          <a:p>
            <a:pPr rtl="1" algn="r" indent="0" marL="0">
              <a:buNone/>
            </a:pPr>
            <a:r>
              <a:rPr lang="en-US" sz="1600" b="1" dirty="0">
                <a:solidFill>
                  <a:schemeClr val="accent1"/>
                </a:solidFill>
              </a:rPr>
              <a:t>ترطيب وحاجز</a:t>
            </a:r>
            <a:endParaRPr lang="en-US" sz="1600" dirty="0"/>
          </a:p>
        </p:txBody>
      </p:sp>
      <p:sp>
        <p:nvSpPr>
          <p:cNvPr id="18" name="Text 15"/>
          <p:cNvSpPr txBox="1"/>
          <p:nvPr/>
        </p:nvSpPr>
        <p:spPr>
          <a:xfrm>
            <a:off x="3543300" y="2039112"/>
            <a:ext cx="2286000" cy="2304288"/>
          </a:xfrm>
          <a:prstGeom prst="rect">
            <a:avLst/>
          </a:prstGeom>
          <a:noFill/>
          <a:ln/>
        </p:spPr>
        <p:txBody>
          <a:bodyPr wrap="square" lIns="0" tIns="0" rIns="0" bIns="0" rtlCol="0" anchor="t"/>
          <a:lstStyle/>
          <a:p>
            <a:pPr rtl="1" algn="r" indent="0" marL="0">
              <a:spcAft>
                <a:spcPts val="400"/>
              </a:spcAft>
              <a:buNone/>
            </a:pPr>
            <a:r>
              <a:rPr lang="en-US" sz="1500" dirty="0">
                <a:solidFill>
                  <a:schemeClr val="tx1"/>
                </a:solidFill>
              </a:rPr>
              <a:t>Glycerin 5%</a:t>
            </a:r>
            <a:endParaRPr lang="en-US" sz="1500" dirty="0"/>
          </a:p>
          <a:p>
            <a:pPr rtl="1" algn="r" indent="0" marL="0">
              <a:spcAft>
                <a:spcPts val="400"/>
              </a:spcAft>
              <a:buNone/>
            </a:pPr>
            <a:r>
              <a:rPr lang="en-US" sz="1500" dirty="0">
                <a:solidFill>
                  <a:schemeClr val="tx1"/>
                </a:solidFill>
              </a:rPr>
              <a:t>Ceramide 2%</a:t>
            </a:r>
            <a:endParaRPr lang="en-US" sz="1500" dirty="0"/>
          </a:p>
          <a:p>
            <a:pPr rtl="1" algn="r" indent="0" marL="0">
              <a:spcAft>
                <a:spcPts val="400"/>
              </a:spcAft>
              <a:buNone/>
            </a:pPr>
            <a:r>
              <a:rPr lang="en-US" sz="1500" dirty="0">
                <a:solidFill>
                  <a:schemeClr val="tx1"/>
                </a:solidFill>
              </a:rPr>
              <a:t>D-Panthenol 1%</a:t>
            </a:r>
            <a:endParaRPr lang="en-US" sz="1500" dirty="0"/>
          </a:p>
          <a:p>
            <a:pPr rtl="1" algn="r" indent="0" marL="0">
              <a:spcAft>
                <a:spcPts val="400"/>
              </a:spcAft>
              <a:buNone/>
            </a:pPr>
            <a:r>
              <a:rPr lang="en-US" sz="1500" dirty="0">
                <a:solidFill>
                  <a:schemeClr val="tx1"/>
                </a:solidFill>
              </a:rPr>
              <a:t>Allantoin 1%</a:t>
            </a:r>
            <a:endParaRPr lang="en-US" sz="1500" dirty="0"/>
          </a:p>
          <a:p>
            <a:pPr rtl="1" algn="r" indent="0" marL="0">
              <a:spcAft>
                <a:spcPts val="400"/>
              </a:spcAft>
              <a:buNone/>
            </a:pPr>
            <a:r>
              <a:rPr lang="en-US" sz="1500" dirty="0">
                <a:solidFill>
                  <a:schemeClr val="tx1"/>
                </a:solidFill>
              </a:rPr>
              <a:t>Vitamin E 1%</a:t>
            </a:r>
            <a:endParaRPr lang="en-US" sz="1500" dirty="0"/>
          </a:p>
        </p:txBody>
      </p:sp>
      <p:sp>
        <p:nvSpPr>
          <p:cNvPr id="19" name="Shape 16"/>
          <p:cNvSpPr/>
          <p:nvPr/>
        </p:nvSpPr>
        <p:spPr>
          <a:xfrm>
            <a:off x="548640" y="1325880"/>
            <a:ext cx="2651760" cy="3108960"/>
          </a:xfrm>
          <a:prstGeom prst="roundRect">
            <a:avLst>
              <a:gd name="adj" fmla="val 4138"/>
            </a:avLst>
          </a:prstGeom>
          <a:solidFill>
            <a:schemeClr val="accent1">
              <a:alpha val="8000"/>
            </a:schemeClr>
          </a:solidFill>
          <a:ln w="9525">
            <a:solidFill>
              <a:schemeClr val="accent1">
                <a:alpha val="25000"/>
              </a:schemeClr>
            </a:solidFill>
            <a:prstDash val="solid"/>
          </a:ln>
        </p:spPr>
      </p:sp>
      <p:sp>
        <p:nvSpPr>
          <p:cNvPr id="20" name="Shape 17"/>
          <p:cNvSpPr/>
          <p:nvPr/>
        </p:nvSpPr>
        <p:spPr>
          <a:xfrm>
            <a:off x="2578608" y="1490472"/>
            <a:ext cx="457200" cy="457200"/>
          </a:xfrm>
          <a:prstGeom prst="ellipse">
            <a:avLst/>
          </a:prstGeom>
          <a:solidFill>
            <a:schemeClr val="accent1"/>
          </a:solidFill>
          <a:ln w="12700">
            <a:solidFill>
              <a:schemeClr val="accent1"/>
            </a:solidFill>
            <a:prstDash val="solid"/>
          </a:ln>
        </p:spPr>
      </p:sp>
      <p:sp>
        <p:nvSpPr>
          <p:cNvPr id="21" name="Text 18"/>
          <p:cNvSpPr txBox="1"/>
          <p:nvPr/>
        </p:nvSpPr>
        <p:spPr>
          <a:xfrm>
            <a:off x="2578608" y="1490472"/>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2" name="Text 19"/>
          <p:cNvSpPr txBox="1"/>
          <p:nvPr/>
        </p:nvSpPr>
        <p:spPr>
          <a:xfrm>
            <a:off x="685800" y="1435608"/>
            <a:ext cx="1783080" cy="548640"/>
          </a:xfrm>
          <a:prstGeom prst="rect">
            <a:avLst/>
          </a:prstGeom>
          <a:noFill/>
          <a:ln/>
        </p:spPr>
        <p:txBody>
          <a:bodyPr wrap="square" lIns="0" tIns="0" rIns="0" bIns="0" rtlCol="0" anchor="ctr"/>
          <a:lstStyle/>
          <a:p>
            <a:pPr rtl="1" algn="r" indent="0" marL="0">
              <a:buNone/>
            </a:pPr>
            <a:r>
              <a:rPr lang="en-US" sz="1600" b="1" dirty="0">
                <a:solidFill>
                  <a:schemeClr val="accent1"/>
                </a:solidFill>
              </a:rPr>
              <a:t>تنظيف وحموضة</a:t>
            </a:r>
            <a:endParaRPr lang="en-US" sz="1600" dirty="0"/>
          </a:p>
        </p:txBody>
      </p:sp>
      <p:sp>
        <p:nvSpPr>
          <p:cNvPr id="23" name="Text 20"/>
          <p:cNvSpPr txBox="1"/>
          <p:nvPr/>
        </p:nvSpPr>
        <p:spPr>
          <a:xfrm>
            <a:off x="731520" y="2039112"/>
            <a:ext cx="2286000" cy="2304288"/>
          </a:xfrm>
          <a:prstGeom prst="rect">
            <a:avLst/>
          </a:prstGeom>
          <a:noFill/>
          <a:ln/>
        </p:spPr>
        <p:txBody>
          <a:bodyPr wrap="square" lIns="0" tIns="0" rIns="0" bIns="0" rtlCol="0" anchor="t"/>
          <a:lstStyle/>
          <a:p>
            <a:pPr rtl="1" algn="r" indent="0" marL="0">
              <a:spcAft>
                <a:spcPts val="400"/>
              </a:spcAft>
              <a:buNone/>
            </a:pPr>
            <a:r>
              <a:rPr lang="en-US" sz="1500" dirty="0">
                <a:solidFill>
                  <a:schemeClr val="tx1"/>
                </a:solidFill>
              </a:rPr>
              <a:t>رغوة لطيفة</a:t>
            </a:r>
            <a:endParaRPr lang="en-US" sz="1500" dirty="0"/>
          </a:p>
          <a:p>
            <a:pPr rtl="1" algn="r" indent="0" marL="0">
              <a:spcAft>
                <a:spcPts val="400"/>
              </a:spcAft>
              <a:buNone/>
            </a:pPr>
            <a:r>
              <a:rPr lang="en-US" sz="1500" dirty="0">
                <a:solidFill>
                  <a:schemeClr val="tx1"/>
                </a:solidFill>
              </a:rPr>
              <a:t>Lactic acid 0.5%</a:t>
            </a:r>
            <a:endParaRPr lang="en-US" sz="1500" dirty="0"/>
          </a:p>
          <a:p>
            <a:pPr rtl="1" algn="r" indent="0" marL="0">
              <a:spcAft>
                <a:spcPts val="400"/>
              </a:spcAft>
              <a:buNone/>
            </a:pPr>
            <a:r>
              <a:rPr lang="en-US" sz="1500" dirty="0">
                <a:solidFill>
                  <a:schemeClr val="tx1"/>
                </a:solidFill>
              </a:rPr>
              <a:t>Glycolic acid 0.5%</a:t>
            </a:r>
            <a:endParaRPr lang="en-US" sz="1500" dirty="0"/>
          </a:p>
          <a:p>
            <a:pPr rtl="1" algn="r" indent="0" marL="0">
              <a:spcAft>
                <a:spcPts val="400"/>
              </a:spcAft>
              <a:buNone/>
            </a:pPr>
            <a:r>
              <a:rPr lang="en-US" sz="1500" dirty="0">
                <a:solidFill>
                  <a:schemeClr val="tx1"/>
                </a:solidFill>
              </a:rPr>
              <a:t>pH 3.5–4.5</a:t>
            </a:r>
            <a:endParaRPr lang="en-US" sz="1500" dirty="0"/>
          </a:p>
        </p:txBody>
      </p:sp>
      <p:sp>
        <p:nvSpPr>
          <p:cNvPr id="24" name="Shape 21"/>
          <p:cNvSpPr/>
          <p:nvPr/>
        </p:nvSpPr>
        <p:spPr>
          <a:xfrm>
            <a:off x="548640" y="4663440"/>
            <a:ext cx="11064240" cy="1371600"/>
          </a:xfrm>
          <a:prstGeom prst="roundRect">
            <a:avLst>
              <a:gd name="adj" fmla="val 8000"/>
            </a:avLst>
          </a:prstGeom>
          <a:solidFill>
            <a:schemeClr val="accent1">
              <a:alpha val="6000"/>
            </a:schemeClr>
          </a:solidFill>
          <a:ln w="9525">
            <a:solidFill>
              <a:schemeClr val="accent1">
                <a:alpha val="25000"/>
              </a:schemeClr>
            </a:solidFill>
            <a:prstDash val="solid"/>
          </a:ln>
        </p:spPr>
      </p:sp>
      <p:sp>
        <p:nvSpPr>
          <p:cNvPr id="25" name="Text 22"/>
          <p:cNvSpPr txBox="1"/>
          <p:nvPr/>
        </p:nvSpPr>
        <p:spPr>
          <a:xfrm>
            <a:off x="731520" y="4709160"/>
            <a:ext cx="10698480" cy="1280160"/>
          </a:xfrm>
          <a:prstGeom prst="rect">
            <a:avLst/>
          </a:prstGeom>
          <a:noFill/>
          <a:ln/>
        </p:spPr>
        <p:txBody>
          <a:bodyPr wrap="square" lIns="0" tIns="0" rIns="0" bIns="0" rtlCol="0" anchor="ctr"/>
          <a:lstStyle/>
          <a:p>
            <a:pPr algn="r" indent="0" marL="0">
              <a:buNone/>
            </a:pPr>
            <a:r>
              <a:rPr lang="en-US" sz="1500" b="1" dirty="0">
                <a:solidFill>
                  <a:schemeClr val="accent1"/>
                </a:solidFill>
              </a:rPr>
              <a:t>الدليل العلمي: </a:t>
            </a:r>
            <a:pPr algn="r" indent="0" marL="0">
              <a:buNone/>
            </a:pPr>
            <a:r>
              <a:rPr lang="en-US" sz="1500" dirty="0">
                <a:solidFill>
                  <a:schemeClr val="tx1"/>
                </a:solidFill>
              </a:rPr>
              <a:t>زيت شجرة الشاي له نشاط واسع ضد البكتيريا والفطريات بما فيها الكانديدا (Carson, 2006)، والبانثينول بيرمّم حاجز الجلد ويرطّبه (Proksch, 2017).</a:t>
            </a:r>
            <a:endParaRPr lang="en-US" sz="1500" dirty="0"/>
          </a:p>
        </p:txBody>
      </p:sp>
      <p:sp>
        <p:nvSpPr>
          <p:cNvPr id="25" name="Slide Number Placeholder 0"/>
          <p:cNvSpPr>
            <a:spLocks noGrp="1"/>
          </p:cNvSpPr>
          <p:nvPr>
            <p:ph type="sldNum" sz="quarter" idx="4294967295"/>
          </p:nvPr>
        </p:nvSpPr>
        <p:spPr>
          <a:xfrm>
            <a:off x="5806440" y="630936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ct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2" type="title" hasCustomPrompt="1"/>
          </p:nvPr>
        </p:nvSpPr>
        <p:spPr>
          <a:xfrm>
            <a:off x="548640" y="320040"/>
            <a:ext cx="11064240" cy="777240"/>
          </a:xfrm>
          <a:prstGeom prst="rect">
            <a:avLst/>
          </a:prstGeom>
          <a:noFill/>
          <a:ln/>
        </p:spPr>
        <p:txBody>
          <a:bodyPr wrap="square" rtlCol="0" anchor="ctr"/>
          <a:lstStyle/>
          <a:p>
            <a:pPr rtl="1" algn="r" indent="0" marL="0">
              <a:buNone/>
            </a:pPr>
            <a:r>
              <a:rPr lang="en-US" sz="3200" b="1" dirty="0">
                <a:solidFill>
                  <a:schemeClr val="tx2"/>
                </a:solidFill>
              </a:rPr>
              <a:t>Femina — الاستخدام وإزاي يتعرض</a:t>
            </a:r>
            <a:endParaRPr lang="en-US" sz="3200" dirty="0"/>
          </a:p>
        </p:txBody>
      </p:sp>
      <p:sp>
        <p:nvSpPr>
          <p:cNvPr id="4" name="Shape 1"/>
          <p:cNvSpPr/>
          <p:nvPr/>
        </p:nvSpPr>
        <p:spPr>
          <a:xfrm>
            <a:off x="548640" y="1325880"/>
            <a:ext cx="11064240" cy="1188720"/>
          </a:xfrm>
          <a:prstGeom prst="roundRect">
            <a:avLst>
              <a:gd name="adj" fmla="val 11538"/>
            </a:avLst>
          </a:prstGeom>
          <a:solidFill>
            <a:schemeClr val="accent1"/>
          </a:solidFill>
          <a:ln w="12700">
            <a:solidFill>
              <a:schemeClr val="accent1"/>
            </a:solidFill>
            <a:prstDash val="solid"/>
          </a:ln>
        </p:spPr>
      </p:sp>
      <p:sp>
        <p:nvSpPr>
          <p:cNvPr id="5" name="Text 2"/>
          <p:cNvSpPr txBox="1"/>
          <p:nvPr/>
        </p:nvSpPr>
        <p:spPr>
          <a:xfrm>
            <a:off x="822960" y="1325880"/>
            <a:ext cx="10515600" cy="1188720"/>
          </a:xfrm>
          <a:prstGeom prst="rect">
            <a:avLst/>
          </a:prstGeom>
          <a:noFill/>
          <a:ln/>
        </p:spPr>
        <p:txBody>
          <a:bodyPr wrap="square" lIns="0" tIns="0" rIns="0" bIns="0" rtlCol="0" anchor="ctr"/>
          <a:lstStyle/>
          <a:p>
            <a:pPr algn="r" indent="0" marL="0">
              <a:spcAft>
                <a:spcPts val="400"/>
              </a:spcAft>
              <a:buNone/>
            </a:pPr>
            <a:r>
              <a:rPr lang="en-US" sz="1200" b="1" dirty="0">
                <a:solidFill>
                  <a:schemeClr val="bg1"/>
                </a:solidFill>
              </a:rPr>
              <a:t>Key Selling Point</a:t>
            </a:r>
            <a:endParaRPr lang="en-US" sz="1200" dirty="0"/>
          </a:p>
          <a:p>
            <a:pPr rtl="1" algn="r" indent="0" marL="0">
              <a:spcAft>
                <a:spcPts val="400"/>
              </a:spcAft>
              <a:buNone/>
            </a:pPr>
            <a:r>
              <a:rPr lang="en-US" sz="1800" b="1" dirty="0">
                <a:solidFill>
                  <a:schemeClr val="bg1"/>
                </a:solidFill>
              </a:rPr>
              <a:t>غسول فوم للمنطقة الحساسة متوازن مع الحموضة الطبيعية (pH 3.5–4.5)، خالي من الكحول والبارابين</a:t>
            </a:r>
            <a:endParaRPr lang="en-US" sz="1200" dirty="0"/>
          </a:p>
        </p:txBody>
      </p:sp>
      <p:sp>
        <p:nvSpPr>
          <p:cNvPr id="6" name="Shape 3"/>
          <p:cNvSpPr/>
          <p:nvPr/>
        </p:nvSpPr>
        <p:spPr>
          <a:xfrm>
            <a:off x="7863840" y="2743200"/>
            <a:ext cx="3749040" cy="3291840"/>
          </a:xfrm>
          <a:prstGeom prst="roundRect">
            <a:avLst>
              <a:gd name="adj" fmla="val 3333"/>
            </a:avLst>
          </a:prstGeom>
          <a:solidFill>
            <a:schemeClr val="accent1">
              <a:alpha val="8000"/>
            </a:schemeClr>
          </a:solidFill>
          <a:ln w="9525">
            <a:solidFill>
              <a:schemeClr val="accent1">
                <a:alpha val="25000"/>
              </a:schemeClr>
            </a:solidFill>
            <a:prstDash val="solid"/>
          </a:ln>
        </p:spPr>
      </p:sp>
      <p:sp>
        <p:nvSpPr>
          <p:cNvPr id="7" name="Shape 4"/>
          <p:cNvSpPr/>
          <p:nvPr/>
        </p:nvSpPr>
        <p:spPr>
          <a:xfrm>
            <a:off x="10991088" y="2907792"/>
            <a:ext cx="457200" cy="457200"/>
          </a:xfrm>
          <a:prstGeom prst="ellipse">
            <a:avLst/>
          </a:prstGeom>
          <a:solidFill>
            <a:schemeClr val="accent1"/>
          </a:solidFill>
          <a:ln w="12700">
            <a:solidFill>
              <a:schemeClr val="accent1"/>
            </a:solidFill>
            <a:prstDash val="solid"/>
          </a:ln>
        </p:spPr>
      </p:sp>
      <p:sp>
        <p:nvSpPr>
          <p:cNvPr id="8" name="Text 5"/>
          <p:cNvSpPr txBox="1"/>
          <p:nvPr/>
        </p:nvSpPr>
        <p:spPr>
          <a:xfrm>
            <a:off x="10991088" y="2907792"/>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9" name="Text 6"/>
          <p:cNvSpPr txBox="1"/>
          <p:nvPr/>
        </p:nvSpPr>
        <p:spPr>
          <a:xfrm>
            <a:off x="8001000" y="2852928"/>
            <a:ext cx="2880360" cy="548640"/>
          </a:xfrm>
          <a:prstGeom prst="rect">
            <a:avLst/>
          </a:prstGeom>
          <a:noFill/>
          <a:ln/>
        </p:spPr>
        <p:txBody>
          <a:bodyPr wrap="square" lIns="0" tIns="0" rIns="0" bIns="0" rtlCol="0" anchor="ctr"/>
          <a:lstStyle/>
          <a:p>
            <a:pPr rtl="1" algn="r" indent="0" marL="0">
              <a:buNone/>
            </a:pPr>
            <a:r>
              <a:rPr lang="en-US" sz="1600" b="1" dirty="0">
                <a:solidFill>
                  <a:schemeClr val="accent1"/>
                </a:solidFill>
              </a:rPr>
              <a:t>مناسب لـ</a:t>
            </a:r>
            <a:endParaRPr lang="en-US" sz="1600" dirty="0"/>
          </a:p>
        </p:txBody>
      </p:sp>
      <p:sp>
        <p:nvSpPr>
          <p:cNvPr id="10" name="Text 7"/>
          <p:cNvSpPr txBox="1"/>
          <p:nvPr/>
        </p:nvSpPr>
        <p:spPr>
          <a:xfrm>
            <a:off x="8046720" y="3456432"/>
            <a:ext cx="3383280" cy="2487168"/>
          </a:xfrm>
          <a:prstGeom prst="rect">
            <a:avLst/>
          </a:prstGeom>
          <a:noFill/>
          <a:ln/>
        </p:spPr>
        <p:txBody>
          <a:bodyPr wrap="square" lIns="0" tIns="0" rIns="0" bIns="0" rtlCol="0" anchor="t"/>
          <a:lstStyle/>
          <a:p>
            <a:pPr rtl="1" algn="r" marL="342900" indent="-342900">
              <a:spcAft>
                <a:spcPts val="600"/>
              </a:spcAft>
              <a:buSzPct val="100000"/>
              <a:buChar char="•"/>
            </a:pPr>
            <a:r>
              <a:rPr lang="en-US" sz="1800" dirty="0">
                <a:solidFill>
                  <a:schemeClr val="tx1"/>
                </a:solidFill>
              </a:rPr>
              <a:t>النظافة اليومية والدورة</a:t>
            </a:r>
            <a:endParaRPr lang="en-US" sz="1400" dirty="0"/>
          </a:p>
          <a:p>
            <a:pPr rtl="1" algn="r" marL="342900" indent="-342900">
              <a:spcAft>
                <a:spcPts val="600"/>
              </a:spcAft>
              <a:buSzPct val="100000"/>
              <a:buChar char="•"/>
            </a:pPr>
            <a:r>
              <a:rPr lang="en-US" sz="1800" dirty="0">
                <a:solidFill>
                  <a:schemeClr val="tx1"/>
                </a:solidFill>
              </a:rPr>
              <a:t>الحمل وبعد الولادة</a:t>
            </a:r>
            <a:endParaRPr lang="en-US" sz="1400" dirty="0"/>
          </a:p>
          <a:p>
            <a:pPr rtl="1" algn="r" marL="342900" indent="-342900">
              <a:spcAft>
                <a:spcPts val="600"/>
              </a:spcAft>
              <a:buSzPct val="100000"/>
              <a:buChar char="•"/>
            </a:pPr>
            <a:r>
              <a:rPr lang="en-US" sz="1800" dirty="0">
                <a:solidFill>
                  <a:schemeClr val="tx1"/>
                </a:solidFill>
              </a:rPr>
              <a:t>الجفاف في سن انقطاع الطمث</a:t>
            </a:r>
            <a:endParaRPr lang="en-US" sz="1400" dirty="0"/>
          </a:p>
          <a:p>
            <a:pPr rtl="1" algn="r" marL="342900" indent="-342900">
              <a:spcAft>
                <a:spcPts val="600"/>
              </a:spcAft>
              <a:buSzPct val="100000"/>
              <a:buChar char="•"/>
            </a:pPr>
            <a:r>
              <a:rPr lang="en-US" sz="1800" dirty="0">
                <a:solidFill>
                  <a:schemeClr val="tx1"/>
                </a:solidFill>
              </a:rPr>
              <a:t>الإفرازات والرائحة المزعجة</a:t>
            </a:r>
            <a:endParaRPr lang="en-US" sz="1400" dirty="0"/>
          </a:p>
        </p:txBody>
      </p:sp>
      <p:sp>
        <p:nvSpPr>
          <p:cNvPr id="11" name="Shape 8"/>
          <p:cNvSpPr/>
          <p:nvPr/>
        </p:nvSpPr>
        <p:spPr>
          <a:xfrm>
            <a:off x="4023360" y="2743200"/>
            <a:ext cx="3657600" cy="3291840"/>
          </a:xfrm>
          <a:prstGeom prst="roundRect">
            <a:avLst>
              <a:gd name="adj" fmla="val 3333"/>
            </a:avLst>
          </a:prstGeom>
          <a:solidFill>
            <a:schemeClr val="accent1">
              <a:alpha val="8000"/>
            </a:schemeClr>
          </a:solidFill>
          <a:ln w="9525">
            <a:solidFill>
              <a:schemeClr val="accent1">
                <a:alpha val="25000"/>
              </a:schemeClr>
            </a:solidFill>
            <a:prstDash val="solid"/>
          </a:ln>
        </p:spPr>
      </p:sp>
      <p:sp>
        <p:nvSpPr>
          <p:cNvPr id="12" name="Shape 9"/>
          <p:cNvSpPr/>
          <p:nvPr/>
        </p:nvSpPr>
        <p:spPr>
          <a:xfrm>
            <a:off x="7059168" y="2907792"/>
            <a:ext cx="457200" cy="457200"/>
          </a:xfrm>
          <a:prstGeom prst="ellipse">
            <a:avLst/>
          </a:prstGeom>
          <a:solidFill>
            <a:schemeClr val="accent1"/>
          </a:solidFill>
          <a:ln w="12700">
            <a:solidFill>
              <a:schemeClr val="accent1"/>
            </a:solidFill>
            <a:prstDash val="solid"/>
          </a:ln>
        </p:spPr>
      </p:sp>
      <p:sp>
        <p:nvSpPr>
          <p:cNvPr id="13" name="Text 10"/>
          <p:cNvSpPr txBox="1"/>
          <p:nvPr/>
        </p:nvSpPr>
        <p:spPr>
          <a:xfrm>
            <a:off x="7059168" y="2907792"/>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4" name="Text 11"/>
          <p:cNvSpPr txBox="1"/>
          <p:nvPr/>
        </p:nvSpPr>
        <p:spPr>
          <a:xfrm>
            <a:off x="4160520" y="2852928"/>
            <a:ext cx="2788920" cy="548640"/>
          </a:xfrm>
          <a:prstGeom prst="rect">
            <a:avLst/>
          </a:prstGeom>
          <a:noFill/>
          <a:ln/>
        </p:spPr>
        <p:txBody>
          <a:bodyPr wrap="square" lIns="0" tIns="0" rIns="0" bIns="0" rtlCol="0" anchor="ctr"/>
          <a:lstStyle/>
          <a:p>
            <a:pPr rtl="1" algn="r" indent="0" marL="0">
              <a:buNone/>
            </a:pPr>
            <a:r>
              <a:rPr lang="en-US" sz="1600" b="1" dirty="0">
                <a:solidFill>
                  <a:schemeClr val="accent1"/>
                </a:solidFill>
              </a:rPr>
              <a:t>طريقة الاستخدام</a:t>
            </a:r>
            <a:endParaRPr lang="en-US" sz="1600" dirty="0"/>
          </a:p>
        </p:txBody>
      </p:sp>
      <p:sp>
        <p:nvSpPr>
          <p:cNvPr id="15" name="Text 12"/>
          <p:cNvSpPr txBox="1"/>
          <p:nvPr/>
        </p:nvSpPr>
        <p:spPr>
          <a:xfrm>
            <a:off x="4206240" y="3456432"/>
            <a:ext cx="3291840" cy="2487168"/>
          </a:xfrm>
          <a:prstGeom prst="rect">
            <a:avLst/>
          </a:prstGeom>
          <a:noFill/>
          <a:ln/>
        </p:spPr>
        <p:txBody>
          <a:bodyPr wrap="square" lIns="0" tIns="0" rIns="0" bIns="0" rtlCol="0" anchor="t"/>
          <a:lstStyle/>
          <a:p>
            <a:pPr rtl="1" algn="r" marL="342900" indent="-342900">
              <a:spcAft>
                <a:spcPts val="600"/>
              </a:spcAft>
              <a:buSzPct val="100000"/>
              <a:buChar char="•"/>
            </a:pPr>
            <a:r>
              <a:rPr lang="en-US" sz="1800" dirty="0">
                <a:solidFill>
                  <a:schemeClr val="tx1"/>
                </a:solidFill>
              </a:rPr>
              <a:t>مرتين يومياً</a:t>
            </a:r>
            <a:endParaRPr lang="en-US" sz="1400" dirty="0"/>
          </a:p>
          <a:p>
            <a:pPr rtl="1" algn="r" marL="342900" indent="-342900">
              <a:spcAft>
                <a:spcPts val="600"/>
              </a:spcAft>
              <a:buSzPct val="100000"/>
              <a:buChar char="•"/>
            </a:pPr>
            <a:r>
              <a:rPr lang="en-US" sz="1800" dirty="0">
                <a:solidFill>
                  <a:schemeClr val="tx1"/>
                </a:solidFill>
              </a:rPr>
              <a:t>مخفّف بالماء أو مباشرة حسب الحالة</a:t>
            </a:r>
            <a:endParaRPr lang="en-US" sz="1400" dirty="0"/>
          </a:p>
          <a:p>
            <a:pPr rtl="1" algn="r" marL="342900" indent="-342900">
              <a:spcAft>
                <a:spcPts val="600"/>
              </a:spcAft>
              <a:buSzPct val="100000"/>
              <a:buChar char="•"/>
            </a:pPr>
            <a:r>
              <a:rPr lang="en-US" sz="1800" dirty="0">
                <a:solidFill>
                  <a:schemeClr val="tx1"/>
                </a:solidFill>
              </a:rPr>
              <a:t>للمنطقة الخارجية، ثم شطف</a:t>
            </a:r>
            <a:endParaRPr lang="en-US" sz="1400" dirty="0"/>
          </a:p>
        </p:txBody>
      </p:sp>
      <p:sp>
        <p:nvSpPr>
          <p:cNvPr id="16" name="Shape 13"/>
          <p:cNvSpPr/>
          <p:nvPr/>
        </p:nvSpPr>
        <p:spPr>
          <a:xfrm>
            <a:off x="548640" y="2743200"/>
            <a:ext cx="3291840" cy="3291840"/>
          </a:xfrm>
          <a:prstGeom prst="roundRect">
            <a:avLst>
              <a:gd name="adj" fmla="val 3333"/>
            </a:avLst>
          </a:prstGeom>
          <a:solidFill>
            <a:schemeClr val="accent1">
              <a:alpha val="8000"/>
            </a:schemeClr>
          </a:solidFill>
          <a:ln w="9525">
            <a:solidFill>
              <a:schemeClr val="accent1">
                <a:alpha val="25000"/>
              </a:schemeClr>
            </a:solidFill>
            <a:prstDash val="solid"/>
          </a:ln>
        </p:spPr>
      </p:sp>
      <p:sp>
        <p:nvSpPr>
          <p:cNvPr id="17" name="Shape 14"/>
          <p:cNvSpPr/>
          <p:nvPr/>
        </p:nvSpPr>
        <p:spPr>
          <a:xfrm>
            <a:off x="3218688" y="2907792"/>
            <a:ext cx="457200" cy="457200"/>
          </a:xfrm>
          <a:prstGeom prst="ellipse">
            <a:avLst/>
          </a:prstGeom>
          <a:solidFill>
            <a:schemeClr val="accent1"/>
          </a:solidFill>
          <a:ln w="12700">
            <a:solidFill>
              <a:schemeClr val="accent1"/>
            </a:solidFill>
            <a:prstDash val="solid"/>
          </a:ln>
        </p:spPr>
      </p:sp>
      <p:sp>
        <p:nvSpPr>
          <p:cNvPr id="18" name="Text 15"/>
          <p:cNvSpPr txBox="1"/>
          <p:nvPr/>
        </p:nvSpPr>
        <p:spPr>
          <a:xfrm>
            <a:off x="3218688" y="2907792"/>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9" name="Text 16"/>
          <p:cNvSpPr txBox="1"/>
          <p:nvPr/>
        </p:nvSpPr>
        <p:spPr>
          <a:xfrm>
            <a:off x="685800" y="2852928"/>
            <a:ext cx="2423160" cy="548640"/>
          </a:xfrm>
          <a:prstGeom prst="rect">
            <a:avLst/>
          </a:prstGeom>
          <a:noFill/>
          <a:ln/>
        </p:spPr>
        <p:txBody>
          <a:bodyPr wrap="square" lIns="0" tIns="0" rIns="0" bIns="0" rtlCol="0" anchor="ctr"/>
          <a:lstStyle/>
          <a:p>
            <a:pPr rtl="1" algn="r" indent="0" marL="0">
              <a:buNone/>
            </a:pPr>
            <a:r>
              <a:rPr lang="en-US" sz="1600" b="1" dirty="0">
                <a:solidFill>
                  <a:schemeClr val="accent1"/>
                </a:solidFill>
              </a:rPr>
              <a:t>نقاط القوة</a:t>
            </a:r>
            <a:endParaRPr lang="en-US" sz="1600" dirty="0"/>
          </a:p>
        </p:txBody>
      </p:sp>
      <p:sp>
        <p:nvSpPr>
          <p:cNvPr id="20" name="Text 17"/>
          <p:cNvSpPr txBox="1"/>
          <p:nvPr/>
        </p:nvSpPr>
        <p:spPr>
          <a:xfrm>
            <a:off x="731520" y="3456432"/>
            <a:ext cx="2926080" cy="2487168"/>
          </a:xfrm>
          <a:prstGeom prst="rect">
            <a:avLst/>
          </a:prstGeom>
          <a:noFill/>
          <a:ln/>
        </p:spPr>
        <p:txBody>
          <a:bodyPr wrap="square" lIns="0" tIns="0" rIns="0" bIns="0" rtlCol="0" anchor="t"/>
          <a:lstStyle/>
          <a:p>
            <a:pPr rtl="1" algn="r" marL="342900" indent="-342900">
              <a:spcAft>
                <a:spcPts val="600"/>
              </a:spcAft>
              <a:buSzPct val="100000"/>
              <a:buChar char="•"/>
            </a:pPr>
            <a:r>
              <a:rPr lang="en-US" sz="1800" dirty="0">
                <a:solidFill>
                  <a:schemeClr val="tx1"/>
                </a:solidFill>
              </a:rPr>
              <a:t>رائحة لطيفة ومنعشة</a:t>
            </a:r>
            <a:endParaRPr lang="en-US" sz="1400" dirty="0"/>
          </a:p>
          <a:p>
            <a:pPr rtl="1" algn="r" marL="342900" indent="-342900">
              <a:spcAft>
                <a:spcPts val="600"/>
              </a:spcAft>
              <a:buSzPct val="100000"/>
              <a:buChar char="•"/>
            </a:pPr>
            <a:r>
              <a:rPr lang="en-US" sz="1800" dirty="0">
                <a:solidFill>
                  <a:schemeClr val="tx1"/>
                </a:solidFill>
              </a:rPr>
              <a:t>مش بيلوّن زي اليود</a:t>
            </a:r>
            <a:endParaRPr lang="en-US" sz="1400" dirty="0"/>
          </a:p>
          <a:p>
            <a:pPr rtl="1" algn="r" marL="342900" indent="-342900">
              <a:spcAft>
                <a:spcPts val="600"/>
              </a:spcAft>
              <a:buSzPct val="100000"/>
              <a:buChar char="•"/>
            </a:pPr>
            <a:r>
              <a:rPr lang="en-US" sz="1800" dirty="0">
                <a:solidFill>
                  <a:schemeClr val="tx1"/>
                </a:solidFill>
              </a:rPr>
              <a:t>حجم كبير 200 مل</a:t>
            </a:r>
            <a:endParaRPr lang="en-US" sz="1400" dirty="0"/>
          </a:p>
          <a:p>
            <a:pPr rtl="1" algn="r" marL="342900" indent="-342900">
              <a:spcAft>
                <a:spcPts val="600"/>
              </a:spcAft>
              <a:buSzPct val="100000"/>
              <a:buChar char="•"/>
            </a:pPr>
            <a:r>
              <a:rPr lang="en-US" sz="1800" dirty="0">
                <a:solidFill>
                  <a:schemeClr val="tx1"/>
                </a:solidFill>
              </a:rPr>
              <a:t>بيكمّل Fem-Arosa</a:t>
            </a:r>
            <a:endParaRPr lang="en-US" sz="1400" dirty="0"/>
          </a:p>
        </p:txBody>
      </p:sp>
      <p:sp>
        <p:nvSpPr>
          <p:cNvPr id="25" name="Slide Number Placeholder 0"/>
          <p:cNvSpPr>
            <a:spLocks noGrp="1"/>
          </p:cNvSpPr>
          <p:nvPr>
            <p:ph type="sldNum" sz="quarter" idx="4294967295"/>
          </p:nvPr>
        </p:nvSpPr>
        <p:spPr>
          <a:xfrm>
            <a:off x="5806440" y="630936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ct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chemeClr val="accent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120640" y="2194560"/>
            <a:ext cx="6492240" cy="1097280"/>
          </a:xfrm>
          <a:prstGeom prst="rect">
            <a:avLst/>
          </a:prstGeom>
          <a:noFill/>
          <a:ln/>
        </p:spPr>
        <p:txBody>
          <a:bodyPr wrap="square" rtlCol="0" anchor="b"/>
          <a:lstStyle/>
          <a:p>
            <a:pPr rtl="1" algn="r" indent="0" marL="0">
              <a:buNone/>
            </a:pPr>
            <a:r>
              <a:rPr lang="en-US" sz="4400" b="1" dirty="0">
                <a:solidFill>
                  <a:schemeClr val="bg1"/>
                </a:solidFill>
              </a:rPr>
              <a:t>الجلدية والشعر</a:t>
            </a:r>
            <a:endParaRPr lang="en-US" sz="4400" dirty="0"/>
          </a:p>
        </p:txBody>
      </p:sp>
      <p:sp>
        <p:nvSpPr>
          <p:cNvPr id="3" name="Text 1"/>
          <p:cNvSpPr txBox="1"/>
          <p:nvPr/>
        </p:nvSpPr>
        <p:spPr>
          <a:xfrm>
            <a:off x="5120640" y="3383280"/>
            <a:ext cx="6492240" cy="914400"/>
          </a:xfrm>
          <a:prstGeom prst="rect">
            <a:avLst/>
          </a:prstGeom>
          <a:noFill/>
          <a:ln/>
        </p:spPr>
        <p:txBody>
          <a:bodyPr wrap="square" rtlCol="0" anchor="t"/>
          <a:lstStyle/>
          <a:p>
            <a:pPr rtl="1" algn="r" indent="0" marL="0">
              <a:buNone/>
            </a:pPr>
            <a:r>
              <a:rPr lang="en-US" sz="2000" dirty="0">
                <a:solidFill>
                  <a:schemeClr val="bg1"/>
                </a:solidFill>
              </a:rPr>
              <a:t>Octo و E-Panthen — فروة الراس والبشرة الجافة في نفس الزيارة</a:t>
            </a:r>
            <a:endParaRPr lang="en-US" sz="2000" dirty="0"/>
          </a:p>
        </p:txBody>
      </p:sp>
      <p:sp>
        <p:nvSpPr>
          <p:cNvPr id="4" name="Shape 2"/>
          <p:cNvSpPr/>
          <p:nvPr/>
        </p:nvSpPr>
        <p:spPr>
          <a:xfrm>
            <a:off x="548640" y="822960"/>
            <a:ext cx="4206240" cy="5212080"/>
          </a:xfrm>
          <a:prstGeom prst="roundRect">
            <a:avLst>
              <a:gd name="adj" fmla="val 5435"/>
            </a:avLst>
          </a:prstGeom>
          <a:solidFill>
            <a:schemeClr val="bg1"/>
          </a:solidFill>
          <a:ln w="12700">
            <a:solidFill>
              <a:schemeClr val="bg1"/>
            </a:solidFill>
            <a:prstDash val="solid"/>
          </a:ln>
        </p:spPr>
      </p:sp>
      <p:pic>
        <p:nvPicPr>
          <p:cNvPr id="5" name="octo image" descr="preencoded.png">    </p:cNvPr>
          <p:cNvPicPr>
            <a:picLocks noChangeAspect="1"/>
          </p:cNvPicPr>
          <p:nvPr/>
        </p:nvPicPr>
        <p:blipFill>
          <a:blip r:embed="rId1"/>
          <a:stretch>
            <a:fillRect/>
          </a:stretch>
        </p:blipFill>
        <p:spPr>
          <a:xfrm>
            <a:off x="731520" y="2174240"/>
            <a:ext cx="1828800" cy="2509520"/>
          </a:xfrm>
          <a:prstGeom prst="rect">
            <a:avLst/>
          </a:prstGeom>
        </p:spPr>
      </p:pic>
      <p:pic>
        <p:nvPicPr>
          <p:cNvPr id="6" name="epanthen image" descr="preencoded.png">    </p:cNvPr>
          <p:cNvPicPr>
            <a:picLocks noChangeAspect="1"/>
          </p:cNvPicPr>
          <p:nvPr/>
        </p:nvPicPr>
        <p:blipFill>
          <a:blip r:embed="rId2"/>
          <a:stretch>
            <a:fillRect/>
          </a:stretch>
        </p:blipFill>
        <p:spPr>
          <a:xfrm>
            <a:off x="2651760" y="2524760"/>
            <a:ext cx="1828800" cy="180848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2" type="title" hasCustomPrompt="1"/>
          </p:nvPr>
        </p:nvSpPr>
        <p:spPr>
          <a:xfrm>
            <a:off x="548640" y="320040"/>
            <a:ext cx="11064240" cy="777240"/>
          </a:xfrm>
          <a:prstGeom prst="rect">
            <a:avLst/>
          </a:prstGeom>
          <a:noFill/>
          <a:ln/>
        </p:spPr>
        <p:txBody>
          <a:bodyPr wrap="square" rtlCol="0" anchor="ctr"/>
          <a:lstStyle/>
          <a:p>
            <a:pPr rtl="1" algn="r" indent="0" marL="0">
              <a:buNone/>
            </a:pPr>
            <a:r>
              <a:rPr lang="en-US" sz="3200" b="1" dirty="0">
                <a:solidFill>
                  <a:schemeClr val="tx2"/>
                </a:solidFill>
              </a:rPr>
              <a:t>Octo — بطاقة المنتج</a:t>
            </a:r>
            <a:endParaRPr lang="en-US" sz="3200" dirty="0"/>
          </a:p>
        </p:txBody>
      </p:sp>
      <p:pic>
        <p:nvPicPr>
          <p:cNvPr id="4" name="octo image" descr="preencoded.png">    </p:cNvPr>
          <p:cNvPicPr>
            <a:picLocks noChangeAspect="1"/>
          </p:cNvPicPr>
          <p:nvPr/>
        </p:nvPicPr>
        <p:blipFill>
          <a:blip r:embed="rId1"/>
          <a:stretch>
            <a:fillRect/>
          </a:stretch>
        </p:blipFill>
        <p:spPr>
          <a:xfrm>
            <a:off x="644893" y="1280160"/>
            <a:ext cx="3465095" cy="4754880"/>
          </a:xfrm>
          <a:prstGeom prst="rect">
            <a:avLst/>
          </a:prstGeom>
        </p:spPr>
      </p:pic>
      <p:sp>
        <p:nvSpPr>
          <p:cNvPr id="5" name="Shape 1"/>
          <p:cNvSpPr/>
          <p:nvPr/>
        </p:nvSpPr>
        <p:spPr>
          <a:xfrm>
            <a:off x="4572000" y="1325880"/>
            <a:ext cx="7040880" cy="457200"/>
          </a:xfrm>
          <a:prstGeom prst="rect">
            <a:avLst/>
          </a:prstGeom>
          <a:solidFill>
            <a:schemeClr val="accent2">
              <a:alpha val="7000"/>
            </a:schemeClr>
          </a:solidFill>
          <a:ln w="12700">
            <a:solidFill>
              <a:schemeClr val="accent2">
                <a:alpha val="0"/>
              </a:schemeClr>
            </a:solidFill>
            <a:prstDash val="solid"/>
          </a:ln>
        </p:spPr>
      </p:sp>
      <p:sp>
        <p:nvSpPr>
          <p:cNvPr id="6" name="Text 2"/>
          <p:cNvSpPr txBox="1"/>
          <p:nvPr/>
        </p:nvSpPr>
        <p:spPr>
          <a:xfrm>
            <a:off x="9235440" y="1325880"/>
            <a:ext cx="2286000" cy="457200"/>
          </a:xfrm>
          <a:prstGeom prst="rect">
            <a:avLst/>
          </a:prstGeom>
          <a:noFill/>
          <a:ln/>
        </p:spPr>
        <p:txBody>
          <a:bodyPr wrap="square" lIns="0" tIns="0" rIns="76200" bIns="0" rtlCol="0" anchor="ctr"/>
          <a:lstStyle/>
          <a:p>
            <a:pPr rtl="1" algn="r" indent="0" marL="0">
              <a:buNone/>
            </a:pPr>
            <a:r>
              <a:rPr lang="en-US" sz="1300" b="1" dirty="0">
                <a:solidFill>
                  <a:schemeClr val="accent2"/>
                </a:solidFill>
              </a:rPr>
              <a:t>الاسم التجاري</a:t>
            </a:r>
            <a:endParaRPr lang="en-US" sz="1300" dirty="0"/>
          </a:p>
        </p:txBody>
      </p:sp>
      <p:sp>
        <p:nvSpPr>
          <p:cNvPr id="7" name="Text 3"/>
          <p:cNvSpPr txBox="1"/>
          <p:nvPr/>
        </p:nvSpPr>
        <p:spPr>
          <a:xfrm>
            <a:off x="4663440" y="1325880"/>
            <a:ext cx="4480560" cy="457200"/>
          </a:xfrm>
          <a:prstGeom prst="rect">
            <a:avLst/>
          </a:prstGeom>
          <a:noFill/>
          <a:ln/>
        </p:spPr>
        <p:txBody>
          <a:bodyPr wrap="square" lIns="0" tIns="0" rIns="0" bIns="0" rtlCol="0" anchor="ctr"/>
          <a:lstStyle/>
          <a:p>
            <a:pPr rtl="1" algn="r" indent="0" marL="0">
              <a:buNone/>
            </a:pPr>
            <a:r>
              <a:rPr lang="en-US" sz="1300" dirty="0">
                <a:solidFill>
                  <a:schemeClr val="tx1"/>
                </a:solidFill>
              </a:rPr>
              <a:t>AVIANCE Octo Anti-Dandruff Shampoo</a:t>
            </a:r>
            <a:endParaRPr lang="en-US" sz="1300" dirty="0"/>
          </a:p>
        </p:txBody>
      </p:sp>
      <p:sp>
        <p:nvSpPr>
          <p:cNvPr id="8" name="Text 4"/>
          <p:cNvSpPr txBox="1"/>
          <p:nvPr/>
        </p:nvSpPr>
        <p:spPr>
          <a:xfrm>
            <a:off x="9235440" y="1783080"/>
            <a:ext cx="2286000" cy="457200"/>
          </a:xfrm>
          <a:prstGeom prst="rect">
            <a:avLst/>
          </a:prstGeom>
          <a:noFill/>
          <a:ln/>
        </p:spPr>
        <p:txBody>
          <a:bodyPr wrap="square" lIns="0" tIns="0" rIns="76200" bIns="0" rtlCol="0" anchor="ctr"/>
          <a:lstStyle/>
          <a:p>
            <a:pPr rtl="1" algn="r" indent="0" marL="0">
              <a:buNone/>
            </a:pPr>
            <a:r>
              <a:rPr lang="en-US" sz="1300" b="1" dirty="0">
                <a:solidFill>
                  <a:schemeClr val="accent2"/>
                </a:solidFill>
              </a:rPr>
              <a:t>التصنيف</a:t>
            </a:r>
            <a:endParaRPr lang="en-US" sz="1300" dirty="0"/>
          </a:p>
        </p:txBody>
      </p:sp>
      <p:sp>
        <p:nvSpPr>
          <p:cNvPr id="9" name="Text 5"/>
          <p:cNvSpPr txBox="1"/>
          <p:nvPr/>
        </p:nvSpPr>
        <p:spPr>
          <a:xfrm>
            <a:off x="4663440" y="1783080"/>
            <a:ext cx="4480560" cy="457200"/>
          </a:xfrm>
          <a:prstGeom prst="rect">
            <a:avLst/>
          </a:prstGeom>
          <a:noFill/>
          <a:ln/>
        </p:spPr>
        <p:txBody>
          <a:bodyPr wrap="square" lIns="0" tIns="0" rIns="0" bIns="0" rtlCol="0" anchor="ctr"/>
          <a:lstStyle/>
          <a:p>
            <a:pPr rtl="1" algn="r" indent="0" marL="0">
              <a:buNone/>
            </a:pPr>
            <a:r>
              <a:rPr lang="en-US" sz="1300" dirty="0">
                <a:solidFill>
                  <a:schemeClr val="tx1"/>
                </a:solidFill>
              </a:rPr>
              <a:t>مستحضر للشعر وفروة الرأس</a:t>
            </a:r>
            <a:endParaRPr lang="en-US" sz="1300" dirty="0"/>
          </a:p>
        </p:txBody>
      </p:sp>
      <p:sp>
        <p:nvSpPr>
          <p:cNvPr id="10" name="Shape 6"/>
          <p:cNvSpPr/>
          <p:nvPr/>
        </p:nvSpPr>
        <p:spPr>
          <a:xfrm>
            <a:off x="4572000" y="2240280"/>
            <a:ext cx="7040880" cy="457200"/>
          </a:xfrm>
          <a:prstGeom prst="rect">
            <a:avLst/>
          </a:prstGeom>
          <a:solidFill>
            <a:schemeClr val="accent2">
              <a:alpha val="7000"/>
            </a:schemeClr>
          </a:solidFill>
          <a:ln w="12700">
            <a:solidFill>
              <a:schemeClr val="accent2">
                <a:alpha val="0"/>
              </a:schemeClr>
            </a:solidFill>
            <a:prstDash val="solid"/>
          </a:ln>
        </p:spPr>
      </p:sp>
      <p:sp>
        <p:nvSpPr>
          <p:cNvPr id="11" name="Text 7"/>
          <p:cNvSpPr txBox="1"/>
          <p:nvPr/>
        </p:nvSpPr>
        <p:spPr>
          <a:xfrm>
            <a:off x="9235440" y="2240280"/>
            <a:ext cx="2286000" cy="457200"/>
          </a:xfrm>
          <a:prstGeom prst="rect">
            <a:avLst/>
          </a:prstGeom>
          <a:noFill/>
          <a:ln/>
        </p:spPr>
        <p:txBody>
          <a:bodyPr wrap="square" lIns="0" tIns="0" rIns="76200" bIns="0" rtlCol="0" anchor="ctr"/>
          <a:lstStyle/>
          <a:p>
            <a:pPr rtl="1" algn="r" indent="0" marL="0">
              <a:buNone/>
            </a:pPr>
            <a:r>
              <a:rPr lang="en-US" sz="1300" b="1" dirty="0">
                <a:solidFill>
                  <a:schemeClr val="accent2"/>
                </a:solidFill>
              </a:rPr>
              <a:t>الحجم</a:t>
            </a:r>
            <a:endParaRPr lang="en-US" sz="1300" dirty="0"/>
          </a:p>
        </p:txBody>
      </p:sp>
      <p:sp>
        <p:nvSpPr>
          <p:cNvPr id="12" name="Text 8"/>
          <p:cNvSpPr txBox="1"/>
          <p:nvPr/>
        </p:nvSpPr>
        <p:spPr>
          <a:xfrm>
            <a:off x="4663440" y="2240280"/>
            <a:ext cx="4480560" cy="457200"/>
          </a:xfrm>
          <a:prstGeom prst="rect">
            <a:avLst/>
          </a:prstGeom>
          <a:noFill/>
          <a:ln/>
        </p:spPr>
        <p:txBody>
          <a:bodyPr wrap="square" lIns="0" tIns="0" rIns="0" bIns="0" rtlCol="0" anchor="ctr"/>
          <a:lstStyle/>
          <a:p>
            <a:pPr rtl="1" algn="r" indent="0" marL="0">
              <a:buNone/>
            </a:pPr>
            <a:r>
              <a:rPr lang="en-US" sz="1300" dirty="0">
                <a:solidFill>
                  <a:schemeClr val="tx1"/>
                </a:solidFill>
              </a:rPr>
              <a:t>200 مل</a:t>
            </a:r>
            <a:endParaRPr lang="en-US" sz="1300" dirty="0"/>
          </a:p>
        </p:txBody>
      </p:sp>
      <p:sp>
        <p:nvSpPr>
          <p:cNvPr id="13" name="Text 9"/>
          <p:cNvSpPr txBox="1"/>
          <p:nvPr/>
        </p:nvSpPr>
        <p:spPr>
          <a:xfrm>
            <a:off x="9235440" y="2697480"/>
            <a:ext cx="2286000" cy="457200"/>
          </a:xfrm>
          <a:prstGeom prst="rect">
            <a:avLst/>
          </a:prstGeom>
          <a:noFill/>
          <a:ln/>
        </p:spPr>
        <p:txBody>
          <a:bodyPr wrap="square" lIns="0" tIns="0" rIns="76200" bIns="0" rtlCol="0" anchor="ctr"/>
          <a:lstStyle/>
          <a:p>
            <a:pPr rtl="1" algn="r" indent="0" marL="0">
              <a:buNone/>
            </a:pPr>
            <a:r>
              <a:rPr lang="en-US" sz="1300" b="1" dirty="0">
                <a:solidFill>
                  <a:schemeClr val="accent2"/>
                </a:solidFill>
              </a:rPr>
              <a:t>المواد الفعالة</a:t>
            </a:r>
            <a:endParaRPr lang="en-US" sz="1300" dirty="0"/>
          </a:p>
        </p:txBody>
      </p:sp>
      <p:sp>
        <p:nvSpPr>
          <p:cNvPr id="14" name="Text 10"/>
          <p:cNvSpPr txBox="1"/>
          <p:nvPr/>
        </p:nvSpPr>
        <p:spPr>
          <a:xfrm>
            <a:off x="4663440" y="2697480"/>
            <a:ext cx="4480560" cy="457200"/>
          </a:xfrm>
          <a:prstGeom prst="rect">
            <a:avLst/>
          </a:prstGeom>
          <a:noFill/>
          <a:ln/>
        </p:spPr>
        <p:txBody>
          <a:bodyPr wrap="square" lIns="0" tIns="0" rIns="0" bIns="0" rtlCol="0" anchor="ctr"/>
          <a:lstStyle/>
          <a:p>
            <a:pPr rtl="1" algn="r" indent="0" marL="0">
              <a:buNone/>
            </a:pPr>
            <a:r>
              <a:rPr lang="en-US" sz="1300" dirty="0">
                <a:solidFill>
                  <a:schemeClr val="tx1"/>
                </a:solidFill>
              </a:rPr>
              <a:t>Piroctone olamine · ZPT · Selenium sulfide · Salicylic acid</a:t>
            </a:r>
            <a:endParaRPr lang="en-US" sz="1300" dirty="0"/>
          </a:p>
        </p:txBody>
      </p:sp>
      <p:sp>
        <p:nvSpPr>
          <p:cNvPr id="15" name="Shape 11"/>
          <p:cNvSpPr/>
          <p:nvPr/>
        </p:nvSpPr>
        <p:spPr>
          <a:xfrm>
            <a:off x="4572000" y="3154680"/>
            <a:ext cx="7040880" cy="457200"/>
          </a:xfrm>
          <a:prstGeom prst="rect">
            <a:avLst/>
          </a:prstGeom>
          <a:solidFill>
            <a:schemeClr val="accent2">
              <a:alpha val="7000"/>
            </a:schemeClr>
          </a:solidFill>
          <a:ln w="12700">
            <a:solidFill>
              <a:schemeClr val="accent2">
                <a:alpha val="0"/>
              </a:schemeClr>
            </a:solidFill>
            <a:prstDash val="solid"/>
          </a:ln>
        </p:spPr>
      </p:sp>
      <p:sp>
        <p:nvSpPr>
          <p:cNvPr id="16" name="Text 12"/>
          <p:cNvSpPr txBox="1"/>
          <p:nvPr/>
        </p:nvSpPr>
        <p:spPr>
          <a:xfrm>
            <a:off x="9235440" y="3154680"/>
            <a:ext cx="2286000" cy="457200"/>
          </a:xfrm>
          <a:prstGeom prst="rect">
            <a:avLst/>
          </a:prstGeom>
          <a:noFill/>
          <a:ln/>
        </p:spPr>
        <p:txBody>
          <a:bodyPr wrap="square" lIns="0" tIns="0" rIns="76200" bIns="0" rtlCol="0" anchor="ctr"/>
          <a:lstStyle/>
          <a:p>
            <a:pPr rtl="1" algn="r" indent="0" marL="0">
              <a:buNone/>
            </a:pPr>
            <a:r>
              <a:rPr lang="en-US" sz="1300" b="1" dirty="0">
                <a:solidFill>
                  <a:schemeClr val="accent2"/>
                </a:solidFill>
              </a:rPr>
              <a:t>درجة الحموضة</a:t>
            </a:r>
            <a:endParaRPr lang="en-US" sz="1300" dirty="0"/>
          </a:p>
        </p:txBody>
      </p:sp>
      <p:sp>
        <p:nvSpPr>
          <p:cNvPr id="17" name="Text 13"/>
          <p:cNvSpPr txBox="1"/>
          <p:nvPr/>
        </p:nvSpPr>
        <p:spPr>
          <a:xfrm>
            <a:off x="4663440" y="3154680"/>
            <a:ext cx="4480560" cy="457200"/>
          </a:xfrm>
          <a:prstGeom prst="rect">
            <a:avLst/>
          </a:prstGeom>
          <a:noFill/>
          <a:ln/>
        </p:spPr>
        <p:txBody>
          <a:bodyPr wrap="square" lIns="0" tIns="0" rIns="0" bIns="0" rtlCol="0" anchor="ctr"/>
          <a:lstStyle/>
          <a:p>
            <a:pPr rtl="1" algn="r" indent="0" marL="0">
              <a:buNone/>
            </a:pPr>
            <a:r>
              <a:rPr lang="en-US" sz="1300" dirty="0">
                <a:solidFill>
                  <a:schemeClr val="tx1"/>
                </a:solidFill>
              </a:rPr>
              <a:t>pH 5.5</a:t>
            </a:r>
            <a:endParaRPr lang="en-US" sz="1300" dirty="0"/>
          </a:p>
        </p:txBody>
      </p:sp>
      <p:sp>
        <p:nvSpPr>
          <p:cNvPr id="18" name="Text 14"/>
          <p:cNvSpPr txBox="1"/>
          <p:nvPr/>
        </p:nvSpPr>
        <p:spPr>
          <a:xfrm>
            <a:off x="9235440" y="3611880"/>
            <a:ext cx="2286000" cy="457200"/>
          </a:xfrm>
          <a:prstGeom prst="rect">
            <a:avLst/>
          </a:prstGeom>
          <a:noFill/>
          <a:ln/>
        </p:spPr>
        <p:txBody>
          <a:bodyPr wrap="square" lIns="0" tIns="0" rIns="76200" bIns="0" rtlCol="0" anchor="ctr"/>
          <a:lstStyle/>
          <a:p>
            <a:pPr rtl="1" algn="r" indent="0" marL="0">
              <a:buNone/>
            </a:pPr>
            <a:r>
              <a:rPr lang="en-US" sz="1300" b="1" dirty="0">
                <a:solidFill>
                  <a:schemeClr val="accent2"/>
                </a:solidFill>
              </a:rPr>
              <a:t>الإخطار SFDA</a:t>
            </a:r>
            <a:endParaRPr lang="en-US" sz="1300" dirty="0"/>
          </a:p>
        </p:txBody>
      </p:sp>
      <p:sp>
        <p:nvSpPr>
          <p:cNvPr id="19" name="Text 15"/>
          <p:cNvSpPr txBox="1"/>
          <p:nvPr/>
        </p:nvSpPr>
        <p:spPr>
          <a:xfrm>
            <a:off x="4663440" y="3611880"/>
            <a:ext cx="4480560" cy="457200"/>
          </a:xfrm>
          <a:prstGeom prst="rect">
            <a:avLst/>
          </a:prstGeom>
          <a:noFill/>
          <a:ln/>
        </p:spPr>
        <p:txBody>
          <a:bodyPr wrap="square" lIns="0" tIns="0" rIns="0" bIns="0" rtlCol="0" anchor="ctr"/>
          <a:lstStyle/>
          <a:p>
            <a:pPr rtl="1" algn="r" indent="0" marL="0">
              <a:buNone/>
            </a:pPr>
            <a:r>
              <a:rPr lang="en-US" sz="1300" dirty="0">
                <a:solidFill>
                  <a:schemeClr val="tx1"/>
                </a:solidFill>
              </a:rPr>
              <a:t>CN-2023-84129 (ساري حتى 23/11/2027)</a:t>
            </a:r>
            <a:endParaRPr lang="en-US" sz="1300" dirty="0"/>
          </a:p>
        </p:txBody>
      </p:sp>
      <p:sp>
        <p:nvSpPr>
          <p:cNvPr id="20" name="Shape 16"/>
          <p:cNvSpPr/>
          <p:nvPr/>
        </p:nvSpPr>
        <p:spPr>
          <a:xfrm>
            <a:off x="4572000" y="4069080"/>
            <a:ext cx="7040880" cy="457200"/>
          </a:xfrm>
          <a:prstGeom prst="rect">
            <a:avLst/>
          </a:prstGeom>
          <a:solidFill>
            <a:schemeClr val="accent2">
              <a:alpha val="7000"/>
            </a:schemeClr>
          </a:solidFill>
          <a:ln w="12700">
            <a:solidFill>
              <a:schemeClr val="accent2">
                <a:alpha val="0"/>
              </a:schemeClr>
            </a:solidFill>
            <a:prstDash val="solid"/>
          </a:ln>
        </p:spPr>
      </p:sp>
      <p:sp>
        <p:nvSpPr>
          <p:cNvPr id="21" name="Text 17"/>
          <p:cNvSpPr txBox="1"/>
          <p:nvPr/>
        </p:nvSpPr>
        <p:spPr>
          <a:xfrm>
            <a:off x="9235440" y="4069080"/>
            <a:ext cx="2286000" cy="457200"/>
          </a:xfrm>
          <a:prstGeom prst="rect">
            <a:avLst/>
          </a:prstGeom>
          <a:noFill/>
          <a:ln/>
        </p:spPr>
        <p:txBody>
          <a:bodyPr wrap="square" lIns="0" tIns="0" rIns="76200" bIns="0" rtlCol="0" anchor="ctr"/>
          <a:lstStyle/>
          <a:p>
            <a:pPr rtl="1" algn="r" indent="0" marL="0">
              <a:buNone/>
            </a:pPr>
            <a:r>
              <a:rPr lang="en-US" sz="1300" b="1" dirty="0">
                <a:solidFill>
                  <a:schemeClr val="accent2"/>
                </a:solidFill>
              </a:rPr>
              <a:t>الباركود</a:t>
            </a:r>
            <a:endParaRPr lang="en-US" sz="1300" dirty="0"/>
          </a:p>
        </p:txBody>
      </p:sp>
      <p:sp>
        <p:nvSpPr>
          <p:cNvPr id="22" name="Text 18"/>
          <p:cNvSpPr txBox="1"/>
          <p:nvPr/>
        </p:nvSpPr>
        <p:spPr>
          <a:xfrm>
            <a:off x="4663440" y="4069080"/>
            <a:ext cx="4480560" cy="457200"/>
          </a:xfrm>
          <a:prstGeom prst="rect">
            <a:avLst/>
          </a:prstGeom>
          <a:noFill/>
          <a:ln/>
        </p:spPr>
        <p:txBody>
          <a:bodyPr wrap="square" lIns="0" tIns="0" rIns="0" bIns="0" rtlCol="0" anchor="ctr"/>
          <a:lstStyle/>
          <a:p>
            <a:pPr rtl="1" algn="r" indent="0" marL="0">
              <a:buNone/>
            </a:pPr>
            <a:r>
              <a:rPr lang="en-US" sz="1300" dirty="0">
                <a:solidFill>
                  <a:schemeClr val="tx1"/>
                </a:solidFill>
              </a:rPr>
              <a:t>6772505023108</a:t>
            </a:r>
            <a:endParaRPr lang="en-US" sz="1300" dirty="0"/>
          </a:p>
        </p:txBody>
      </p:sp>
      <p:sp>
        <p:nvSpPr>
          <p:cNvPr id="23" name="Text 19"/>
          <p:cNvSpPr txBox="1"/>
          <p:nvPr/>
        </p:nvSpPr>
        <p:spPr>
          <a:xfrm>
            <a:off x="9235440" y="4526280"/>
            <a:ext cx="2286000" cy="457200"/>
          </a:xfrm>
          <a:prstGeom prst="rect">
            <a:avLst/>
          </a:prstGeom>
          <a:noFill/>
          <a:ln/>
        </p:spPr>
        <p:txBody>
          <a:bodyPr wrap="square" lIns="0" tIns="0" rIns="76200" bIns="0" rtlCol="0" anchor="ctr"/>
          <a:lstStyle/>
          <a:p>
            <a:pPr rtl="1" algn="r" indent="0" marL="0">
              <a:buNone/>
            </a:pPr>
            <a:r>
              <a:rPr lang="en-US" sz="1300" b="1" dirty="0">
                <a:solidFill>
                  <a:schemeClr val="accent2"/>
                </a:solidFill>
              </a:rPr>
              <a:t>الاستخدام</a:t>
            </a:r>
            <a:endParaRPr lang="en-US" sz="1300" dirty="0"/>
          </a:p>
        </p:txBody>
      </p:sp>
      <p:sp>
        <p:nvSpPr>
          <p:cNvPr id="24" name="Text 20"/>
          <p:cNvSpPr txBox="1"/>
          <p:nvPr/>
        </p:nvSpPr>
        <p:spPr>
          <a:xfrm>
            <a:off x="4663440" y="4526280"/>
            <a:ext cx="4480560" cy="457200"/>
          </a:xfrm>
          <a:prstGeom prst="rect">
            <a:avLst/>
          </a:prstGeom>
          <a:noFill/>
          <a:ln/>
        </p:spPr>
        <p:txBody>
          <a:bodyPr wrap="square" lIns="0" tIns="0" rIns="0" bIns="0" rtlCol="0" anchor="ctr"/>
          <a:lstStyle/>
          <a:p>
            <a:pPr rtl="1" algn="r" indent="0" marL="0">
              <a:buNone/>
            </a:pPr>
            <a:r>
              <a:rPr lang="en-US" sz="1300" dirty="0">
                <a:solidFill>
                  <a:schemeClr val="tx1"/>
                </a:solidFill>
              </a:rPr>
              <a:t>2–3 مرات أسبوعياً</a:t>
            </a:r>
            <a:endParaRPr lang="en-US" sz="1300" dirty="0"/>
          </a:p>
        </p:txBody>
      </p:sp>
      <p:sp>
        <p:nvSpPr>
          <p:cNvPr id="25" name="Shape 21"/>
          <p:cNvSpPr/>
          <p:nvPr/>
        </p:nvSpPr>
        <p:spPr>
          <a:xfrm>
            <a:off x="4572000" y="4983480"/>
            <a:ext cx="7040880" cy="457200"/>
          </a:xfrm>
          <a:prstGeom prst="rect">
            <a:avLst/>
          </a:prstGeom>
          <a:solidFill>
            <a:schemeClr val="accent2">
              <a:alpha val="7000"/>
            </a:schemeClr>
          </a:solidFill>
          <a:ln w="12700">
            <a:solidFill>
              <a:schemeClr val="accent2">
                <a:alpha val="0"/>
              </a:schemeClr>
            </a:solidFill>
            <a:prstDash val="solid"/>
          </a:ln>
        </p:spPr>
      </p:sp>
      <p:sp>
        <p:nvSpPr>
          <p:cNvPr id="26" name="Text 22"/>
          <p:cNvSpPr txBox="1"/>
          <p:nvPr/>
        </p:nvSpPr>
        <p:spPr>
          <a:xfrm>
            <a:off x="9235440" y="4983480"/>
            <a:ext cx="2286000" cy="457200"/>
          </a:xfrm>
          <a:prstGeom prst="rect">
            <a:avLst/>
          </a:prstGeom>
          <a:noFill/>
          <a:ln/>
        </p:spPr>
        <p:txBody>
          <a:bodyPr wrap="square" lIns="0" tIns="0" rIns="76200" bIns="0" rtlCol="0" anchor="ctr"/>
          <a:lstStyle/>
          <a:p>
            <a:pPr rtl="1" algn="r" indent="0" marL="0">
              <a:buNone/>
            </a:pPr>
            <a:r>
              <a:rPr lang="en-US" sz="1300" b="1" dirty="0">
                <a:solidFill>
                  <a:schemeClr val="accent2"/>
                </a:solidFill>
              </a:rPr>
              <a:t>المصنع</a:t>
            </a:r>
            <a:endParaRPr lang="en-US" sz="1300" dirty="0"/>
          </a:p>
        </p:txBody>
      </p:sp>
      <p:sp>
        <p:nvSpPr>
          <p:cNvPr id="27" name="Text 23"/>
          <p:cNvSpPr txBox="1"/>
          <p:nvPr/>
        </p:nvSpPr>
        <p:spPr>
          <a:xfrm>
            <a:off x="4663440" y="4983480"/>
            <a:ext cx="4480560" cy="457200"/>
          </a:xfrm>
          <a:prstGeom prst="rect">
            <a:avLst/>
          </a:prstGeom>
          <a:noFill/>
          <a:ln/>
        </p:spPr>
        <p:txBody>
          <a:bodyPr wrap="square" lIns="0" tIns="0" rIns="0" bIns="0" rtlCol="0" anchor="ctr"/>
          <a:lstStyle/>
          <a:p>
            <a:pPr rtl="1" algn="r" indent="0" marL="0">
              <a:buNone/>
            </a:pPr>
            <a:r>
              <a:rPr lang="en-US" sz="1300" dirty="0">
                <a:solidFill>
                  <a:schemeClr val="tx1"/>
                </a:solidFill>
              </a:rPr>
              <a:t>Brand International — مصر</a:t>
            </a:r>
            <a:endParaRPr lang="en-US" sz="1300" dirty="0"/>
          </a:p>
        </p:txBody>
      </p:sp>
      <p:sp>
        <p:nvSpPr>
          <p:cNvPr id="28" name="Text 24"/>
          <p:cNvSpPr txBox="1"/>
          <p:nvPr/>
        </p:nvSpPr>
        <p:spPr>
          <a:xfrm>
            <a:off x="9235440" y="5440680"/>
            <a:ext cx="2286000" cy="457200"/>
          </a:xfrm>
          <a:prstGeom prst="rect">
            <a:avLst/>
          </a:prstGeom>
          <a:noFill/>
          <a:ln/>
        </p:spPr>
        <p:txBody>
          <a:bodyPr wrap="square" lIns="0" tIns="0" rIns="76200" bIns="0" rtlCol="0" anchor="ctr"/>
          <a:lstStyle/>
          <a:p>
            <a:pPr rtl="1" algn="r" indent="0" marL="0">
              <a:buNone/>
            </a:pPr>
            <a:r>
              <a:rPr lang="en-US" sz="1300" b="1" dirty="0">
                <a:solidFill>
                  <a:schemeClr val="accent2"/>
                </a:solidFill>
              </a:rPr>
              <a:t>سعر الجمهور</a:t>
            </a:r>
            <a:endParaRPr lang="en-US" sz="1300" dirty="0"/>
          </a:p>
        </p:txBody>
      </p:sp>
      <p:sp>
        <p:nvSpPr>
          <p:cNvPr id="29" name="Text 25"/>
          <p:cNvSpPr txBox="1"/>
          <p:nvPr/>
        </p:nvSpPr>
        <p:spPr>
          <a:xfrm>
            <a:off x="4663440" y="5440680"/>
            <a:ext cx="4480560" cy="457200"/>
          </a:xfrm>
          <a:prstGeom prst="rect">
            <a:avLst/>
          </a:prstGeom>
          <a:noFill/>
          <a:ln/>
        </p:spPr>
        <p:txBody>
          <a:bodyPr wrap="square" lIns="0" tIns="0" rIns="0" bIns="0" rtlCol="0" anchor="ctr"/>
          <a:lstStyle/>
          <a:p>
            <a:pPr rtl="1" algn="r" indent="0" marL="0">
              <a:buNone/>
            </a:pPr>
            <a:r>
              <a:rPr lang="en-US" sz="1300" dirty="0">
                <a:solidFill>
                  <a:schemeClr val="tx1"/>
                </a:solidFill>
              </a:rPr>
              <a:t>55 ريال (غير شامل الضريبة)</a:t>
            </a:r>
            <a:endParaRPr lang="en-US" sz="1300" dirty="0"/>
          </a:p>
        </p:txBody>
      </p:sp>
      <p:sp>
        <p:nvSpPr>
          <p:cNvPr id="25" name="Slide Number Placeholder 0"/>
          <p:cNvSpPr>
            <a:spLocks noGrp="1"/>
          </p:cNvSpPr>
          <p:nvPr>
            <p:ph type="sldNum" sz="quarter" idx="4294967295"/>
          </p:nvPr>
        </p:nvSpPr>
        <p:spPr>
          <a:xfrm>
            <a:off x="5806440" y="630936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ct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2" type="title" hasCustomPrompt="1"/>
          </p:nvPr>
        </p:nvSpPr>
        <p:spPr>
          <a:xfrm>
            <a:off x="548640" y="320040"/>
            <a:ext cx="11064240" cy="777240"/>
          </a:xfrm>
          <a:prstGeom prst="rect">
            <a:avLst/>
          </a:prstGeom>
          <a:noFill/>
          <a:ln/>
        </p:spPr>
        <p:txBody>
          <a:bodyPr wrap="square" rtlCol="0" anchor="ctr"/>
          <a:lstStyle/>
          <a:p>
            <a:pPr rtl="1" algn="r" indent="0" marL="0">
              <a:buNone/>
            </a:pPr>
            <a:r>
              <a:rPr lang="en-US" sz="3200" b="1" dirty="0">
                <a:solidFill>
                  <a:schemeClr val="tx2"/>
                </a:solidFill>
              </a:rPr>
              <a:t>Octo — الخلفية العلمية: القشرة</a:t>
            </a:r>
            <a:endParaRPr lang="en-US" sz="3200" dirty="0"/>
          </a:p>
        </p:txBody>
      </p:sp>
      <p:sp>
        <p:nvSpPr>
          <p:cNvPr id="4" name="Shape 1"/>
          <p:cNvSpPr/>
          <p:nvPr/>
        </p:nvSpPr>
        <p:spPr>
          <a:xfrm>
            <a:off x="8778240" y="1325880"/>
            <a:ext cx="2834640" cy="2103120"/>
          </a:xfrm>
          <a:prstGeom prst="roundRect">
            <a:avLst>
              <a:gd name="adj" fmla="val 5217"/>
            </a:avLst>
          </a:prstGeom>
          <a:solidFill>
            <a:schemeClr val="accent2">
              <a:alpha val="8000"/>
            </a:schemeClr>
          </a:solidFill>
          <a:ln w="9525">
            <a:solidFill>
              <a:schemeClr val="accent2">
                <a:alpha val="25000"/>
              </a:schemeClr>
            </a:solidFill>
            <a:prstDash val="solid"/>
          </a:ln>
        </p:spPr>
      </p:sp>
      <p:sp>
        <p:nvSpPr>
          <p:cNvPr id="5" name="Text 2"/>
          <p:cNvSpPr txBox="1"/>
          <p:nvPr/>
        </p:nvSpPr>
        <p:spPr>
          <a:xfrm>
            <a:off x="8778240" y="1435608"/>
            <a:ext cx="2834640" cy="946404"/>
          </a:xfrm>
          <a:prstGeom prst="rect">
            <a:avLst/>
          </a:prstGeom>
          <a:noFill/>
          <a:ln/>
        </p:spPr>
        <p:txBody>
          <a:bodyPr wrap="square" lIns="0" tIns="0" rIns="0" bIns="0" rtlCol="0" anchor="ctr"/>
          <a:lstStyle/>
          <a:p>
            <a:pPr algn="ctr" indent="0" marL="0">
              <a:buNone/>
            </a:pPr>
            <a:r>
              <a:rPr lang="en-US" sz="3200" b="1" dirty="0">
                <a:solidFill>
                  <a:schemeClr val="accent2"/>
                </a:solidFill>
              </a:rPr>
              <a:t>+50%</a:t>
            </a:r>
            <a:endParaRPr lang="en-US" sz="3200" dirty="0"/>
          </a:p>
        </p:txBody>
      </p:sp>
      <p:sp>
        <p:nvSpPr>
          <p:cNvPr id="6" name="Text 3"/>
          <p:cNvSpPr txBox="1"/>
          <p:nvPr/>
        </p:nvSpPr>
        <p:spPr>
          <a:xfrm>
            <a:off x="8869680" y="2377440"/>
            <a:ext cx="2651760" cy="365760"/>
          </a:xfrm>
          <a:prstGeom prst="rect">
            <a:avLst/>
          </a:prstGeom>
          <a:noFill/>
          <a:ln/>
        </p:spPr>
        <p:txBody>
          <a:bodyPr wrap="square" lIns="0" tIns="0" rIns="0" bIns="0" rtlCol="0" anchor="ctr"/>
          <a:lstStyle/>
          <a:p>
            <a:pPr rtl="1" algn="ctr" indent="0" marL="0">
              <a:buNone/>
            </a:pPr>
            <a:r>
              <a:rPr lang="en-US" sz="1400" b="1" dirty="0">
                <a:solidFill>
                  <a:schemeClr val="tx1"/>
                </a:solidFill>
              </a:rPr>
              <a:t>من الناس</a:t>
            </a:r>
            <a:endParaRPr lang="en-US" sz="1400" dirty="0"/>
          </a:p>
        </p:txBody>
      </p:sp>
      <p:sp>
        <p:nvSpPr>
          <p:cNvPr id="7" name="Text 4"/>
          <p:cNvSpPr txBox="1"/>
          <p:nvPr/>
        </p:nvSpPr>
        <p:spPr>
          <a:xfrm>
            <a:off x="8915400" y="2743200"/>
            <a:ext cx="2560320" cy="594360"/>
          </a:xfrm>
          <a:prstGeom prst="rect">
            <a:avLst/>
          </a:prstGeom>
          <a:noFill/>
          <a:ln/>
        </p:spPr>
        <p:txBody>
          <a:bodyPr wrap="square" lIns="0" tIns="0" rIns="0" bIns="0" rtlCol="0" anchor="t"/>
          <a:lstStyle/>
          <a:p>
            <a:pPr rtl="1" algn="ctr" indent="0" marL="0">
              <a:buNone/>
            </a:pPr>
            <a:r>
              <a:rPr lang="en-US" sz="1200" dirty="0">
                <a:solidFill>
                  <a:schemeClr val="accent5"/>
                </a:solidFill>
              </a:rPr>
              <a:t>عندهم قشرة متوسطة لشديدة</a:t>
            </a:r>
            <a:endParaRPr lang="en-US" sz="1200" dirty="0"/>
          </a:p>
        </p:txBody>
      </p:sp>
      <p:sp>
        <p:nvSpPr>
          <p:cNvPr id="8" name="Shape 5"/>
          <p:cNvSpPr/>
          <p:nvPr/>
        </p:nvSpPr>
        <p:spPr>
          <a:xfrm>
            <a:off x="548640" y="1325880"/>
            <a:ext cx="8046720" cy="2103120"/>
          </a:xfrm>
          <a:prstGeom prst="roundRect">
            <a:avLst>
              <a:gd name="adj" fmla="val 5217"/>
            </a:avLst>
          </a:prstGeom>
          <a:solidFill>
            <a:schemeClr val="accent2">
              <a:alpha val="8000"/>
            </a:schemeClr>
          </a:solidFill>
          <a:ln w="9525">
            <a:solidFill>
              <a:schemeClr val="accent2">
                <a:alpha val="25000"/>
              </a:schemeClr>
            </a:solidFill>
            <a:prstDash val="solid"/>
          </a:ln>
        </p:spPr>
      </p:sp>
      <p:sp>
        <p:nvSpPr>
          <p:cNvPr id="9" name="Text 6"/>
          <p:cNvSpPr txBox="1"/>
          <p:nvPr/>
        </p:nvSpPr>
        <p:spPr>
          <a:xfrm>
            <a:off x="731520" y="1417320"/>
            <a:ext cx="7680960" cy="1920240"/>
          </a:xfrm>
          <a:prstGeom prst="rect">
            <a:avLst/>
          </a:prstGeom>
          <a:noFill/>
          <a:ln/>
        </p:spPr>
        <p:txBody>
          <a:bodyPr wrap="square" lIns="0" tIns="0" rIns="0" bIns="0" rtlCol="0" anchor="ctr"/>
          <a:lstStyle/>
          <a:p>
            <a:pPr algn="r" indent="0" marL="0">
              <a:buNone/>
            </a:pPr>
            <a:r>
              <a:rPr lang="en-US" sz="1600" b="1" dirty="0">
                <a:solidFill>
                  <a:schemeClr val="accent2"/>
                </a:solidFill>
              </a:rPr>
              <a:t>إزاي بتحصل القشرة؟</a:t>
            </a:r>
            <a:endParaRPr lang="en-US" sz="1600" dirty="0"/>
          </a:p>
          <a:p>
            <a:pPr algn="r" indent="0" marL="0">
              <a:buNone/>
            </a:pPr>
            <a:r>
              <a:rPr lang="en-US" sz="1400" dirty="0">
                <a:solidFill>
                  <a:schemeClr val="tx1"/>
                </a:solidFill>
              </a:rPr>
              <a:t>فطر Malassezia بيكسّر دهون فروة الراس لأحماض دهنية بتهيّج الجلد، فالخلايا بتتجدد أسرع من الطبيعي وبتطلع قشور واضحة حوالين الشعرة. الحالة بتزيد عند المراهقين والشباب وفي الشتا.</a:t>
            </a:r>
            <a:endParaRPr lang="en-US" sz="1600" dirty="0"/>
          </a:p>
        </p:txBody>
      </p:sp>
      <p:sp>
        <p:nvSpPr>
          <p:cNvPr id="10" name="Text 7"/>
          <p:cNvSpPr txBox="1"/>
          <p:nvPr/>
        </p:nvSpPr>
        <p:spPr>
          <a:xfrm>
            <a:off x="548640" y="3611880"/>
            <a:ext cx="11064240" cy="457200"/>
          </a:xfrm>
          <a:prstGeom prst="rect">
            <a:avLst/>
          </a:prstGeom>
          <a:noFill/>
          <a:ln/>
        </p:spPr>
        <p:txBody>
          <a:bodyPr wrap="square" lIns="0" tIns="0" rIns="0" bIns="0" rtlCol="0" anchor="ctr"/>
          <a:lstStyle/>
          <a:p>
            <a:pPr rtl="1" algn="r" indent="0" marL="0">
              <a:buNone/>
            </a:pPr>
            <a:r>
              <a:rPr lang="en-US" sz="1800" b="1" dirty="0">
                <a:solidFill>
                  <a:schemeClr val="tx2"/>
                </a:solidFill>
              </a:rPr>
              <a:t>طرق السيطرة على القشرة — وأوكتو بيغطي التلاتة</a:t>
            </a:r>
            <a:endParaRPr lang="en-US" sz="1800" dirty="0"/>
          </a:p>
        </p:txBody>
      </p:sp>
      <p:sp>
        <p:nvSpPr>
          <p:cNvPr id="11" name="Shape 8"/>
          <p:cNvSpPr/>
          <p:nvPr/>
        </p:nvSpPr>
        <p:spPr>
          <a:xfrm>
            <a:off x="8046720" y="4160520"/>
            <a:ext cx="3566160" cy="1920240"/>
          </a:xfrm>
          <a:prstGeom prst="roundRect">
            <a:avLst>
              <a:gd name="adj" fmla="val 5714"/>
            </a:avLst>
          </a:prstGeom>
          <a:solidFill>
            <a:schemeClr val="accent2">
              <a:alpha val="10000"/>
            </a:schemeClr>
          </a:solidFill>
          <a:ln w="9525">
            <a:solidFill>
              <a:schemeClr val="accent2">
                <a:alpha val="25000"/>
              </a:schemeClr>
            </a:solidFill>
            <a:prstDash val="solid"/>
          </a:ln>
        </p:spPr>
      </p:sp>
      <p:sp>
        <p:nvSpPr>
          <p:cNvPr id="12" name="Shape 9"/>
          <p:cNvSpPr/>
          <p:nvPr/>
        </p:nvSpPr>
        <p:spPr>
          <a:xfrm>
            <a:off x="10972800" y="4297680"/>
            <a:ext cx="457200" cy="457200"/>
          </a:xfrm>
          <a:prstGeom prst="ellipse">
            <a:avLst/>
          </a:prstGeom>
          <a:solidFill>
            <a:schemeClr val="accent2"/>
          </a:solidFill>
          <a:ln w="12700">
            <a:solidFill>
              <a:schemeClr val="accent2"/>
            </a:solidFill>
            <a:prstDash val="solid"/>
          </a:ln>
        </p:spPr>
      </p:sp>
      <p:sp>
        <p:nvSpPr>
          <p:cNvPr id="13" name="Text 10"/>
          <p:cNvSpPr txBox="1"/>
          <p:nvPr/>
        </p:nvSpPr>
        <p:spPr>
          <a:xfrm>
            <a:off x="10972800" y="429768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14" name="Text 11"/>
          <p:cNvSpPr txBox="1"/>
          <p:nvPr/>
        </p:nvSpPr>
        <p:spPr>
          <a:xfrm>
            <a:off x="8229600" y="4279392"/>
            <a:ext cx="2651760" cy="457200"/>
          </a:xfrm>
          <a:prstGeom prst="rect">
            <a:avLst/>
          </a:prstGeom>
          <a:noFill/>
          <a:ln/>
        </p:spPr>
        <p:txBody>
          <a:bodyPr wrap="square" lIns="0" tIns="0" rIns="0" bIns="0" rtlCol="0" anchor="ctr"/>
          <a:lstStyle/>
          <a:p>
            <a:pPr rtl="1" algn="r" indent="0" marL="0">
              <a:buNone/>
            </a:pPr>
            <a:r>
              <a:rPr lang="en-US" sz="1600" b="1" dirty="0">
                <a:solidFill>
                  <a:schemeClr val="accent2"/>
                </a:solidFill>
              </a:rPr>
              <a:t>مضاد فطري</a:t>
            </a:r>
            <a:endParaRPr lang="en-US" sz="1600" dirty="0"/>
          </a:p>
        </p:txBody>
      </p:sp>
      <p:sp>
        <p:nvSpPr>
          <p:cNvPr id="15" name="Text 12"/>
          <p:cNvSpPr txBox="1"/>
          <p:nvPr/>
        </p:nvSpPr>
        <p:spPr>
          <a:xfrm>
            <a:off x="8229600" y="4800600"/>
            <a:ext cx="3200400" cy="457200"/>
          </a:xfrm>
          <a:prstGeom prst="rect">
            <a:avLst/>
          </a:prstGeom>
          <a:noFill/>
          <a:ln/>
        </p:spPr>
        <p:txBody>
          <a:bodyPr wrap="square" lIns="0" tIns="0" rIns="0" bIns="0" rtlCol="0" anchor="ctr"/>
          <a:lstStyle/>
          <a:p>
            <a:pPr rtl="1" algn="r" indent="0" marL="0">
              <a:buNone/>
            </a:pPr>
            <a:r>
              <a:rPr lang="en-US" sz="1400" dirty="0">
                <a:solidFill>
                  <a:schemeClr val="tx1"/>
                </a:solidFill>
              </a:rPr>
              <a:t>يقلّل فطر المالاسيزيا</a:t>
            </a:r>
            <a:endParaRPr lang="en-US" sz="1400" dirty="0"/>
          </a:p>
        </p:txBody>
      </p:sp>
      <p:sp>
        <p:nvSpPr>
          <p:cNvPr id="16" name="Text 13"/>
          <p:cNvSpPr txBox="1"/>
          <p:nvPr/>
        </p:nvSpPr>
        <p:spPr>
          <a:xfrm>
            <a:off x="8229600" y="5349240"/>
            <a:ext cx="3200400" cy="457200"/>
          </a:xfrm>
          <a:prstGeom prst="rect">
            <a:avLst/>
          </a:prstGeom>
          <a:noFill/>
          <a:ln/>
        </p:spPr>
        <p:txBody>
          <a:bodyPr wrap="square" lIns="0" tIns="0" rIns="0" bIns="0" rtlCol="0" anchor="ctr"/>
          <a:lstStyle/>
          <a:p>
            <a:pPr algn="r" indent="0" marL="0">
              <a:buNone/>
            </a:pPr>
            <a:r>
              <a:rPr lang="en-US" sz="1300" b="1" dirty="0">
                <a:solidFill>
                  <a:schemeClr val="accent5"/>
                </a:solidFill>
              </a:rPr>
              <a:t>Piroctone olamine · ZPT</a:t>
            </a:r>
            <a:endParaRPr lang="en-US" sz="1300" dirty="0"/>
          </a:p>
        </p:txBody>
      </p:sp>
      <p:sp>
        <p:nvSpPr>
          <p:cNvPr id="17" name="Shape 14"/>
          <p:cNvSpPr/>
          <p:nvPr/>
        </p:nvSpPr>
        <p:spPr>
          <a:xfrm>
            <a:off x="4297680" y="4160520"/>
            <a:ext cx="3566160" cy="1920240"/>
          </a:xfrm>
          <a:prstGeom prst="roundRect">
            <a:avLst>
              <a:gd name="adj" fmla="val 5714"/>
            </a:avLst>
          </a:prstGeom>
          <a:solidFill>
            <a:schemeClr val="accent2">
              <a:alpha val="10000"/>
            </a:schemeClr>
          </a:solidFill>
          <a:ln w="9525">
            <a:solidFill>
              <a:schemeClr val="accent2">
                <a:alpha val="25000"/>
              </a:schemeClr>
            </a:solidFill>
            <a:prstDash val="solid"/>
          </a:ln>
        </p:spPr>
      </p:sp>
      <p:sp>
        <p:nvSpPr>
          <p:cNvPr id="18" name="Shape 15"/>
          <p:cNvSpPr/>
          <p:nvPr/>
        </p:nvSpPr>
        <p:spPr>
          <a:xfrm>
            <a:off x="7223760" y="4297680"/>
            <a:ext cx="457200" cy="457200"/>
          </a:xfrm>
          <a:prstGeom prst="ellipse">
            <a:avLst/>
          </a:prstGeom>
          <a:solidFill>
            <a:schemeClr val="accent2"/>
          </a:solidFill>
          <a:ln w="12700">
            <a:solidFill>
              <a:schemeClr val="accent2"/>
            </a:solidFill>
            <a:prstDash val="solid"/>
          </a:ln>
        </p:spPr>
      </p:sp>
      <p:sp>
        <p:nvSpPr>
          <p:cNvPr id="19" name="Text 16"/>
          <p:cNvSpPr txBox="1"/>
          <p:nvPr/>
        </p:nvSpPr>
        <p:spPr>
          <a:xfrm>
            <a:off x="7223760" y="429768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20" name="Text 17"/>
          <p:cNvSpPr txBox="1"/>
          <p:nvPr/>
        </p:nvSpPr>
        <p:spPr>
          <a:xfrm>
            <a:off x="4480560" y="4279392"/>
            <a:ext cx="2651760" cy="457200"/>
          </a:xfrm>
          <a:prstGeom prst="rect">
            <a:avLst/>
          </a:prstGeom>
          <a:noFill/>
          <a:ln/>
        </p:spPr>
        <p:txBody>
          <a:bodyPr wrap="square" lIns="0" tIns="0" rIns="0" bIns="0" rtlCol="0" anchor="ctr"/>
          <a:lstStyle/>
          <a:p>
            <a:pPr rtl="1" algn="r" indent="0" marL="0">
              <a:buNone/>
            </a:pPr>
            <a:r>
              <a:rPr lang="en-US" sz="1600" b="1" dirty="0">
                <a:solidFill>
                  <a:schemeClr val="accent2"/>
                </a:solidFill>
              </a:rPr>
              <a:t>مثبّط لتجدد الخلايا</a:t>
            </a:r>
            <a:endParaRPr lang="en-US" sz="1600" dirty="0"/>
          </a:p>
        </p:txBody>
      </p:sp>
      <p:sp>
        <p:nvSpPr>
          <p:cNvPr id="21" name="Text 18"/>
          <p:cNvSpPr txBox="1"/>
          <p:nvPr/>
        </p:nvSpPr>
        <p:spPr>
          <a:xfrm>
            <a:off x="4480560" y="4800600"/>
            <a:ext cx="3200400" cy="457200"/>
          </a:xfrm>
          <a:prstGeom prst="rect">
            <a:avLst/>
          </a:prstGeom>
          <a:noFill/>
          <a:ln/>
        </p:spPr>
        <p:txBody>
          <a:bodyPr wrap="square" lIns="0" tIns="0" rIns="0" bIns="0" rtlCol="0" anchor="ctr"/>
          <a:lstStyle/>
          <a:p>
            <a:pPr rtl="1" algn="r" indent="0" marL="0">
              <a:buNone/>
            </a:pPr>
            <a:r>
              <a:rPr lang="en-US" sz="1400" dirty="0">
                <a:solidFill>
                  <a:schemeClr val="tx1"/>
                </a:solidFill>
              </a:rPr>
              <a:t>يبطّأ التقشّر الزايد</a:t>
            </a:r>
            <a:endParaRPr lang="en-US" sz="1400" dirty="0"/>
          </a:p>
        </p:txBody>
      </p:sp>
      <p:sp>
        <p:nvSpPr>
          <p:cNvPr id="22" name="Text 19"/>
          <p:cNvSpPr txBox="1"/>
          <p:nvPr/>
        </p:nvSpPr>
        <p:spPr>
          <a:xfrm>
            <a:off x="4480560" y="5349240"/>
            <a:ext cx="3200400" cy="457200"/>
          </a:xfrm>
          <a:prstGeom prst="rect">
            <a:avLst/>
          </a:prstGeom>
          <a:noFill/>
          <a:ln/>
        </p:spPr>
        <p:txBody>
          <a:bodyPr wrap="square" lIns="0" tIns="0" rIns="0" bIns="0" rtlCol="0" anchor="ctr"/>
          <a:lstStyle/>
          <a:p>
            <a:pPr algn="r" indent="0" marL="0">
              <a:buNone/>
            </a:pPr>
            <a:r>
              <a:rPr lang="en-US" sz="1300" b="1" dirty="0">
                <a:solidFill>
                  <a:schemeClr val="accent5"/>
                </a:solidFill>
              </a:rPr>
              <a:t>Selenium sulfide</a:t>
            </a:r>
            <a:endParaRPr lang="en-US" sz="1300" dirty="0"/>
          </a:p>
        </p:txBody>
      </p:sp>
      <p:sp>
        <p:nvSpPr>
          <p:cNvPr id="23" name="Shape 20"/>
          <p:cNvSpPr/>
          <p:nvPr/>
        </p:nvSpPr>
        <p:spPr>
          <a:xfrm>
            <a:off x="548640" y="4160520"/>
            <a:ext cx="3566160" cy="1920240"/>
          </a:xfrm>
          <a:prstGeom prst="roundRect">
            <a:avLst>
              <a:gd name="adj" fmla="val 5714"/>
            </a:avLst>
          </a:prstGeom>
          <a:solidFill>
            <a:schemeClr val="accent2">
              <a:alpha val="10000"/>
            </a:schemeClr>
          </a:solidFill>
          <a:ln w="9525">
            <a:solidFill>
              <a:schemeClr val="accent2">
                <a:alpha val="25000"/>
              </a:schemeClr>
            </a:solidFill>
            <a:prstDash val="solid"/>
          </a:ln>
        </p:spPr>
      </p:sp>
      <p:sp>
        <p:nvSpPr>
          <p:cNvPr id="24" name="Shape 21"/>
          <p:cNvSpPr/>
          <p:nvPr/>
        </p:nvSpPr>
        <p:spPr>
          <a:xfrm>
            <a:off x="3474720" y="4297680"/>
            <a:ext cx="457200" cy="457200"/>
          </a:xfrm>
          <a:prstGeom prst="ellipse">
            <a:avLst/>
          </a:prstGeom>
          <a:solidFill>
            <a:schemeClr val="accent2"/>
          </a:solidFill>
          <a:ln w="12700">
            <a:solidFill>
              <a:schemeClr val="accent2"/>
            </a:solidFill>
            <a:prstDash val="solid"/>
          </a:ln>
        </p:spPr>
      </p:sp>
      <p:sp>
        <p:nvSpPr>
          <p:cNvPr id="25" name="Text 22"/>
          <p:cNvSpPr txBox="1"/>
          <p:nvPr/>
        </p:nvSpPr>
        <p:spPr>
          <a:xfrm>
            <a:off x="3474720" y="429768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26" name="Text 23"/>
          <p:cNvSpPr txBox="1"/>
          <p:nvPr/>
        </p:nvSpPr>
        <p:spPr>
          <a:xfrm>
            <a:off x="731520" y="4279392"/>
            <a:ext cx="2651760" cy="457200"/>
          </a:xfrm>
          <a:prstGeom prst="rect">
            <a:avLst/>
          </a:prstGeom>
          <a:noFill/>
          <a:ln/>
        </p:spPr>
        <p:txBody>
          <a:bodyPr wrap="square" lIns="0" tIns="0" rIns="0" bIns="0" rtlCol="0" anchor="ctr"/>
          <a:lstStyle/>
          <a:p>
            <a:pPr rtl="1" algn="r" indent="0" marL="0">
              <a:buNone/>
            </a:pPr>
            <a:r>
              <a:rPr lang="en-US" sz="1600" b="1" dirty="0">
                <a:solidFill>
                  <a:schemeClr val="accent2"/>
                </a:solidFill>
              </a:rPr>
              <a:t>مذيب للقشور</a:t>
            </a:r>
            <a:endParaRPr lang="en-US" sz="1600" dirty="0"/>
          </a:p>
        </p:txBody>
      </p:sp>
      <p:sp>
        <p:nvSpPr>
          <p:cNvPr id="27" name="Text 24"/>
          <p:cNvSpPr txBox="1"/>
          <p:nvPr/>
        </p:nvSpPr>
        <p:spPr>
          <a:xfrm>
            <a:off x="731520" y="4800600"/>
            <a:ext cx="3200400" cy="457200"/>
          </a:xfrm>
          <a:prstGeom prst="rect">
            <a:avLst/>
          </a:prstGeom>
          <a:noFill/>
          <a:ln/>
        </p:spPr>
        <p:txBody>
          <a:bodyPr wrap="square" lIns="0" tIns="0" rIns="0" bIns="0" rtlCol="0" anchor="ctr"/>
          <a:lstStyle/>
          <a:p>
            <a:pPr rtl="1" algn="r" indent="0" marL="0">
              <a:buNone/>
            </a:pPr>
            <a:r>
              <a:rPr lang="en-US" sz="1400" dirty="0">
                <a:solidFill>
                  <a:schemeClr val="tx1"/>
                </a:solidFill>
              </a:rPr>
              <a:t>يفكّك القشور ويسهّل إزالتها</a:t>
            </a:r>
            <a:endParaRPr lang="en-US" sz="1400" dirty="0"/>
          </a:p>
        </p:txBody>
      </p:sp>
      <p:sp>
        <p:nvSpPr>
          <p:cNvPr id="28" name="Text 25"/>
          <p:cNvSpPr txBox="1"/>
          <p:nvPr/>
        </p:nvSpPr>
        <p:spPr>
          <a:xfrm>
            <a:off x="731520" y="5349240"/>
            <a:ext cx="3200400" cy="457200"/>
          </a:xfrm>
          <a:prstGeom prst="rect">
            <a:avLst/>
          </a:prstGeom>
          <a:noFill/>
          <a:ln/>
        </p:spPr>
        <p:txBody>
          <a:bodyPr wrap="square" lIns="0" tIns="0" rIns="0" bIns="0" rtlCol="0" anchor="ctr"/>
          <a:lstStyle/>
          <a:p>
            <a:pPr algn="r" indent="0" marL="0">
              <a:buNone/>
            </a:pPr>
            <a:r>
              <a:rPr lang="en-US" sz="1300" b="1" dirty="0">
                <a:solidFill>
                  <a:schemeClr val="accent5"/>
                </a:solidFill>
              </a:rPr>
              <a:t>Salicylic acid</a:t>
            </a:r>
            <a:endParaRPr lang="en-US" sz="1300" dirty="0"/>
          </a:p>
        </p:txBody>
      </p:sp>
      <p:sp>
        <p:nvSpPr>
          <p:cNvPr id="25" name="Slide Number Placeholder 0"/>
          <p:cNvSpPr>
            <a:spLocks noGrp="1"/>
          </p:cNvSpPr>
          <p:nvPr>
            <p:ph type="sldNum" sz="quarter" idx="4294967295"/>
          </p:nvPr>
        </p:nvSpPr>
        <p:spPr>
          <a:xfrm>
            <a:off x="5806440" y="630936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ct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2" type="title" hasCustomPrompt="1"/>
          </p:nvPr>
        </p:nvSpPr>
        <p:spPr>
          <a:xfrm>
            <a:off x="548640" y="320040"/>
            <a:ext cx="11064240" cy="777240"/>
          </a:xfrm>
          <a:prstGeom prst="rect">
            <a:avLst/>
          </a:prstGeom>
          <a:noFill/>
          <a:ln/>
        </p:spPr>
        <p:txBody>
          <a:bodyPr wrap="square" rtlCol="0" anchor="ctr"/>
          <a:lstStyle/>
          <a:p>
            <a:pPr rtl="1" algn="r" indent="0" marL="0">
              <a:buNone/>
            </a:pPr>
            <a:r>
              <a:rPr lang="en-US" sz="3200" b="1" dirty="0">
                <a:solidFill>
                  <a:schemeClr val="tx2"/>
                </a:solidFill>
              </a:rPr>
              <a:t>Octo — التركيبة الرباعية</a:t>
            </a:r>
            <a:endParaRPr lang="en-US" sz="3200" dirty="0"/>
          </a:p>
        </p:txBody>
      </p:sp>
      <p:sp>
        <p:nvSpPr>
          <p:cNvPr id="4" name="Shape 1"/>
          <p:cNvSpPr/>
          <p:nvPr/>
        </p:nvSpPr>
        <p:spPr>
          <a:xfrm>
            <a:off x="8983980" y="1325880"/>
            <a:ext cx="2651760" cy="2743200"/>
          </a:xfrm>
          <a:prstGeom prst="roundRect">
            <a:avLst>
              <a:gd name="adj" fmla="val 4138"/>
            </a:avLst>
          </a:prstGeom>
          <a:solidFill>
            <a:schemeClr val="accent2">
              <a:alpha val="10000"/>
            </a:schemeClr>
          </a:solidFill>
          <a:ln w="9525">
            <a:solidFill>
              <a:schemeClr val="accent2">
                <a:alpha val="25000"/>
              </a:schemeClr>
            </a:solidFill>
            <a:prstDash val="solid"/>
          </a:ln>
        </p:spPr>
      </p:sp>
      <p:sp>
        <p:nvSpPr>
          <p:cNvPr id="5" name="Text 2"/>
          <p:cNvSpPr txBox="1"/>
          <p:nvPr/>
        </p:nvSpPr>
        <p:spPr>
          <a:xfrm>
            <a:off x="8983980" y="1417320"/>
            <a:ext cx="2651760" cy="822960"/>
          </a:xfrm>
          <a:prstGeom prst="rect">
            <a:avLst/>
          </a:prstGeom>
          <a:noFill/>
          <a:ln/>
        </p:spPr>
        <p:txBody>
          <a:bodyPr wrap="square" lIns="0" tIns="0" rIns="0" bIns="0" rtlCol="0" anchor="ctr"/>
          <a:lstStyle/>
          <a:p>
            <a:pPr algn="ctr" indent="0" marL="0">
              <a:buNone/>
            </a:pPr>
            <a:r>
              <a:rPr lang="en-US" sz="3600" b="1" dirty="0">
                <a:solidFill>
                  <a:schemeClr val="accent2"/>
                </a:solidFill>
              </a:rPr>
              <a:t>0.7%</a:t>
            </a:r>
            <a:endParaRPr lang="en-US" sz="3600" dirty="0"/>
          </a:p>
        </p:txBody>
      </p:sp>
      <p:sp>
        <p:nvSpPr>
          <p:cNvPr id="6" name="Text 3"/>
          <p:cNvSpPr txBox="1"/>
          <p:nvPr/>
        </p:nvSpPr>
        <p:spPr>
          <a:xfrm>
            <a:off x="8983980" y="2240280"/>
            <a:ext cx="2651760" cy="411480"/>
          </a:xfrm>
          <a:prstGeom prst="rect">
            <a:avLst/>
          </a:prstGeom>
          <a:noFill/>
          <a:ln/>
        </p:spPr>
        <p:txBody>
          <a:bodyPr wrap="square" lIns="0" tIns="0" rIns="0" bIns="0" rtlCol="0" anchor="ctr"/>
          <a:lstStyle/>
          <a:p>
            <a:pPr algn="ctr" indent="0" marL="0">
              <a:buNone/>
            </a:pPr>
            <a:r>
              <a:rPr lang="en-US" sz="1500" b="1" dirty="0">
                <a:solidFill>
                  <a:schemeClr val="tx1"/>
                </a:solidFill>
              </a:rPr>
              <a:t>Piroctone Olamine</a:t>
            </a:r>
            <a:endParaRPr lang="en-US" sz="1500" dirty="0"/>
          </a:p>
        </p:txBody>
      </p:sp>
      <p:sp>
        <p:nvSpPr>
          <p:cNvPr id="7" name="Text 4"/>
          <p:cNvSpPr txBox="1"/>
          <p:nvPr/>
        </p:nvSpPr>
        <p:spPr>
          <a:xfrm>
            <a:off x="9121140" y="2697480"/>
            <a:ext cx="2377440" cy="1280160"/>
          </a:xfrm>
          <a:prstGeom prst="rect">
            <a:avLst/>
          </a:prstGeom>
          <a:noFill/>
          <a:ln/>
        </p:spPr>
        <p:txBody>
          <a:bodyPr wrap="square" lIns="0" tIns="0" rIns="0" bIns="0" rtlCol="0" anchor="t"/>
          <a:lstStyle/>
          <a:p>
            <a:pPr rtl="1" algn="ctr" indent="0" marL="0">
              <a:buNone/>
            </a:pPr>
            <a:r>
              <a:rPr lang="en-US" sz="1300" dirty="0">
                <a:solidFill>
                  <a:schemeClr val="accent5"/>
                </a:solidFill>
              </a:rPr>
              <a:t>مضاد فطري وبكتيري واسع، وبيلتصق بكيراتين الشعر فيقلّل الرجوع</a:t>
            </a:r>
            <a:endParaRPr lang="en-US" sz="1300" dirty="0"/>
          </a:p>
        </p:txBody>
      </p:sp>
      <p:sp>
        <p:nvSpPr>
          <p:cNvPr id="8" name="Shape 5"/>
          <p:cNvSpPr/>
          <p:nvPr/>
        </p:nvSpPr>
        <p:spPr>
          <a:xfrm>
            <a:off x="6172200" y="1325880"/>
            <a:ext cx="2651760" cy="2743200"/>
          </a:xfrm>
          <a:prstGeom prst="roundRect">
            <a:avLst>
              <a:gd name="adj" fmla="val 4138"/>
            </a:avLst>
          </a:prstGeom>
          <a:solidFill>
            <a:schemeClr val="accent2">
              <a:alpha val="10000"/>
            </a:schemeClr>
          </a:solidFill>
          <a:ln w="9525">
            <a:solidFill>
              <a:schemeClr val="accent2">
                <a:alpha val="25000"/>
              </a:schemeClr>
            </a:solidFill>
            <a:prstDash val="solid"/>
          </a:ln>
        </p:spPr>
      </p:sp>
      <p:sp>
        <p:nvSpPr>
          <p:cNvPr id="9" name="Text 6"/>
          <p:cNvSpPr txBox="1"/>
          <p:nvPr/>
        </p:nvSpPr>
        <p:spPr>
          <a:xfrm>
            <a:off x="6172200" y="1417320"/>
            <a:ext cx="2651760" cy="822960"/>
          </a:xfrm>
          <a:prstGeom prst="rect">
            <a:avLst/>
          </a:prstGeom>
          <a:noFill/>
          <a:ln/>
        </p:spPr>
        <p:txBody>
          <a:bodyPr wrap="square" lIns="0" tIns="0" rIns="0" bIns="0" rtlCol="0" anchor="ctr"/>
          <a:lstStyle/>
          <a:p>
            <a:pPr algn="ctr" indent="0" marL="0">
              <a:buNone/>
            </a:pPr>
            <a:r>
              <a:rPr lang="en-US" sz="3600" b="1" dirty="0">
                <a:solidFill>
                  <a:schemeClr val="accent2"/>
                </a:solidFill>
              </a:rPr>
              <a:t>1%</a:t>
            </a:r>
            <a:endParaRPr lang="en-US" sz="3600" dirty="0"/>
          </a:p>
        </p:txBody>
      </p:sp>
      <p:sp>
        <p:nvSpPr>
          <p:cNvPr id="10" name="Text 7"/>
          <p:cNvSpPr txBox="1"/>
          <p:nvPr/>
        </p:nvSpPr>
        <p:spPr>
          <a:xfrm>
            <a:off x="6172200" y="2240280"/>
            <a:ext cx="2651760" cy="411480"/>
          </a:xfrm>
          <a:prstGeom prst="rect">
            <a:avLst/>
          </a:prstGeom>
          <a:noFill/>
          <a:ln/>
        </p:spPr>
        <p:txBody>
          <a:bodyPr wrap="square" lIns="0" tIns="0" rIns="0" bIns="0" rtlCol="0" anchor="ctr"/>
          <a:lstStyle/>
          <a:p>
            <a:pPr algn="ctr" indent="0" marL="0">
              <a:buNone/>
            </a:pPr>
            <a:r>
              <a:rPr lang="en-US" sz="1500" b="1" dirty="0">
                <a:solidFill>
                  <a:schemeClr val="tx1"/>
                </a:solidFill>
              </a:rPr>
              <a:t>Zinc Pyrithione</a:t>
            </a:r>
            <a:endParaRPr lang="en-US" sz="1500" dirty="0"/>
          </a:p>
        </p:txBody>
      </p:sp>
      <p:sp>
        <p:nvSpPr>
          <p:cNvPr id="11" name="Text 8"/>
          <p:cNvSpPr txBox="1"/>
          <p:nvPr/>
        </p:nvSpPr>
        <p:spPr>
          <a:xfrm>
            <a:off x="6309360" y="2697480"/>
            <a:ext cx="2377440" cy="1280160"/>
          </a:xfrm>
          <a:prstGeom prst="rect">
            <a:avLst/>
          </a:prstGeom>
          <a:noFill/>
          <a:ln/>
        </p:spPr>
        <p:txBody>
          <a:bodyPr wrap="square" lIns="0" tIns="0" rIns="0" bIns="0" rtlCol="0" anchor="t"/>
          <a:lstStyle/>
          <a:p>
            <a:pPr rtl="1" algn="ctr" indent="0" marL="0">
              <a:buNone/>
            </a:pPr>
            <a:r>
              <a:rPr lang="en-US" sz="1300" dirty="0">
                <a:solidFill>
                  <a:schemeClr val="accent5"/>
                </a:solidFill>
              </a:rPr>
              <a:t>مضاد فطري مرجعي في شامبوهات القشرة</a:t>
            </a:r>
            <a:endParaRPr lang="en-US" sz="1300" dirty="0"/>
          </a:p>
        </p:txBody>
      </p:sp>
      <p:sp>
        <p:nvSpPr>
          <p:cNvPr id="12" name="Shape 9"/>
          <p:cNvSpPr/>
          <p:nvPr/>
        </p:nvSpPr>
        <p:spPr>
          <a:xfrm>
            <a:off x="3360420" y="1325880"/>
            <a:ext cx="2651760" cy="2743200"/>
          </a:xfrm>
          <a:prstGeom prst="roundRect">
            <a:avLst>
              <a:gd name="adj" fmla="val 4138"/>
            </a:avLst>
          </a:prstGeom>
          <a:solidFill>
            <a:schemeClr val="accent2">
              <a:alpha val="10000"/>
            </a:schemeClr>
          </a:solidFill>
          <a:ln w="9525">
            <a:solidFill>
              <a:schemeClr val="accent2">
                <a:alpha val="25000"/>
              </a:schemeClr>
            </a:solidFill>
            <a:prstDash val="solid"/>
          </a:ln>
        </p:spPr>
      </p:sp>
      <p:sp>
        <p:nvSpPr>
          <p:cNvPr id="13" name="Text 10"/>
          <p:cNvSpPr txBox="1"/>
          <p:nvPr/>
        </p:nvSpPr>
        <p:spPr>
          <a:xfrm>
            <a:off x="3360420" y="1417320"/>
            <a:ext cx="2651760" cy="822960"/>
          </a:xfrm>
          <a:prstGeom prst="rect">
            <a:avLst/>
          </a:prstGeom>
          <a:noFill/>
          <a:ln/>
        </p:spPr>
        <p:txBody>
          <a:bodyPr wrap="square" lIns="0" tIns="0" rIns="0" bIns="0" rtlCol="0" anchor="ctr"/>
          <a:lstStyle/>
          <a:p>
            <a:pPr algn="ctr" indent="0" marL="0">
              <a:buNone/>
            </a:pPr>
            <a:r>
              <a:rPr lang="en-US" sz="3600" b="1" dirty="0">
                <a:solidFill>
                  <a:schemeClr val="accent2"/>
                </a:solidFill>
              </a:rPr>
              <a:t>0.5%</a:t>
            </a:r>
            <a:endParaRPr lang="en-US" sz="3600" dirty="0"/>
          </a:p>
        </p:txBody>
      </p:sp>
      <p:sp>
        <p:nvSpPr>
          <p:cNvPr id="14" name="Text 11"/>
          <p:cNvSpPr txBox="1"/>
          <p:nvPr/>
        </p:nvSpPr>
        <p:spPr>
          <a:xfrm>
            <a:off x="3360420" y="2240280"/>
            <a:ext cx="2651760" cy="411480"/>
          </a:xfrm>
          <a:prstGeom prst="rect">
            <a:avLst/>
          </a:prstGeom>
          <a:noFill/>
          <a:ln/>
        </p:spPr>
        <p:txBody>
          <a:bodyPr wrap="square" lIns="0" tIns="0" rIns="0" bIns="0" rtlCol="0" anchor="ctr"/>
          <a:lstStyle/>
          <a:p>
            <a:pPr algn="ctr" indent="0" marL="0">
              <a:buNone/>
            </a:pPr>
            <a:r>
              <a:rPr lang="en-US" sz="1500" b="1" dirty="0">
                <a:solidFill>
                  <a:schemeClr val="tx1"/>
                </a:solidFill>
              </a:rPr>
              <a:t>Selenium Sulfide</a:t>
            </a:r>
            <a:endParaRPr lang="en-US" sz="1500" dirty="0"/>
          </a:p>
        </p:txBody>
      </p:sp>
      <p:sp>
        <p:nvSpPr>
          <p:cNvPr id="15" name="Text 12"/>
          <p:cNvSpPr txBox="1"/>
          <p:nvPr/>
        </p:nvSpPr>
        <p:spPr>
          <a:xfrm>
            <a:off x="3497580" y="2697480"/>
            <a:ext cx="2377440" cy="1280160"/>
          </a:xfrm>
          <a:prstGeom prst="rect">
            <a:avLst/>
          </a:prstGeom>
          <a:noFill/>
          <a:ln/>
        </p:spPr>
        <p:txBody>
          <a:bodyPr wrap="square" lIns="0" tIns="0" rIns="0" bIns="0" rtlCol="0" anchor="t"/>
          <a:lstStyle/>
          <a:p>
            <a:pPr rtl="1" algn="ctr" indent="0" marL="0">
              <a:buNone/>
            </a:pPr>
            <a:r>
              <a:rPr lang="en-US" sz="1300" dirty="0">
                <a:solidFill>
                  <a:schemeClr val="accent5"/>
                </a:solidFill>
              </a:rPr>
              <a:t>بيبطّأ التجدد الزايد لخلايا فروة الراس</a:t>
            </a:r>
            <a:endParaRPr lang="en-US" sz="1300" dirty="0"/>
          </a:p>
        </p:txBody>
      </p:sp>
      <p:sp>
        <p:nvSpPr>
          <p:cNvPr id="16" name="Shape 13"/>
          <p:cNvSpPr/>
          <p:nvPr/>
        </p:nvSpPr>
        <p:spPr>
          <a:xfrm>
            <a:off x="548640" y="1325880"/>
            <a:ext cx="2651760" cy="2743200"/>
          </a:xfrm>
          <a:prstGeom prst="roundRect">
            <a:avLst>
              <a:gd name="adj" fmla="val 4138"/>
            </a:avLst>
          </a:prstGeom>
          <a:solidFill>
            <a:schemeClr val="accent2">
              <a:alpha val="10000"/>
            </a:schemeClr>
          </a:solidFill>
          <a:ln w="9525">
            <a:solidFill>
              <a:schemeClr val="accent2">
                <a:alpha val="25000"/>
              </a:schemeClr>
            </a:solidFill>
            <a:prstDash val="solid"/>
          </a:ln>
        </p:spPr>
      </p:sp>
      <p:sp>
        <p:nvSpPr>
          <p:cNvPr id="17" name="Text 14"/>
          <p:cNvSpPr txBox="1"/>
          <p:nvPr/>
        </p:nvSpPr>
        <p:spPr>
          <a:xfrm>
            <a:off x="548640" y="1417320"/>
            <a:ext cx="2651760" cy="822960"/>
          </a:xfrm>
          <a:prstGeom prst="rect">
            <a:avLst/>
          </a:prstGeom>
          <a:noFill/>
          <a:ln/>
        </p:spPr>
        <p:txBody>
          <a:bodyPr wrap="square" lIns="0" tIns="0" rIns="0" bIns="0" rtlCol="0" anchor="ctr"/>
          <a:lstStyle/>
          <a:p>
            <a:pPr algn="ctr" indent="0" marL="0">
              <a:buNone/>
            </a:pPr>
            <a:r>
              <a:rPr lang="en-US" sz="3600" b="1" dirty="0">
                <a:solidFill>
                  <a:schemeClr val="accent2"/>
                </a:solidFill>
              </a:rPr>
              <a:t>2%</a:t>
            </a:r>
            <a:endParaRPr lang="en-US" sz="3600" dirty="0"/>
          </a:p>
        </p:txBody>
      </p:sp>
      <p:sp>
        <p:nvSpPr>
          <p:cNvPr id="18" name="Text 15"/>
          <p:cNvSpPr txBox="1"/>
          <p:nvPr/>
        </p:nvSpPr>
        <p:spPr>
          <a:xfrm>
            <a:off x="548640" y="2240280"/>
            <a:ext cx="2651760" cy="411480"/>
          </a:xfrm>
          <a:prstGeom prst="rect">
            <a:avLst/>
          </a:prstGeom>
          <a:noFill/>
          <a:ln/>
        </p:spPr>
        <p:txBody>
          <a:bodyPr wrap="square" lIns="0" tIns="0" rIns="0" bIns="0" rtlCol="0" anchor="ctr"/>
          <a:lstStyle/>
          <a:p>
            <a:pPr algn="ctr" indent="0" marL="0">
              <a:buNone/>
            </a:pPr>
            <a:r>
              <a:rPr lang="en-US" sz="1500" b="1" dirty="0">
                <a:solidFill>
                  <a:schemeClr val="tx1"/>
                </a:solidFill>
              </a:rPr>
              <a:t>Salicylic Acid</a:t>
            </a:r>
            <a:endParaRPr lang="en-US" sz="1500" dirty="0"/>
          </a:p>
        </p:txBody>
      </p:sp>
      <p:sp>
        <p:nvSpPr>
          <p:cNvPr id="19" name="Text 16"/>
          <p:cNvSpPr txBox="1"/>
          <p:nvPr/>
        </p:nvSpPr>
        <p:spPr>
          <a:xfrm>
            <a:off x="685800" y="2697480"/>
            <a:ext cx="2377440" cy="1280160"/>
          </a:xfrm>
          <a:prstGeom prst="rect">
            <a:avLst/>
          </a:prstGeom>
          <a:noFill/>
          <a:ln/>
        </p:spPr>
        <p:txBody>
          <a:bodyPr wrap="square" lIns="0" tIns="0" rIns="0" bIns="0" rtlCol="0" anchor="t"/>
          <a:lstStyle/>
          <a:p>
            <a:pPr rtl="1" algn="ctr" indent="0" marL="0">
              <a:buNone/>
            </a:pPr>
            <a:r>
              <a:rPr lang="en-US" sz="1300" dirty="0">
                <a:solidFill>
                  <a:schemeClr val="accent5"/>
                </a:solidFill>
              </a:rPr>
              <a:t>مذيب للقشور، بيساعد المواد الفعالة توصل للجلد</a:t>
            </a:r>
            <a:endParaRPr lang="en-US" sz="1300" dirty="0"/>
          </a:p>
        </p:txBody>
      </p:sp>
      <p:sp>
        <p:nvSpPr>
          <p:cNvPr id="20" name="Shape 17"/>
          <p:cNvSpPr/>
          <p:nvPr/>
        </p:nvSpPr>
        <p:spPr>
          <a:xfrm>
            <a:off x="6172200" y="4297680"/>
            <a:ext cx="5440680" cy="1783080"/>
          </a:xfrm>
          <a:prstGeom prst="roundRect">
            <a:avLst>
              <a:gd name="adj" fmla="val 6154"/>
            </a:avLst>
          </a:prstGeom>
          <a:solidFill>
            <a:schemeClr val="accent2">
              <a:alpha val="8000"/>
            </a:schemeClr>
          </a:solidFill>
          <a:ln w="9525">
            <a:solidFill>
              <a:schemeClr val="accent2">
                <a:alpha val="25000"/>
              </a:schemeClr>
            </a:solidFill>
            <a:prstDash val="solid"/>
          </a:ln>
        </p:spPr>
      </p:sp>
      <p:sp>
        <p:nvSpPr>
          <p:cNvPr id="21" name="Shape 18"/>
          <p:cNvSpPr/>
          <p:nvPr/>
        </p:nvSpPr>
        <p:spPr>
          <a:xfrm>
            <a:off x="10991088" y="4462272"/>
            <a:ext cx="457200" cy="457200"/>
          </a:xfrm>
          <a:prstGeom prst="ellipse">
            <a:avLst/>
          </a:prstGeom>
          <a:solidFill>
            <a:schemeClr val="accent2"/>
          </a:solidFill>
          <a:ln w="12700">
            <a:solidFill>
              <a:schemeClr val="accent2"/>
            </a:solidFill>
            <a:prstDash val="solid"/>
          </a:ln>
        </p:spPr>
      </p:sp>
      <p:sp>
        <p:nvSpPr>
          <p:cNvPr id="22" name="Text 19"/>
          <p:cNvSpPr txBox="1"/>
          <p:nvPr/>
        </p:nvSpPr>
        <p:spPr>
          <a:xfrm>
            <a:off x="10991088" y="4462272"/>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a:t>
            </a:r>
            <a:endParaRPr lang="en-US" sz="1400" dirty="0"/>
          </a:p>
        </p:txBody>
      </p:sp>
      <p:sp>
        <p:nvSpPr>
          <p:cNvPr id="23" name="Text 20"/>
          <p:cNvSpPr txBox="1"/>
          <p:nvPr/>
        </p:nvSpPr>
        <p:spPr>
          <a:xfrm>
            <a:off x="6309360" y="4407408"/>
            <a:ext cx="4572000" cy="548640"/>
          </a:xfrm>
          <a:prstGeom prst="rect">
            <a:avLst/>
          </a:prstGeom>
          <a:noFill/>
          <a:ln/>
        </p:spPr>
        <p:txBody>
          <a:bodyPr wrap="square" lIns="0" tIns="0" rIns="0" bIns="0" rtlCol="0" anchor="ctr"/>
          <a:lstStyle/>
          <a:p>
            <a:pPr rtl="1" algn="r" indent="0" marL="0">
              <a:buNone/>
            </a:pPr>
            <a:r>
              <a:rPr lang="en-US" sz="1600" b="1" dirty="0">
                <a:solidFill>
                  <a:schemeClr val="accent2"/>
                </a:solidFill>
              </a:rPr>
              <a:t>زيوت طبيعية مضادة للفطريات</a:t>
            </a:r>
            <a:endParaRPr lang="en-US" sz="1600" dirty="0"/>
          </a:p>
        </p:txBody>
      </p:sp>
      <p:sp>
        <p:nvSpPr>
          <p:cNvPr id="24" name="Text 21"/>
          <p:cNvSpPr txBox="1"/>
          <p:nvPr/>
        </p:nvSpPr>
        <p:spPr>
          <a:xfrm>
            <a:off x="6355080" y="5010912"/>
            <a:ext cx="5074920" cy="978408"/>
          </a:xfrm>
          <a:prstGeom prst="rect">
            <a:avLst/>
          </a:prstGeom>
          <a:noFill/>
          <a:ln/>
        </p:spPr>
        <p:txBody>
          <a:bodyPr wrap="square" lIns="0" tIns="0" rIns="0" bIns="0" rtlCol="0" anchor="t"/>
          <a:lstStyle/>
          <a:p>
            <a:pPr rtl="1" algn="r" indent="0" marL="0">
              <a:spcAft>
                <a:spcPts val="400"/>
              </a:spcAft>
              <a:buNone/>
            </a:pPr>
            <a:r>
              <a:rPr lang="en-US" sz="1400" dirty="0">
                <a:solidFill>
                  <a:schemeClr val="tx1"/>
                </a:solidFill>
              </a:rPr>
              <a:t>Tea tree oil 1% · Neem oil 3% · Ginger extract</a:t>
            </a:r>
            <a:endParaRPr lang="en-US" sz="1400" dirty="0"/>
          </a:p>
        </p:txBody>
      </p:sp>
      <p:sp>
        <p:nvSpPr>
          <p:cNvPr id="25" name="Shape 22"/>
          <p:cNvSpPr/>
          <p:nvPr/>
        </p:nvSpPr>
        <p:spPr>
          <a:xfrm>
            <a:off x="548640" y="4297680"/>
            <a:ext cx="5440680" cy="1783080"/>
          </a:xfrm>
          <a:prstGeom prst="roundRect">
            <a:avLst>
              <a:gd name="adj" fmla="val 6154"/>
            </a:avLst>
          </a:prstGeom>
          <a:solidFill>
            <a:schemeClr val="accent2">
              <a:alpha val="8000"/>
            </a:schemeClr>
          </a:solidFill>
          <a:ln w="9525">
            <a:solidFill>
              <a:schemeClr val="accent2">
                <a:alpha val="25000"/>
              </a:schemeClr>
            </a:solidFill>
            <a:prstDash val="solid"/>
          </a:ln>
        </p:spPr>
      </p:sp>
      <p:sp>
        <p:nvSpPr>
          <p:cNvPr id="26" name="Shape 23"/>
          <p:cNvSpPr/>
          <p:nvPr/>
        </p:nvSpPr>
        <p:spPr>
          <a:xfrm>
            <a:off x="5367528" y="4462272"/>
            <a:ext cx="457200" cy="457200"/>
          </a:xfrm>
          <a:prstGeom prst="ellipse">
            <a:avLst/>
          </a:prstGeom>
          <a:solidFill>
            <a:schemeClr val="accent2"/>
          </a:solidFill>
          <a:ln w="12700">
            <a:solidFill>
              <a:schemeClr val="accent2"/>
            </a:solidFill>
            <a:prstDash val="solid"/>
          </a:ln>
        </p:spPr>
      </p:sp>
      <p:sp>
        <p:nvSpPr>
          <p:cNvPr id="27" name="Text 24"/>
          <p:cNvSpPr txBox="1"/>
          <p:nvPr/>
        </p:nvSpPr>
        <p:spPr>
          <a:xfrm>
            <a:off x="5367528" y="4462272"/>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a:t>
            </a:r>
            <a:endParaRPr lang="en-US" sz="1400" dirty="0"/>
          </a:p>
        </p:txBody>
      </p:sp>
      <p:sp>
        <p:nvSpPr>
          <p:cNvPr id="28" name="Text 25"/>
          <p:cNvSpPr txBox="1"/>
          <p:nvPr/>
        </p:nvSpPr>
        <p:spPr>
          <a:xfrm>
            <a:off x="685800" y="4407408"/>
            <a:ext cx="4572000" cy="548640"/>
          </a:xfrm>
          <a:prstGeom prst="rect">
            <a:avLst/>
          </a:prstGeom>
          <a:noFill/>
          <a:ln/>
        </p:spPr>
        <p:txBody>
          <a:bodyPr wrap="square" lIns="0" tIns="0" rIns="0" bIns="0" rtlCol="0" anchor="ctr"/>
          <a:lstStyle/>
          <a:p>
            <a:pPr rtl="1" algn="r" indent="0" marL="0">
              <a:buNone/>
            </a:pPr>
            <a:r>
              <a:rPr lang="en-US" sz="1600" b="1" dirty="0">
                <a:solidFill>
                  <a:schemeClr val="accent2"/>
                </a:solidFill>
              </a:rPr>
              <a:t>ترطيب وتهدئة</a:t>
            </a:r>
            <a:endParaRPr lang="en-US" sz="1600" dirty="0"/>
          </a:p>
        </p:txBody>
      </p:sp>
      <p:sp>
        <p:nvSpPr>
          <p:cNvPr id="29" name="Text 26"/>
          <p:cNvSpPr txBox="1"/>
          <p:nvPr/>
        </p:nvSpPr>
        <p:spPr>
          <a:xfrm>
            <a:off x="731520" y="5010912"/>
            <a:ext cx="5074920" cy="978408"/>
          </a:xfrm>
          <a:prstGeom prst="rect">
            <a:avLst/>
          </a:prstGeom>
          <a:noFill/>
          <a:ln/>
        </p:spPr>
        <p:txBody>
          <a:bodyPr wrap="square" lIns="0" tIns="0" rIns="0" bIns="0" rtlCol="0" anchor="t"/>
          <a:lstStyle/>
          <a:p>
            <a:pPr rtl="1" algn="r" indent="0" marL="0">
              <a:spcAft>
                <a:spcPts val="400"/>
              </a:spcAft>
              <a:buNone/>
            </a:pPr>
            <a:r>
              <a:rPr lang="en-US" sz="1400" dirty="0">
                <a:solidFill>
                  <a:schemeClr val="tx1"/>
                </a:solidFill>
              </a:rPr>
              <a:t>Panthenol · Jojoba · Squalane · Castor oil · Menthol · Peppermint</a:t>
            </a:r>
            <a:endParaRPr lang="en-US" sz="1400" dirty="0"/>
          </a:p>
        </p:txBody>
      </p:sp>
      <p:sp>
        <p:nvSpPr>
          <p:cNvPr id="25" name="Slide Number Placeholder 0"/>
          <p:cNvSpPr>
            <a:spLocks noGrp="1"/>
          </p:cNvSpPr>
          <p:nvPr>
            <p:ph type="sldNum" sz="quarter" idx="4294967295"/>
          </p:nvPr>
        </p:nvSpPr>
        <p:spPr>
          <a:xfrm>
            <a:off x="5806440" y="630936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ct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2" type="title" hasCustomPrompt="1"/>
          </p:nvPr>
        </p:nvSpPr>
        <p:spPr>
          <a:xfrm>
            <a:off x="548640" y="320040"/>
            <a:ext cx="11064240" cy="777240"/>
          </a:xfrm>
          <a:prstGeom prst="rect">
            <a:avLst/>
          </a:prstGeom>
          <a:noFill/>
          <a:ln/>
        </p:spPr>
        <p:txBody>
          <a:bodyPr wrap="square" rtlCol="0" anchor="ctr"/>
          <a:lstStyle/>
          <a:p>
            <a:pPr rtl="1" algn="r" indent="0" marL="0">
              <a:buNone/>
            </a:pPr>
            <a:r>
              <a:rPr lang="en-US" sz="3200" b="1" dirty="0">
                <a:solidFill>
                  <a:schemeClr val="tx2"/>
                </a:solidFill>
              </a:rPr>
              <a:t>Octo — الدليل العلمي على المكونات</a:t>
            </a:r>
            <a:endParaRPr lang="en-US" sz="3200" dirty="0"/>
          </a:p>
        </p:txBody>
      </p:sp>
      <p:sp>
        <p:nvSpPr>
          <p:cNvPr id="4" name="Shape 1"/>
          <p:cNvSpPr/>
          <p:nvPr/>
        </p:nvSpPr>
        <p:spPr>
          <a:xfrm>
            <a:off x="7863840" y="1325880"/>
            <a:ext cx="3749040" cy="2651760"/>
          </a:xfrm>
          <a:prstGeom prst="roundRect">
            <a:avLst>
              <a:gd name="adj" fmla="val 4138"/>
            </a:avLst>
          </a:prstGeom>
          <a:solidFill>
            <a:schemeClr val="accent2">
              <a:alpha val="8000"/>
            </a:schemeClr>
          </a:solidFill>
          <a:ln w="9525">
            <a:solidFill>
              <a:schemeClr val="accent2">
                <a:alpha val="25000"/>
              </a:schemeClr>
            </a:solidFill>
            <a:prstDash val="solid"/>
          </a:ln>
        </p:spPr>
      </p:sp>
      <p:sp>
        <p:nvSpPr>
          <p:cNvPr id="5" name="Text 2"/>
          <p:cNvSpPr txBox="1"/>
          <p:nvPr/>
        </p:nvSpPr>
        <p:spPr>
          <a:xfrm>
            <a:off x="8046720" y="1435608"/>
            <a:ext cx="3383280" cy="365760"/>
          </a:xfrm>
          <a:prstGeom prst="rect">
            <a:avLst/>
          </a:prstGeom>
          <a:noFill/>
          <a:ln/>
        </p:spPr>
        <p:txBody>
          <a:bodyPr wrap="square" lIns="0" tIns="0" rIns="0" bIns="0" rtlCol="0" anchor="ctr"/>
          <a:lstStyle/>
          <a:p>
            <a:pPr algn="l" indent="0" marL="0">
              <a:buNone/>
            </a:pPr>
            <a:r>
              <a:rPr lang="en-US" sz="1400" b="1" dirty="0">
                <a:solidFill>
                  <a:schemeClr val="accent2"/>
                </a:solidFill>
              </a:rPr>
              <a:t>Schmidt-Rose, 2011</a:t>
            </a:r>
            <a:endParaRPr lang="en-US" sz="1400" dirty="0"/>
          </a:p>
        </p:txBody>
      </p:sp>
      <p:sp>
        <p:nvSpPr>
          <p:cNvPr id="6" name="Text 3"/>
          <p:cNvSpPr txBox="1"/>
          <p:nvPr/>
        </p:nvSpPr>
        <p:spPr>
          <a:xfrm>
            <a:off x="8046720" y="1828800"/>
            <a:ext cx="3383280" cy="685800"/>
          </a:xfrm>
          <a:prstGeom prst="rect">
            <a:avLst/>
          </a:prstGeom>
          <a:noFill/>
          <a:ln/>
        </p:spPr>
        <p:txBody>
          <a:bodyPr wrap="square" lIns="0" tIns="0" rIns="0" bIns="0" rtlCol="0" anchor="t"/>
          <a:lstStyle/>
          <a:p>
            <a:pPr rtl="1" algn="r" indent="0" marL="0">
              <a:buNone/>
            </a:pPr>
            <a:r>
              <a:rPr lang="en-US" sz="1300" dirty="0">
                <a:solidFill>
                  <a:schemeClr val="accent5"/>
                </a:solidFill>
              </a:rPr>
              <a:t>قشرة متوسطة لشديدة · مقارنة نص الراس بالنص التاني</a:t>
            </a:r>
            <a:endParaRPr lang="en-US" sz="1300" dirty="0"/>
          </a:p>
        </p:txBody>
      </p:sp>
      <p:sp>
        <p:nvSpPr>
          <p:cNvPr id="7" name="Text 4"/>
          <p:cNvSpPr txBox="1"/>
          <p:nvPr/>
        </p:nvSpPr>
        <p:spPr>
          <a:xfrm>
            <a:off x="8046720" y="2514600"/>
            <a:ext cx="3383280" cy="1371600"/>
          </a:xfrm>
          <a:prstGeom prst="rect">
            <a:avLst/>
          </a:prstGeom>
          <a:noFill/>
          <a:ln/>
        </p:spPr>
        <p:txBody>
          <a:bodyPr wrap="square" lIns="0" tIns="0" rIns="0" bIns="0" rtlCol="0" anchor="t"/>
          <a:lstStyle/>
          <a:p>
            <a:pPr rtl="1" algn="r" indent="0" marL="0">
              <a:buNone/>
            </a:pPr>
            <a:r>
              <a:rPr lang="en-US" sz="1400" b="1" dirty="0">
                <a:solidFill>
                  <a:schemeClr val="tx1"/>
                </a:solidFill>
              </a:rPr>
              <a:t>شامبو البيروكتون أولامين قلّل القشرة زي ZPT 1%، و90% حسّوا الحكة قلّت بعد 4 أسابيع</a:t>
            </a:r>
            <a:endParaRPr lang="en-US" sz="1400" dirty="0"/>
          </a:p>
        </p:txBody>
      </p:sp>
      <p:sp>
        <p:nvSpPr>
          <p:cNvPr id="8" name="Shape 5"/>
          <p:cNvSpPr/>
          <p:nvPr/>
        </p:nvSpPr>
        <p:spPr>
          <a:xfrm>
            <a:off x="4023360" y="1325880"/>
            <a:ext cx="3657600" cy="2651760"/>
          </a:xfrm>
          <a:prstGeom prst="roundRect">
            <a:avLst>
              <a:gd name="adj" fmla="val 4138"/>
            </a:avLst>
          </a:prstGeom>
          <a:solidFill>
            <a:schemeClr val="accent2">
              <a:alpha val="8000"/>
            </a:schemeClr>
          </a:solidFill>
          <a:ln w="9525">
            <a:solidFill>
              <a:schemeClr val="accent2">
                <a:alpha val="25000"/>
              </a:schemeClr>
            </a:solidFill>
            <a:prstDash val="solid"/>
          </a:ln>
        </p:spPr>
      </p:sp>
      <p:sp>
        <p:nvSpPr>
          <p:cNvPr id="9" name="Text 6"/>
          <p:cNvSpPr txBox="1"/>
          <p:nvPr/>
        </p:nvSpPr>
        <p:spPr>
          <a:xfrm>
            <a:off x="4206240" y="1435608"/>
            <a:ext cx="3291840" cy="365760"/>
          </a:xfrm>
          <a:prstGeom prst="rect">
            <a:avLst/>
          </a:prstGeom>
          <a:noFill/>
          <a:ln/>
        </p:spPr>
        <p:txBody>
          <a:bodyPr wrap="square" lIns="0" tIns="0" rIns="0" bIns="0" rtlCol="0" anchor="ctr"/>
          <a:lstStyle/>
          <a:p>
            <a:pPr algn="l" indent="0" marL="0">
              <a:buNone/>
            </a:pPr>
            <a:r>
              <a:rPr lang="en-US" sz="1400" b="1" dirty="0">
                <a:solidFill>
                  <a:schemeClr val="accent2"/>
                </a:solidFill>
              </a:rPr>
              <a:t>Danby, 1993 · RCT</a:t>
            </a:r>
            <a:endParaRPr lang="en-US" sz="1400" dirty="0"/>
          </a:p>
        </p:txBody>
      </p:sp>
      <p:sp>
        <p:nvSpPr>
          <p:cNvPr id="10" name="Text 7"/>
          <p:cNvSpPr txBox="1"/>
          <p:nvPr/>
        </p:nvSpPr>
        <p:spPr>
          <a:xfrm>
            <a:off x="4206240" y="1828800"/>
            <a:ext cx="3291840" cy="685800"/>
          </a:xfrm>
          <a:prstGeom prst="rect">
            <a:avLst/>
          </a:prstGeom>
          <a:noFill/>
          <a:ln/>
        </p:spPr>
        <p:txBody>
          <a:bodyPr wrap="square" lIns="0" tIns="0" rIns="0" bIns="0" rtlCol="0" anchor="t"/>
          <a:lstStyle/>
          <a:p>
            <a:pPr rtl="1" algn="r" indent="0" marL="0">
              <a:buNone/>
            </a:pPr>
            <a:r>
              <a:rPr lang="en-US" sz="1300" dirty="0">
                <a:solidFill>
                  <a:schemeClr val="accent5"/>
                </a:solidFill>
              </a:rPr>
              <a:t>246 مريض قشرة متوسطة لشديدة</a:t>
            </a:r>
            <a:endParaRPr lang="en-US" sz="1300" dirty="0"/>
          </a:p>
        </p:txBody>
      </p:sp>
      <p:sp>
        <p:nvSpPr>
          <p:cNvPr id="11" name="Text 8"/>
          <p:cNvSpPr txBox="1"/>
          <p:nvPr/>
        </p:nvSpPr>
        <p:spPr>
          <a:xfrm>
            <a:off x="4206240" y="2514600"/>
            <a:ext cx="3291840" cy="1371600"/>
          </a:xfrm>
          <a:prstGeom prst="rect">
            <a:avLst/>
          </a:prstGeom>
          <a:noFill/>
          <a:ln/>
        </p:spPr>
        <p:txBody>
          <a:bodyPr wrap="square" lIns="0" tIns="0" rIns="0" bIns="0" rtlCol="0" anchor="t"/>
          <a:lstStyle/>
          <a:p>
            <a:pPr rtl="1" algn="r" indent="0" marL="0">
              <a:buNone/>
            </a:pPr>
            <a:r>
              <a:rPr lang="en-US" sz="1400" b="1" dirty="0">
                <a:solidFill>
                  <a:schemeClr val="tx1"/>
                </a:solidFill>
              </a:rPr>
              <a:t>سيلينيوم سلفيد أحسن بوضوح من الدواء الوهمي في كل الزيارات، مع تقليل الحكة</a:t>
            </a:r>
            <a:endParaRPr lang="en-US" sz="1400" dirty="0"/>
          </a:p>
        </p:txBody>
      </p:sp>
      <p:sp>
        <p:nvSpPr>
          <p:cNvPr id="12" name="Shape 9"/>
          <p:cNvSpPr/>
          <p:nvPr/>
        </p:nvSpPr>
        <p:spPr>
          <a:xfrm>
            <a:off x="548640" y="1325880"/>
            <a:ext cx="3291840" cy="2651760"/>
          </a:xfrm>
          <a:prstGeom prst="roundRect">
            <a:avLst>
              <a:gd name="adj" fmla="val 4138"/>
            </a:avLst>
          </a:prstGeom>
          <a:solidFill>
            <a:schemeClr val="accent2">
              <a:alpha val="8000"/>
            </a:schemeClr>
          </a:solidFill>
          <a:ln w="9525">
            <a:solidFill>
              <a:schemeClr val="accent2">
                <a:alpha val="25000"/>
              </a:schemeClr>
            </a:solidFill>
            <a:prstDash val="solid"/>
          </a:ln>
        </p:spPr>
      </p:sp>
      <p:sp>
        <p:nvSpPr>
          <p:cNvPr id="13" name="Text 10"/>
          <p:cNvSpPr txBox="1"/>
          <p:nvPr/>
        </p:nvSpPr>
        <p:spPr>
          <a:xfrm>
            <a:off x="731520" y="1435608"/>
            <a:ext cx="2926080" cy="365760"/>
          </a:xfrm>
          <a:prstGeom prst="rect">
            <a:avLst/>
          </a:prstGeom>
          <a:noFill/>
          <a:ln/>
        </p:spPr>
        <p:txBody>
          <a:bodyPr wrap="square" lIns="0" tIns="0" rIns="0" bIns="0" rtlCol="0" anchor="ctr"/>
          <a:lstStyle/>
          <a:p>
            <a:pPr algn="l" indent="0" marL="0">
              <a:buNone/>
            </a:pPr>
            <a:r>
              <a:rPr lang="en-US" sz="1400" b="1" dirty="0">
                <a:solidFill>
                  <a:schemeClr val="accent2"/>
                </a:solidFill>
              </a:rPr>
              <a:t>Satchell, 2002 · RCT</a:t>
            </a:r>
            <a:endParaRPr lang="en-US" sz="1400" dirty="0"/>
          </a:p>
        </p:txBody>
      </p:sp>
      <p:sp>
        <p:nvSpPr>
          <p:cNvPr id="14" name="Text 11"/>
          <p:cNvSpPr txBox="1"/>
          <p:nvPr/>
        </p:nvSpPr>
        <p:spPr>
          <a:xfrm>
            <a:off x="731520" y="1828800"/>
            <a:ext cx="2926080" cy="685800"/>
          </a:xfrm>
          <a:prstGeom prst="rect">
            <a:avLst/>
          </a:prstGeom>
          <a:noFill/>
          <a:ln/>
        </p:spPr>
        <p:txBody>
          <a:bodyPr wrap="square" lIns="0" tIns="0" rIns="0" bIns="0" rtlCol="0" anchor="t"/>
          <a:lstStyle/>
          <a:p>
            <a:pPr rtl="1" algn="r" indent="0" marL="0">
              <a:buNone/>
            </a:pPr>
            <a:r>
              <a:rPr lang="en-US" sz="1300" dirty="0">
                <a:solidFill>
                  <a:schemeClr val="accent5"/>
                </a:solidFill>
              </a:rPr>
              <a:t>126 مريض · شامبو شجرة شاي 5% · 4 أسابيع</a:t>
            </a:r>
            <a:endParaRPr lang="en-US" sz="1300" dirty="0"/>
          </a:p>
        </p:txBody>
      </p:sp>
      <p:sp>
        <p:nvSpPr>
          <p:cNvPr id="15" name="Text 12"/>
          <p:cNvSpPr txBox="1"/>
          <p:nvPr/>
        </p:nvSpPr>
        <p:spPr>
          <a:xfrm>
            <a:off x="731520" y="2514600"/>
            <a:ext cx="2926080" cy="1371600"/>
          </a:xfrm>
          <a:prstGeom prst="rect">
            <a:avLst/>
          </a:prstGeom>
          <a:noFill/>
          <a:ln/>
        </p:spPr>
        <p:txBody>
          <a:bodyPr wrap="square" lIns="0" tIns="0" rIns="0" bIns="0" rtlCol="0" anchor="t"/>
          <a:lstStyle/>
          <a:p>
            <a:pPr rtl="1" algn="r" indent="0" marL="0">
              <a:buNone/>
            </a:pPr>
            <a:r>
              <a:rPr lang="en-US" sz="1400" b="1" dirty="0">
                <a:solidFill>
                  <a:schemeClr val="tx1"/>
                </a:solidFill>
              </a:rPr>
              <a:t>تحسّن 41% مقابل 11% على الدواء الوهمي</a:t>
            </a:r>
            <a:endParaRPr lang="en-US" sz="1400" dirty="0"/>
          </a:p>
        </p:txBody>
      </p:sp>
      <p:sp>
        <p:nvSpPr>
          <p:cNvPr id="16" name="Shape 13"/>
          <p:cNvSpPr/>
          <p:nvPr/>
        </p:nvSpPr>
        <p:spPr>
          <a:xfrm>
            <a:off x="548640" y="4206240"/>
            <a:ext cx="11064240" cy="1874520"/>
          </a:xfrm>
          <a:prstGeom prst="roundRect">
            <a:avLst>
              <a:gd name="adj" fmla="val 5854"/>
            </a:avLst>
          </a:prstGeom>
          <a:solidFill>
            <a:schemeClr val="accent2">
              <a:alpha val="7000"/>
            </a:schemeClr>
          </a:solidFill>
          <a:ln w="9525">
            <a:solidFill>
              <a:schemeClr val="accent2">
                <a:alpha val="25000"/>
              </a:schemeClr>
            </a:solidFill>
            <a:prstDash val="solid"/>
          </a:ln>
        </p:spPr>
      </p:sp>
      <p:sp>
        <p:nvSpPr>
          <p:cNvPr id="17" name="Text 14"/>
          <p:cNvSpPr txBox="1"/>
          <p:nvPr/>
        </p:nvSpPr>
        <p:spPr>
          <a:xfrm>
            <a:off x="731520" y="4297680"/>
            <a:ext cx="10698480" cy="1691640"/>
          </a:xfrm>
          <a:prstGeom prst="rect">
            <a:avLst/>
          </a:prstGeom>
          <a:noFill/>
          <a:ln/>
        </p:spPr>
        <p:txBody>
          <a:bodyPr wrap="square" lIns="0" tIns="0" rIns="0" bIns="0" rtlCol="0" anchor="ctr"/>
          <a:lstStyle/>
          <a:p>
            <a:pPr algn="r" indent="0" marL="0">
              <a:buNone/>
            </a:pPr>
            <a:r>
              <a:rPr lang="en-US" sz="1500" b="1" dirty="0">
                <a:solidFill>
                  <a:schemeClr val="accent2"/>
                </a:solidFill>
              </a:rPr>
              <a:t>بيانات المورّد عن Octopirox:  </a:t>
            </a:r>
            <a:endParaRPr lang="en-US" sz="1500" dirty="0"/>
          </a:p>
          <a:p>
            <a:pPr algn="r" indent="0" marL="0">
              <a:buNone/>
            </a:pPr>
            <a:r>
              <a:rPr lang="en-US" sz="1500" dirty="0">
                <a:solidFill>
                  <a:schemeClr val="tx1"/>
                </a:solidFill>
              </a:rPr>
              <a:t>تأثير سريع وفعالية عالية · نسبة رجوع قليلة لأنه بيلتصق بكيراتين الشعر وكمان مضاد للبكتيريا · لا يهيّج العين · امتصاصه الجهازي ضئيل جداً.</a:t>
            </a:r>
            <a:endParaRPr lang="en-US" sz="1500" dirty="0"/>
          </a:p>
        </p:txBody>
      </p:sp>
      <p:sp>
        <p:nvSpPr>
          <p:cNvPr id="25" name="Slide Number Placeholder 0"/>
          <p:cNvSpPr>
            <a:spLocks noGrp="1"/>
          </p:cNvSpPr>
          <p:nvPr>
            <p:ph type="sldNum" sz="quarter" idx="4294967295"/>
          </p:nvPr>
        </p:nvSpPr>
        <p:spPr>
          <a:xfrm>
            <a:off x="5806440" y="630936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ct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2" type="title" hasCustomPrompt="1"/>
          </p:nvPr>
        </p:nvSpPr>
        <p:spPr>
          <a:xfrm>
            <a:off x="548640" y="320040"/>
            <a:ext cx="11064240" cy="777240"/>
          </a:xfrm>
          <a:prstGeom prst="rect">
            <a:avLst/>
          </a:prstGeom>
          <a:noFill/>
          <a:ln/>
        </p:spPr>
        <p:txBody>
          <a:bodyPr wrap="square" rtlCol="0" anchor="ctr"/>
          <a:lstStyle/>
          <a:p>
            <a:pPr rtl="1" algn="r" indent="0" marL="0">
              <a:buNone/>
            </a:pPr>
            <a:r>
              <a:rPr lang="en-US" sz="3200" b="1" dirty="0">
                <a:solidFill>
                  <a:schemeClr val="tx2"/>
                </a:solidFill>
              </a:rPr>
              <a:t>Octo — الاستخدام وإزاي يتعرض</a:t>
            </a:r>
            <a:endParaRPr lang="en-US" sz="3200" dirty="0"/>
          </a:p>
        </p:txBody>
      </p:sp>
      <p:sp>
        <p:nvSpPr>
          <p:cNvPr id="4" name="Shape 1"/>
          <p:cNvSpPr/>
          <p:nvPr/>
        </p:nvSpPr>
        <p:spPr>
          <a:xfrm>
            <a:off x="548640" y="1325880"/>
            <a:ext cx="11064240" cy="1188720"/>
          </a:xfrm>
          <a:prstGeom prst="roundRect">
            <a:avLst>
              <a:gd name="adj" fmla="val 11538"/>
            </a:avLst>
          </a:prstGeom>
          <a:solidFill>
            <a:schemeClr val="accent2"/>
          </a:solidFill>
          <a:ln w="12700">
            <a:solidFill>
              <a:schemeClr val="accent2"/>
            </a:solidFill>
            <a:prstDash val="solid"/>
          </a:ln>
        </p:spPr>
      </p:sp>
      <p:sp>
        <p:nvSpPr>
          <p:cNvPr id="5" name="Text 2"/>
          <p:cNvSpPr txBox="1"/>
          <p:nvPr/>
        </p:nvSpPr>
        <p:spPr>
          <a:xfrm>
            <a:off x="822960" y="1325880"/>
            <a:ext cx="10515600" cy="1188720"/>
          </a:xfrm>
          <a:prstGeom prst="rect">
            <a:avLst/>
          </a:prstGeom>
          <a:noFill/>
          <a:ln/>
        </p:spPr>
        <p:txBody>
          <a:bodyPr wrap="square" lIns="0" tIns="0" rIns="0" bIns="0" rtlCol="0" anchor="ctr"/>
          <a:lstStyle/>
          <a:p>
            <a:pPr algn="r" indent="0" marL="0">
              <a:spcAft>
                <a:spcPts val="400"/>
              </a:spcAft>
              <a:buNone/>
            </a:pPr>
            <a:r>
              <a:rPr lang="en-US" sz="1200" b="1" dirty="0">
                <a:solidFill>
                  <a:schemeClr val="bg1"/>
                </a:solidFill>
              </a:rPr>
              <a:t>Key Selling Point</a:t>
            </a:r>
            <a:endParaRPr lang="en-US" sz="1200" dirty="0"/>
          </a:p>
          <a:p>
            <a:pPr rtl="1" algn="r" indent="0" marL="0">
              <a:spcAft>
                <a:spcPts val="400"/>
              </a:spcAft>
              <a:buNone/>
            </a:pPr>
            <a:r>
              <a:rPr lang="en-US" sz="1800" b="1" dirty="0">
                <a:solidFill>
                  <a:schemeClr val="bg1"/>
                </a:solidFill>
              </a:rPr>
              <a:t>4 مواد فعّالة ضد القشرة في شامبو واحد، بدرجة حموضة pH 5.5 مناسبة لفروة الراس</a:t>
            </a:r>
            <a:endParaRPr lang="en-US" sz="1200" dirty="0"/>
          </a:p>
        </p:txBody>
      </p:sp>
      <p:sp>
        <p:nvSpPr>
          <p:cNvPr id="6" name="Shape 3"/>
          <p:cNvSpPr/>
          <p:nvPr/>
        </p:nvSpPr>
        <p:spPr>
          <a:xfrm>
            <a:off x="8046720" y="2743200"/>
            <a:ext cx="3566160" cy="1645920"/>
          </a:xfrm>
          <a:prstGeom prst="roundRect">
            <a:avLst>
              <a:gd name="adj" fmla="val 6667"/>
            </a:avLst>
          </a:prstGeom>
          <a:solidFill>
            <a:schemeClr val="accent2">
              <a:alpha val="10000"/>
            </a:schemeClr>
          </a:solidFill>
          <a:ln w="9525">
            <a:solidFill>
              <a:schemeClr val="accent2">
                <a:alpha val="25000"/>
              </a:schemeClr>
            </a:solidFill>
            <a:prstDash val="solid"/>
          </a:ln>
        </p:spPr>
      </p:sp>
      <p:sp>
        <p:nvSpPr>
          <p:cNvPr id="7" name="Text 4"/>
          <p:cNvSpPr txBox="1"/>
          <p:nvPr/>
        </p:nvSpPr>
        <p:spPr>
          <a:xfrm>
            <a:off x="8046720" y="2834640"/>
            <a:ext cx="3566160" cy="411480"/>
          </a:xfrm>
          <a:prstGeom prst="rect">
            <a:avLst/>
          </a:prstGeom>
          <a:noFill/>
          <a:ln/>
        </p:spPr>
        <p:txBody>
          <a:bodyPr wrap="square" lIns="0" tIns="0" rIns="0" bIns="0" rtlCol="0" anchor="ctr"/>
          <a:lstStyle/>
          <a:p>
            <a:pPr rtl="1" algn="ctr" indent="0" marL="0">
              <a:buNone/>
            </a:pPr>
            <a:r>
              <a:rPr lang="en-US" sz="1500" b="1" dirty="0">
                <a:solidFill>
                  <a:schemeClr val="accent2"/>
                </a:solidFill>
              </a:rPr>
              <a:t>علاجي</a:t>
            </a:r>
            <a:endParaRPr lang="en-US" sz="1500" dirty="0"/>
          </a:p>
        </p:txBody>
      </p:sp>
      <p:sp>
        <p:nvSpPr>
          <p:cNvPr id="8" name="Text 5"/>
          <p:cNvSpPr txBox="1"/>
          <p:nvPr/>
        </p:nvSpPr>
        <p:spPr>
          <a:xfrm>
            <a:off x="8046720" y="3291840"/>
            <a:ext cx="3566160" cy="457200"/>
          </a:xfrm>
          <a:prstGeom prst="rect">
            <a:avLst/>
          </a:prstGeom>
          <a:noFill/>
          <a:ln/>
        </p:spPr>
        <p:txBody>
          <a:bodyPr wrap="square" lIns="0" tIns="0" rIns="0" bIns="0" rtlCol="0" anchor="ctr"/>
          <a:lstStyle/>
          <a:p>
            <a:pPr rtl="1" algn="ctr" indent="0" marL="0">
              <a:buNone/>
            </a:pPr>
            <a:r>
              <a:rPr lang="en-US" sz="2000" b="1" dirty="0">
                <a:solidFill>
                  <a:schemeClr val="tx1"/>
                </a:solidFill>
              </a:rPr>
              <a:t>2–3 مرات أسبوعياً</a:t>
            </a:r>
            <a:endParaRPr lang="en-US" sz="2000" dirty="0"/>
          </a:p>
        </p:txBody>
      </p:sp>
      <p:sp>
        <p:nvSpPr>
          <p:cNvPr id="9" name="Text 6"/>
          <p:cNvSpPr txBox="1"/>
          <p:nvPr/>
        </p:nvSpPr>
        <p:spPr>
          <a:xfrm>
            <a:off x="8046720" y="3794760"/>
            <a:ext cx="3566160" cy="411480"/>
          </a:xfrm>
          <a:prstGeom prst="rect">
            <a:avLst/>
          </a:prstGeom>
          <a:noFill/>
          <a:ln/>
        </p:spPr>
        <p:txBody>
          <a:bodyPr wrap="square" lIns="0" tIns="0" rIns="0" bIns="0" rtlCol="0" anchor="ctr"/>
          <a:lstStyle/>
          <a:p>
            <a:pPr rtl="1" algn="ctr" indent="0" marL="0">
              <a:buNone/>
            </a:pPr>
            <a:r>
              <a:rPr lang="en-US" sz="1400" dirty="0">
                <a:solidFill>
                  <a:schemeClr val="accent5"/>
                </a:solidFill>
              </a:rPr>
              <a:t>لمدة 3 أسابيع</a:t>
            </a:r>
            <a:endParaRPr lang="en-US" sz="1400" dirty="0"/>
          </a:p>
        </p:txBody>
      </p:sp>
      <p:sp>
        <p:nvSpPr>
          <p:cNvPr id="10" name="Shape 7"/>
          <p:cNvSpPr/>
          <p:nvPr/>
        </p:nvSpPr>
        <p:spPr>
          <a:xfrm>
            <a:off x="4297680" y="2743200"/>
            <a:ext cx="3566160" cy="1645920"/>
          </a:xfrm>
          <a:prstGeom prst="roundRect">
            <a:avLst>
              <a:gd name="adj" fmla="val 6667"/>
            </a:avLst>
          </a:prstGeom>
          <a:solidFill>
            <a:schemeClr val="accent2">
              <a:alpha val="10000"/>
            </a:schemeClr>
          </a:solidFill>
          <a:ln w="9525">
            <a:solidFill>
              <a:schemeClr val="accent2">
                <a:alpha val="25000"/>
              </a:schemeClr>
            </a:solidFill>
            <a:prstDash val="solid"/>
          </a:ln>
        </p:spPr>
      </p:sp>
      <p:sp>
        <p:nvSpPr>
          <p:cNvPr id="11" name="Text 8"/>
          <p:cNvSpPr txBox="1"/>
          <p:nvPr/>
        </p:nvSpPr>
        <p:spPr>
          <a:xfrm>
            <a:off x="4297680" y="2834640"/>
            <a:ext cx="3566160" cy="411480"/>
          </a:xfrm>
          <a:prstGeom prst="rect">
            <a:avLst/>
          </a:prstGeom>
          <a:noFill/>
          <a:ln/>
        </p:spPr>
        <p:txBody>
          <a:bodyPr wrap="square" lIns="0" tIns="0" rIns="0" bIns="0" rtlCol="0" anchor="ctr"/>
          <a:lstStyle/>
          <a:p>
            <a:pPr rtl="1" algn="ctr" indent="0" marL="0">
              <a:buNone/>
            </a:pPr>
            <a:r>
              <a:rPr lang="en-US" sz="1500" b="1" dirty="0">
                <a:solidFill>
                  <a:schemeClr val="accent2"/>
                </a:solidFill>
              </a:rPr>
              <a:t>وقائي</a:t>
            </a:r>
            <a:endParaRPr lang="en-US" sz="1500" dirty="0"/>
          </a:p>
        </p:txBody>
      </p:sp>
      <p:sp>
        <p:nvSpPr>
          <p:cNvPr id="12" name="Text 9"/>
          <p:cNvSpPr txBox="1"/>
          <p:nvPr/>
        </p:nvSpPr>
        <p:spPr>
          <a:xfrm>
            <a:off x="4297680" y="3291840"/>
            <a:ext cx="3566160" cy="457200"/>
          </a:xfrm>
          <a:prstGeom prst="rect">
            <a:avLst/>
          </a:prstGeom>
          <a:noFill/>
          <a:ln/>
        </p:spPr>
        <p:txBody>
          <a:bodyPr wrap="square" lIns="0" tIns="0" rIns="0" bIns="0" rtlCol="0" anchor="ctr"/>
          <a:lstStyle/>
          <a:p>
            <a:pPr rtl="1" algn="ctr" indent="0" marL="0">
              <a:buNone/>
            </a:pPr>
            <a:r>
              <a:rPr lang="en-US" sz="2000" b="1" dirty="0">
                <a:solidFill>
                  <a:schemeClr val="tx1"/>
                </a:solidFill>
              </a:rPr>
              <a:t>مرة أسبوعياً</a:t>
            </a:r>
            <a:endParaRPr lang="en-US" sz="2000" dirty="0"/>
          </a:p>
        </p:txBody>
      </p:sp>
      <p:sp>
        <p:nvSpPr>
          <p:cNvPr id="13" name="Text 10"/>
          <p:cNvSpPr txBox="1"/>
          <p:nvPr/>
        </p:nvSpPr>
        <p:spPr>
          <a:xfrm>
            <a:off x="4297680" y="3794760"/>
            <a:ext cx="3566160" cy="411480"/>
          </a:xfrm>
          <a:prstGeom prst="rect">
            <a:avLst/>
          </a:prstGeom>
          <a:noFill/>
          <a:ln/>
        </p:spPr>
        <p:txBody>
          <a:bodyPr wrap="square" lIns="0" tIns="0" rIns="0" bIns="0" rtlCol="0" anchor="ctr"/>
          <a:lstStyle/>
          <a:p>
            <a:pPr rtl="1" algn="ctr" indent="0" marL="0">
              <a:buNone/>
            </a:pPr>
            <a:r>
              <a:rPr lang="en-US" sz="1400" dirty="0">
                <a:solidFill>
                  <a:schemeClr val="accent5"/>
                </a:solidFill>
              </a:rPr>
              <a:t>لمدة 3 شهور</a:t>
            </a:r>
            <a:endParaRPr lang="en-US" sz="1400" dirty="0"/>
          </a:p>
        </p:txBody>
      </p:sp>
      <p:sp>
        <p:nvSpPr>
          <p:cNvPr id="14" name="Shape 11"/>
          <p:cNvSpPr/>
          <p:nvPr/>
        </p:nvSpPr>
        <p:spPr>
          <a:xfrm>
            <a:off x="548640" y="2743200"/>
            <a:ext cx="3566160" cy="1645920"/>
          </a:xfrm>
          <a:prstGeom prst="roundRect">
            <a:avLst>
              <a:gd name="adj" fmla="val 6667"/>
            </a:avLst>
          </a:prstGeom>
          <a:solidFill>
            <a:schemeClr val="accent2">
              <a:alpha val="10000"/>
            </a:schemeClr>
          </a:solidFill>
          <a:ln w="9525">
            <a:solidFill>
              <a:schemeClr val="accent2">
                <a:alpha val="25000"/>
              </a:schemeClr>
            </a:solidFill>
            <a:prstDash val="solid"/>
          </a:ln>
        </p:spPr>
      </p:sp>
      <p:sp>
        <p:nvSpPr>
          <p:cNvPr id="15" name="Text 12"/>
          <p:cNvSpPr txBox="1"/>
          <p:nvPr/>
        </p:nvSpPr>
        <p:spPr>
          <a:xfrm>
            <a:off x="548640" y="2834640"/>
            <a:ext cx="3566160" cy="411480"/>
          </a:xfrm>
          <a:prstGeom prst="rect">
            <a:avLst/>
          </a:prstGeom>
          <a:noFill/>
          <a:ln/>
        </p:spPr>
        <p:txBody>
          <a:bodyPr wrap="square" lIns="0" tIns="0" rIns="0" bIns="0" rtlCol="0" anchor="ctr"/>
          <a:lstStyle/>
          <a:p>
            <a:pPr rtl="1" algn="ctr" indent="0" marL="0">
              <a:buNone/>
            </a:pPr>
            <a:r>
              <a:rPr lang="en-US" sz="1500" b="1" dirty="0">
                <a:solidFill>
                  <a:schemeClr val="accent2"/>
                </a:solidFill>
              </a:rPr>
              <a:t>طريقة الاستخدام</a:t>
            </a:r>
            <a:endParaRPr lang="en-US" sz="1500" dirty="0"/>
          </a:p>
        </p:txBody>
      </p:sp>
      <p:sp>
        <p:nvSpPr>
          <p:cNvPr id="16" name="Text 13"/>
          <p:cNvSpPr txBox="1"/>
          <p:nvPr/>
        </p:nvSpPr>
        <p:spPr>
          <a:xfrm>
            <a:off x="548640" y="3291840"/>
            <a:ext cx="3566160" cy="457200"/>
          </a:xfrm>
          <a:prstGeom prst="rect">
            <a:avLst/>
          </a:prstGeom>
          <a:noFill/>
          <a:ln/>
        </p:spPr>
        <p:txBody>
          <a:bodyPr wrap="square" lIns="0" tIns="0" rIns="0" bIns="0" rtlCol="0" anchor="ctr"/>
          <a:lstStyle/>
          <a:p>
            <a:pPr rtl="1" algn="ctr" indent="0" marL="0">
              <a:buNone/>
            </a:pPr>
            <a:r>
              <a:rPr lang="en-US" sz="2000" b="1" dirty="0">
                <a:solidFill>
                  <a:schemeClr val="tx1"/>
                </a:solidFill>
              </a:rPr>
              <a:t>رغوة على فروة الراس</a:t>
            </a:r>
            <a:endParaRPr lang="en-US" sz="2000" dirty="0"/>
          </a:p>
        </p:txBody>
      </p:sp>
      <p:sp>
        <p:nvSpPr>
          <p:cNvPr id="17" name="Text 14"/>
          <p:cNvSpPr txBox="1"/>
          <p:nvPr/>
        </p:nvSpPr>
        <p:spPr>
          <a:xfrm>
            <a:off x="548640" y="3794760"/>
            <a:ext cx="3566160" cy="411480"/>
          </a:xfrm>
          <a:prstGeom prst="rect">
            <a:avLst/>
          </a:prstGeom>
          <a:noFill/>
          <a:ln/>
        </p:spPr>
        <p:txBody>
          <a:bodyPr wrap="square" lIns="0" tIns="0" rIns="0" bIns="0" rtlCol="0" anchor="ctr"/>
          <a:lstStyle/>
          <a:p>
            <a:pPr rtl="1" algn="ctr" indent="0" marL="0">
              <a:buNone/>
            </a:pPr>
            <a:r>
              <a:rPr lang="en-US" sz="1400" dirty="0">
                <a:solidFill>
                  <a:schemeClr val="accent5"/>
                </a:solidFill>
              </a:rPr>
              <a:t>تُترك 3–5 دقائق ثم شطف</a:t>
            </a:r>
            <a:endParaRPr lang="en-US" sz="1400" dirty="0"/>
          </a:p>
        </p:txBody>
      </p:sp>
      <p:sp>
        <p:nvSpPr>
          <p:cNvPr id="18" name="Shape 15"/>
          <p:cNvSpPr/>
          <p:nvPr/>
        </p:nvSpPr>
        <p:spPr>
          <a:xfrm>
            <a:off x="6172200" y="4572000"/>
            <a:ext cx="5440680" cy="1508760"/>
          </a:xfrm>
          <a:prstGeom prst="roundRect">
            <a:avLst>
              <a:gd name="adj" fmla="val 7273"/>
            </a:avLst>
          </a:prstGeom>
          <a:solidFill>
            <a:schemeClr val="accent2">
              <a:alpha val="8000"/>
            </a:schemeClr>
          </a:solidFill>
          <a:ln w="9525">
            <a:solidFill>
              <a:schemeClr val="accent2">
                <a:alpha val="25000"/>
              </a:schemeClr>
            </a:solidFill>
            <a:prstDash val="solid"/>
          </a:ln>
        </p:spPr>
      </p:sp>
      <p:sp>
        <p:nvSpPr>
          <p:cNvPr id="19" name="Shape 16"/>
          <p:cNvSpPr/>
          <p:nvPr/>
        </p:nvSpPr>
        <p:spPr>
          <a:xfrm>
            <a:off x="10991088" y="4736592"/>
            <a:ext cx="457200" cy="457200"/>
          </a:xfrm>
          <a:prstGeom prst="ellipse">
            <a:avLst/>
          </a:prstGeom>
          <a:solidFill>
            <a:schemeClr val="accent2"/>
          </a:solidFill>
          <a:ln w="12700">
            <a:solidFill>
              <a:schemeClr val="accent2"/>
            </a:solidFill>
            <a:prstDash val="solid"/>
          </a:ln>
        </p:spPr>
      </p:sp>
      <p:sp>
        <p:nvSpPr>
          <p:cNvPr id="20" name="Text 17"/>
          <p:cNvSpPr txBox="1"/>
          <p:nvPr/>
        </p:nvSpPr>
        <p:spPr>
          <a:xfrm>
            <a:off x="10991088" y="4736592"/>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21" name="Text 18"/>
          <p:cNvSpPr txBox="1"/>
          <p:nvPr/>
        </p:nvSpPr>
        <p:spPr>
          <a:xfrm>
            <a:off x="6309360" y="4681728"/>
            <a:ext cx="4572000" cy="548640"/>
          </a:xfrm>
          <a:prstGeom prst="rect">
            <a:avLst/>
          </a:prstGeom>
          <a:noFill/>
          <a:ln/>
        </p:spPr>
        <p:txBody>
          <a:bodyPr wrap="square" lIns="0" tIns="0" rIns="0" bIns="0" rtlCol="0" anchor="ctr"/>
          <a:lstStyle/>
          <a:p>
            <a:pPr rtl="1" algn="r" indent="0" marL="0">
              <a:buNone/>
            </a:pPr>
            <a:r>
              <a:rPr lang="en-US" sz="1600" b="1" dirty="0">
                <a:solidFill>
                  <a:schemeClr val="accent2"/>
                </a:solidFill>
              </a:rPr>
              <a:t>الطبيب المستهدف</a:t>
            </a:r>
            <a:endParaRPr lang="en-US" sz="1600" dirty="0"/>
          </a:p>
        </p:txBody>
      </p:sp>
      <p:sp>
        <p:nvSpPr>
          <p:cNvPr id="22" name="Text 19"/>
          <p:cNvSpPr txBox="1"/>
          <p:nvPr/>
        </p:nvSpPr>
        <p:spPr>
          <a:xfrm>
            <a:off x="6355080" y="5285232"/>
            <a:ext cx="5074920" cy="704088"/>
          </a:xfrm>
          <a:prstGeom prst="rect">
            <a:avLst/>
          </a:prstGeom>
          <a:noFill/>
          <a:ln/>
        </p:spPr>
        <p:txBody>
          <a:bodyPr wrap="square" lIns="0" tIns="0" rIns="0" bIns="0" rtlCol="0" anchor="t"/>
          <a:lstStyle/>
          <a:p>
            <a:pPr rtl="1" algn="r" indent="0" marL="0">
              <a:spcAft>
                <a:spcPts val="400"/>
              </a:spcAft>
              <a:buNone/>
            </a:pPr>
            <a:r>
              <a:rPr lang="en-US" sz="1400" dirty="0">
                <a:solidFill>
                  <a:schemeClr val="tx1"/>
                </a:solidFill>
              </a:rPr>
              <a:t>الجلدية · الصيدليات · مرضى القشرة والقشرة الدهنية</a:t>
            </a:r>
            <a:endParaRPr lang="en-US" sz="1400" dirty="0"/>
          </a:p>
        </p:txBody>
      </p:sp>
      <p:sp>
        <p:nvSpPr>
          <p:cNvPr id="23" name="Shape 20"/>
          <p:cNvSpPr/>
          <p:nvPr/>
        </p:nvSpPr>
        <p:spPr>
          <a:xfrm>
            <a:off x="548640" y="4572000"/>
            <a:ext cx="5440680" cy="1508760"/>
          </a:xfrm>
          <a:prstGeom prst="roundRect">
            <a:avLst>
              <a:gd name="adj" fmla="val 7273"/>
            </a:avLst>
          </a:prstGeom>
          <a:solidFill>
            <a:schemeClr val="accent2">
              <a:alpha val="8000"/>
            </a:schemeClr>
          </a:solidFill>
          <a:ln w="9525">
            <a:solidFill>
              <a:schemeClr val="accent2">
                <a:alpha val="25000"/>
              </a:schemeClr>
            </a:solidFill>
            <a:prstDash val="solid"/>
          </a:ln>
        </p:spPr>
      </p:sp>
      <p:sp>
        <p:nvSpPr>
          <p:cNvPr id="24" name="Shape 21"/>
          <p:cNvSpPr/>
          <p:nvPr/>
        </p:nvSpPr>
        <p:spPr>
          <a:xfrm>
            <a:off x="5367528" y="4736592"/>
            <a:ext cx="457200" cy="457200"/>
          </a:xfrm>
          <a:prstGeom prst="ellipse">
            <a:avLst/>
          </a:prstGeom>
          <a:solidFill>
            <a:schemeClr val="accent2"/>
          </a:solidFill>
          <a:ln w="12700">
            <a:solidFill>
              <a:schemeClr val="accent2"/>
            </a:solidFill>
            <a:prstDash val="solid"/>
          </a:ln>
        </p:spPr>
      </p:sp>
      <p:sp>
        <p:nvSpPr>
          <p:cNvPr id="25" name="Text 22"/>
          <p:cNvSpPr txBox="1"/>
          <p:nvPr/>
        </p:nvSpPr>
        <p:spPr>
          <a:xfrm>
            <a:off x="5367528" y="4736592"/>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26" name="Text 23"/>
          <p:cNvSpPr txBox="1"/>
          <p:nvPr/>
        </p:nvSpPr>
        <p:spPr>
          <a:xfrm>
            <a:off x="685800" y="4681728"/>
            <a:ext cx="4572000" cy="548640"/>
          </a:xfrm>
          <a:prstGeom prst="rect">
            <a:avLst/>
          </a:prstGeom>
          <a:noFill/>
          <a:ln/>
        </p:spPr>
        <p:txBody>
          <a:bodyPr wrap="square" lIns="0" tIns="0" rIns="0" bIns="0" rtlCol="0" anchor="ctr"/>
          <a:lstStyle/>
          <a:p>
            <a:pPr rtl="1" algn="r" indent="0" marL="0">
              <a:buNone/>
            </a:pPr>
            <a:r>
              <a:rPr lang="en-US" sz="1600" b="1" dirty="0">
                <a:solidFill>
                  <a:schemeClr val="accent2"/>
                </a:solidFill>
              </a:rPr>
              <a:t>Cross-selling</a:t>
            </a:r>
            <a:endParaRPr lang="en-US" sz="1600" dirty="0"/>
          </a:p>
        </p:txBody>
      </p:sp>
      <p:sp>
        <p:nvSpPr>
          <p:cNvPr id="27" name="Text 24"/>
          <p:cNvSpPr txBox="1"/>
          <p:nvPr/>
        </p:nvSpPr>
        <p:spPr>
          <a:xfrm>
            <a:off x="731520" y="5285232"/>
            <a:ext cx="5074920" cy="704088"/>
          </a:xfrm>
          <a:prstGeom prst="rect">
            <a:avLst/>
          </a:prstGeom>
          <a:noFill/>
          <a:ln/>
        </p:spPr>
        <p:txBody>
          <a:bodyPr wrap="square" lIns="0" tIns="0" rIns="0" bIns="0" rtlCol="0" anchor="t"/>
          <a:lstStyle/>
          <a:p>
            <a:pPr rtl="1" algn="r" indent="0" marL="0">
              <a:spcAft>
                <a:spcPts val="400"/>
              </a:spcAft>
              <a:buNone/>
            </a:pPr>
            <a:r>
              <a:rPr lang="en-US" sz="1400" dirty="0">
                <a:solidFill>
                  <a:schemeClr val="tx1"/>
                </a:solidFill>
              </a:rPr>
              <a:t>اعرض E-Panthen مع Octo في نفس الزيارة</a:t>
            </a:r>
            <a:endParaRPr lang="en-US" sz="1400" dirty="0"/>
          </a:p>
        </p:txBody>
      </p:sp>
      <p:sp>
        <p:nvSpPr>
          <p:cNvPr id="25" name="Slide Number Placeholder 0"/>
          <p:cNvSpPr>
            <a:spLocks noGrp="1"/>
          </p:cNvSpPr>
          <p:nvPr>
            <p:ph type="sldNum" sz="quarter" idx="4294967295"/>
          </p:nvPr>
        </p:nvSpPr>
        <p:spPr>
          <a:xfrm>
            <a:off x="5806440" y="630936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ct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2" type="title" hasCustomPrompt="1"/>
          </p:nvPr>
        </p:nvSpPr>
        <p:spPr>
          <a:xfrm>
            <a:off x="548640" y="320040"/>
            <a:ext cx="11064240" cy="777240"/>
          </a:xfrm>
          <a:prstGeom prst="rect">
            <a:avLst/>
          </a:prstGeom>
          <a:noFill/>
          <a:ln/>
        </p:spPr>
        <p:txBody>
          <a:bodyPr wrap="square" rtlCol="0" anchor="ctr"/>
          <a:lstStyle/>
          <a:p>
            <a:pPr rtl="1" algn="r" indent="0" marL="0">
              <a:buNone/>
            </a:pPr>
            <a:r>
              <a:rPr lang="en-US" sz="3200" b="1" dirty="0">
                <a:solidFill>
                  <a:schemeClr val="tx2"/>
                </a:solidFill>
              </a:rPr>
              <a:t>E-Panthen — بطاقة المنتج</a:t>
            </a:r>
            <a:endParaRPr lang="en-US" sz="3200" dirty="0"/>
          </a:p>
        </p:txBody>
      </p:sp>
      <p:pic>
        <p:nvPicPr>
          <p:cNvPr id="4" name="epanthen image" descr="preencoded.png">    </p:cNvPr>
          <p:cNvPicPr>
            <a:picLocks noChangeAspect="1"/>
          </p:cNvPicPr>
          <p:nvPr/>
        </p:nvPicPr>
        <p:blipFill>
          <a:blip r:embed="rId1"/>
          <a:stretch>
            <a:fillRect/>
          </a:stretch>
        </p:blipFill>
        <p:spPr>
          <a:xfrm>
            <a:off x="548640" y="1849120"/>
            <a:ext cx="3657600" cy="3616960"/>
          </a:xfrm>
          <a:prstGeom prst="rect">
            <a:avLst/>
          </a:prstGeom>
        </p:spPr>
      </p:pic>
      <p:sp>
        <p:nvSpPr>
          <p:cNvPr id="5" name="Shape 1"/>
          <p:cNvSpPr/>
          <p:nvPr/>
        </p:nvSpPr>
        <p:spPr>
          <a:xfrm>
            <a:off x="4572000" y="1325880"/>
            <a:ext cx="7040880" cy="457200"/>
          </a:xfrm>
          <a:prstGeom prst="rect">
            <a:avLst/>
          </a:prstGeom>
          <a:solidFill>
            <a:schemeClr val="accent2">
              <a:alpha val="7000"/>
            </a:schemeClr>
          </a:solidFill>
          <a:ln w="12700">
            <a:solidFill>
              <a:schemeClr val="accent2">
                <a:alpha val="0"/>
              </a:schemeClr>
            </a:solidFill>
            <a:prstDash val="solid"/>
          </a:ln>
        </p:spPr>
      </p:sp>
      <p:sp>
        <p:nvSpPr>
          <p:cNvPr id="6" name="Text 2"/>
          <p:cNvSpPr txBox="1"/>
          <p:nvPr/>
        </p:nvSpPr>
        <p:spPr>
          <a:xfrm>
            <a:off x="9235440" y="1325880"/>
            <a:ext cx="2286000" cy="457200"/>
          </a:xfrm>
          <a:prstGeom prst="rect">
            <a:avLst/>
          </a:prstGeom>
          <a:noFill/>
          <a:ln/>
        </p:spPr>
        <p:txBody>
          <a:bodyPr wrap="square" lIns="0" tIns="0" rIns="76200" bIns="0" rtlCol="0" anchor="ctr"/>
          <a:lstStyle/>
          <a:p>
            <a:pPr rtl="1" algn="r" indent="0" marL="0">
              <a:buNone/>
            </a:pPr>
            <a:r>
              <a:rPr lang="en-US" sz="1300" b="1" dirty="0">
                <a:solidFill>
                  <a:schemeClr val="accent2"/>
                </a:solidFill>
              </a:rPr>
              <a:t>الاسم التجاري</a:t>
            </a:r>
            <a:endParaRPr lang="en-US" sz="1300" dirty="0"/>
          </a:p>
        </p:txBody>
      </p:sp>
      <p:sp>
        <p:nvSpPr>
          <p:cNvPr id="7" name="Text 3"/>
          <p:cNvSpPr txBox="1"/>
          <p:nvPr/>
        </p:nvSpPr>
        <p:spPr>
          <a:xfrm>
            <a:off x="4663440" y="1325880"/>
            <a:ext cx="4480560" cy="457200"/>
          </a:xfrm>
          <a:prstGeom prst="rect">
            <a:avLst/>
          </a:prstGeom>
          <a:noFill/>
          <a:ln/>
        </p:spPr>
        <p:txBody>
          <a:bodyPr wrap="square" lIns="0" tIns="0" rIns="0" bIns="0" rtlCol="0" anchor="ctr"/>
          <a:lstStyle/>
          <a:p>
            <a:pPr rtl="1" algn="r" indent="0" marL="0">
              <a:buNone/>
            </a:pPr>
            <a:r>
              <a:rPr lang="en-US" sz="1300" dirty="0">
                <a:solidFill>
                  <a:schemeClr val="tx1"/>
                </a:solidFill>
              </a:rPr>
              <a:t>E-Panthen Moisturizing Cream</a:t>
            </a:r>
            <a:endParaRPr lang="en-US" sz="1300" dirty="0"/>
          </a:p>
        </p:txBody>
      </p:sp>
      <p:sp>
        <p:nvSpPr>
          <p:cNvPr id="8" name="Text 4"/>
          <p:cNvSpPr txBox="1"/>
          <p:nvPr/>
        </p:nvSpPr>
        <p:spPr>
          <a:xfrm>
            <a:off x="9235440" y="1783080"/>
            <a:ext cx="2286000" cy="457200"/>
          </a:xfrm>
          <a:prstGeom prst="rect">
            <a:avLst/>
          </a:prstGeom>
          <a:noFill/>
          <a:ln/>
        </p:spPr>
        <p:txBody>
          <a:bodyPr wrap="square" lIns="0" tIns="0" rIns="76200" bIns="0" rtlCol="0" anchor="ctr"/>
          <a:lstStyle/>
          <a:p>
            <a:pPr rtl="1" algn="r" indent="0" marL="0">
              <a:buNone/>
            </a:pPr>
            <a:r>
              <a:rPr lang="en-US" sz="1300" b="1" dirty="0">
                <a:solidFill>
                  <a:schemeClr val="accent2"/>
                </a:solidFill>
              </a:rPr>
              <a:t>العلامة</a:t>
            </a:r>
            <a:endParaRPr lang="en-US" sz="1300" dirty="0"/>
          </a:p>
        </p:txBody>
      </p:sp>
      <p:sp>
        <p:nvSpPr>
          <p:cNvPr id="9" name="Text 5"/>
          <p:cNvSpPr txBox="1"/>
          <p:nvPr/>
        </p:nvSpPr>
        <p:spPr>
          <a:xfrm>
            <a:off x="4663440" y="1783080"/>
            <a:ext cx="4480560" cy="457200"/>
          </a:xfrm>
          <a:prstGeom prst="rect">
            <a:avLst/>
          </a:prstGeom>
          <a:noFill/>
          <a:ln/>
        </p:spPr>
        <p:txBody>
          <a:bodyPr wrap="square" lIns="0" tIns="0" rIns="0" bIns="0" rtlCol="0" anchor="ctr"/>
          <a:lstStyle/>
          <a:p>
            <a:pPr rtl="1" algn="r" indent="0" marL="0">
              <a:buNone/>
            </a:pPr>
            <a:r>
              <a:rPr lang="en-US" sz="1300" dirty="0">
                <a:solidFill>
                  <a:schemeClr val="tx1"/>
                </a:solidFill>
              </a:rPr>
              <a:t>Dr Organic</a:t>
            </a:r>
            <a:endParaRPr lang="en-US" sz="1300" dirty="0"/>
          </a:p>
        </p:txBody>
      </p:sp>
      <p:sp>
        <p:nvSpPr>
          <p:cNvPr id="10" name="Shape 6"/>
          <p:cNvSpPr/>
          <p:nvPr/>
        </p:nvSpPr>
        <p:spPr>
          <a:xfrm>
            <a:off x="4572000" y="2240280"/>
            <a:ext cx="7040880" cy="457200"/>
          </a:xfrm>
          <a:prstGeom prst="rect">
            <a:avLst/>
          </a:prstGeom>
          <a:solidFill>
            <a:schemeClr val="accent2">
              <a:alpha val="7000"/>
            </a:schemeClr>
          </a:solidFill>
          <a:ln w="12700">
            <a:solidFill>
              <a:schemeClr val="accent2">
                <a:alpha val="0"/>
              </a:schemeClr>
            </a:solidFill>
            <a:prstDash val="solid"/>
          </a:ln>
        </p:spPr>
      </p:sp>
      <p:sp>
        <p:nvSpPr>
          <p:cNvPr id="11" name="Text 7"/>
          <p:cNvSpPr txBox="1"/>
          <p:nvPr/>
        </p:nvSpPr>
        <p:spPr>
          <a:xfrm>
            <a:off x="9235440" y="2240280"/>
            <a:ext cx="2286000" cy="457200"/>
          </a:xfrm>
          <a:prstGeom prst="rect">
            <a:avLst/>
          </a:prstGeom>
          <a:noFill/>
          <a:ln/>
        </p:spPr>
        <p:txBody>
          <a:bodyPr wrap="square" lIns="0" tIns="0" rIns="76200" bIns="0" rtlCol="0" anchor="ctr"/>
          <a:lstStyle/>
          <a:p>
            <a:pPr rtl="1" algn="r" indent="0" marL="0">
              <a:buNone/>
            </a:pPr>
            <a:r>
              <a:rPr lang="en-US" sz="1300" b="1" dirty="0">
                <a:solidFill>
                  <a:schemeClr val="accent2"/>
                </a:solidFill>
              </a:rPr>
              <a:t>التصنيف</a:t>
            </a:r>
            <a:endParaRPr lang="en-US" sz="1300" dirty="0"/>
          </a:p>
        </p:txBody>
      </p:sp>
      <p:sp>
        <p:nvSpPr>
          <p:cNvPr id="12" name="Text 8"/>
          <p:cNvSpPr txBox="1"/>
          <p:nvPr/>
        </p:nvSpPr>
        <p:spPr>
          <a:xfrm>
            <a:off x="4663440" y="2240280"/>
            <a:ext cx="4480560" cy="457200"/>
          </a:xfrm>
          <a:prstGeom prst="rect">
            <a:avLst/>
          </a:prstGeom>
          <a:noFill/>
          <a:ln/>
        </p:spPr>
        <p:txBody>
          <a:bodyPr wrap="square" lIns="0" tIns="0" rIns="0" bIns="0" rtlCol="0" anchor="ctr"/>
          <a:lstStyle/>
          <a:p>
            <a:pPr rtl="1" algn="r" indent="0" marL="0">
              <a:buNone/>
            </a:pPr>
            <a:r>
              <a:rPr lang="en-US" sz="1300" dirty="0">
                <a:solidFill>
                  <a:schemeClr val="tx1"/>
                </a:solidFill>
              </a:rPr>
              <a:t>مستحضر عناية بالبشرة</a:t>
            </a:r>
            <a:endParaRPr lang="en-US" sz="1300" dirty="0"/>
          </a:p>
        </p:txBody>
      </p:sp>
      <p:sp>
        <p:nvSpPr>
          <p:cNvPr id="13" name="Text 9"/>
          <p:cNvSpPr txBox="1"/>
          <p:nvPr/>
        </p:nvSpPr>
        <p:spPr>
          <a:xfrm>
            <a:off x="9235440" y="2697480"/>
            <a:ext cx="2286000" cy="457200"/>
          </a:xfrm>
          <a:prstGeom prst="rect">
            <a:avLst/>
          </a:prstGeom>
          <a:noFill/>
          <a:ln/>
        </p:spPr>
        <p:txBody>
          <a:bodyPr wrap="square" lIns="0" tIns="0" rIns="76200" bIns="0" rtlCol="0" anchor="ctr"/>
          <a:lstStyle/>
          <a:p>
            <a:pPr rtl="1" algn="r" indent="0" marL="0">
              <a:buNone/>
            </a:pPr>
            <a:r>
              <a:rPr lang="en-US" sz="1300" b="1" dirty="0">
                <a:solidFill>
                  <a:schemeClr val="accent2"/>
                </a:solidFill>
              </a:rPr>
              <a:t>الحجم</a:t>
            </a:r>
            <a:endParaRPr lang="en-US" sz="1300" dirty="0"/>
          </a:p>
        </p:txBody>
      </p:sp>
      <p:sp>
        <p:nvSpPr>
          <p:cNvPr id="14" name="Text 10"/>
          <p:cNvSpPr txBox="1"/>
          <p:nvPr/>
        </p:nvSpPr>
        <p:spPr>
          <a:xfrm>
            <a:off x="4663440" y="2697480"/>
            <a:ext cx="4480560" cy="457200"/>
          </a:xfrm>
          <a:prstGeom prst="rect">
            <a:avLst/>
          </a:prstGeom>
          <a:noFill/>
          <a:ln/>
        </p:spPr>
        <p:txBody>
          <a:bodyPr wrap="square" lIns="0" tIns="0" rIns="0" bIns="0" rtlCol="0" anchor="ctr"/>
          <a:lstStyle/>
          <a:p>
            <a:pPr rtl="1" algn="r" indent="0" marL="0">
              <a:buNone/>
            </a:pPr>
            <a:r>
              <a:rPr lang="en-US" sz="1300" dirty="0">
                <a:solidFill>
                  <a:schemeClr val="tx1"/>
                </a:solidFill>
              </a:rPr>
              <a:t>40 جم</a:t>
            </a:r>
            <a:endParaRPr lang="en-US" sz="1300" dirty="0"/>
          </a:p>
        </p:txBody>
      </p:sp>
      <p:sp>
        <p:nvSpPr>
          <p:cNvPr id="15" name="Shape 11"/>
          <p:cNvSpPr/>
          <p:nvPr/>
        </p:nvSpPr>
        <p:spPr>
          <a:xfrm>
            <a:off x="4572000" y="3154680"/>
            <a:ext cx="7040880" cy="457200"/>
          </a:xfrm>
          <a:prstGeom prst="rect">
            <a:avLst/>
          </a:prstGeom>
          <a:solidFill>
            <a:schemeClr val="accent2">
              <a:alpha val="7000"/>
            </a:schemeClr>
          </a:solidFill>
          <a:ln w="12700">
            <a:solidFill>
              <a:schemeClr val="accent2">
                <a:alpha val="0"/>
              </a:schemeClr>
            </a:solidFill>
            <a:prstDash val="solid"/>
          </a:ln>
        </p:spPr>
      </p:sp>
      <p:sp>
        <p:nvSpPr>
          <p:cNvPr id="16" name="Text 12"/>
          <p:cNvSpPr txBox="1"/>
          <p:nvPr/>
        </p:nvSpPr>
        <p:spPr>
          <a:xfrm>
            <a:off x="9235440" y="3154680"/>
            <a:ext cx="2286000" cy="457200"/>
          </a:xfrm>
          <a:prstGeom prst="rect">
            <a:avLst/>
          </a:prstGeom>
          <a:noFill/>
          <a:ln/>
        </p:spPr>
        <p:txBody>
          <a:bodyPr wrap="square" lIns="0" tIns="0" rIns="76200" bIns="0" rtlCol="0" anchor="ctr"/>
          <a:lstStyle/>
          <a:p>
            <a:pPr rtl="1" algn="r" indent="0" marL="0">
              <a:buNone/>
            </a:pPr>
            <a:r>
              <a:rPr lang="en-US" sz="1300" b="1" dirty="0">
                <a:solidFill>
                  <a:schemeClr val="accent2"/>
                </a:solidFill>
              </a:rPr>
              <a:t>المادة الأساسية</a:t>
            </a:r>
            <a:endParaRPr lang="en-US" sz="1300" dirty="0"/>
          </a:p>
        </p:txBody>
      </p:sp>
      <p:sp>
        <p:nvSpPr>
          <p:cNvPr id="17" name="Text 13"/>
          <p:cNvSpPr txBox="1"/>
          <p:nvPr/>
        </p:nvSpPr>
        <p:spPr>
          <a:xfrm>
            <a:off x="4663440" y="3154680"/>
            <a:ext cx="4480560" cy="457200"/>
          </a:xfrm>
          <a:prstGeom prst="rect">
            <a:avLst/>
          </a:prstGeom>
          <a:noFill/>
          <a:ln/>
        </p:spPr>
        <p:txBody>
          <a:bodyPr wrap="square" lIns="0" tIns="0" rIns="0" bIns="0" rtlCol="0" anchor="ctr"/>
          <a:lstStyle/>
          <a:p>
            <a:pPr rtl="1" algn="r" indent="0" marL="0">
              <a:buNone/>
            </a:pPr>
            <a:r>
              <a:rPr lang="en-US" sz="1300" dirty="0">
                <a:solidFill>
                  <a:schemeClr val="tx1"/>
                </a:solidFill>
              </a:rPr>
              <a:t>5% D-Panthenol + Vitamin E</a:t>
            </a:r>
            <a:endParaRPr lang="en-US" sz="1300" dirty="0"/>
          </a:p>
        </p:txBody>
      </p:sp>
      <p:sp>
        <p:nvSpPr>
          <p:cNvPr id="18" name="Text 14"/>
          <p:cNvSpPr txBox="1"/>
          <p:nvPr/>
        </p:nvSpPr>
        <p:spPr>
          <a:xfrm>
            <a:off x="9235440" y="3611880"/>
            <a:ext cx="2286000" cy="457200"/>
          </a:xfrm>
          <a:prstGeom prst="rect">
            <a:avLst/>
          </a:prstGeom>
          <a:noFill/>
          <a:ln/>
        </p:spPr>
        <p:txBody>
          <a:bodyPr wrap="square" lIns="0" tIns="0" rIns="76200" bIns="0" rtlCol="0" anchor="ctr"/>
          <a:lstStyle/>
          <a:p>
            <a:pPr rtl="1" algn="r" indent="0" marL="0">
              <a:buNone/>
            </a:pPr>
            <a:r>
              <a:rPr lang="en-US" sz="1300" b="1" dirty="0">
                <a:solidFill>
                  <a:schemeClr val="accent2"/>
                </a:solidFill>
              </a:rPr>
              <a:t>الإخطار SFDA</a:t>
            </a:r>
            <a:endParaRPr lang="en-US" sz="1300" dirty="0"/>
          </a:p>
        </p:txBody>
      </p:sp>
      <p:sp>
        <p:nvSpPr>
          <p:cNvPr id="19" name="Text 15"/>
          <p:cNvSpPr txBox="1"/>
          <p:nvPr/>
        </p:nvSpPr>
        <p:spPr>
          <a:xfrm>
            <a:off x="4663440" y="3611880"/>
            <a:ext cx="4480560" cy="457200"/>
          </a:xfrm>
          <a:prstGeom prst="rect">
            <a:avLst/>
          </a:prstGeom>
          <a:noFill/>
          <a:ln/>
        </p:spPr>
        <p:txBody>
          <a:bodyPr wrap="square" lIns="0" tIns="0" rIns="0" bIns="0" rtlCol="0" anchor="ctr"/>
          <a:lstStyle/>
          <a:p>
            <a:pPr rtl="1" algn="r" indent="0" marL="0">
              <a:buNone/>
            </a:pPr>
            <a:r>
              <a:rPr lang="en-US" sz="1300" dirty="0">
                <a:solidFill>
                  <a:schemeClr val="tx1"/>
                </a:solidFill>
              </a:rPr>
              <a:t>CN-2026-65086 (ساري حتى 12/5/2031)</a:t>
            </a:r>
            <a:endParaRPr lang="en-US" sz="1300" dirty="0"/>
          </a:p>
        </p:txBody>
      </p:sp>
      <p:sp>
        <p:nvSpPr>
          <p:cNvPr id="20" name="Shape 16"/>
          <p:cNvSpPr/>
          <p:nvPr/>
        </p:nvSpPr>
        <p:spPr>
          <a:xfrm>
            <a:off x="4572000" y="4069080"/>
            <a:ext cx="7040880" cy="457200"/>
          </a:xfrm>
          <a:prstGeom prst="rect">
            <a:avLst/>
          </a:prstGeom>
          <a:solidFill>
            <a:schemeClr val="accent2">
              <a:alpha val="7000"/>
            </a:schemeClr>
          </a:solidFill>
          <a:ln w="12700">
            <a:solidFill>
              <a:schemeClr val="accent2">
                <a:alpha val="0"/>
              </a:schemeClr>
            </a:solidFill>
            <a:prstDash val="solid"/>
          </a:ln>
        </p:spPr>
      </p:sp>
      <p:sp>
        <p:nvSpPr>
          <p:cNvPr id="21" name="Text 17"/>
          <p:cNvSpPr txBox="1"/>
          <p:nvPr/>
        </p:nvSpPr>
        <p:spPr>
          <a:xfrm>
            <a:off x="9235440" y="4069080"/>
            <a:ext cx="2286000" cy="457200"/>
          </a:xfrm>
          <a:prstGeom prst="rect">
            <a:avLst/>
          </a:prstGeom>
          <a:noFill/>
          <a:ln/>
        </p:spPr>
        <p:txBody>
          <a:bodyPr wrap="square" lIns="0" tIns="0" rIns="76200" bIns="0" rtlCol="0" anchor="ctr"/>
          <a:lstStyle/>
          <a:p>
            <a:pPr rtl="1" algn="r" indent="0" marL="0">
              <a:buNone/>
            </a:pPr>
            <a:r>
              <a:rPr lang="en-US" sz="1300" b="1" dirty="0">
                <a:solidFill>
                  <a:schemeClr val="accent2"/>
                </a:solidFill>
              </a:rPr>
              <a:t>الباركود</a:t>
            </a:r>
            <a:endParaRPr lang="en-US" sz="1300" dirty="0"/>
          </a:p>
        </p:txBody>
      </p:sp>
      <p:sp>
        <p:nvSpPr>
          <p:cNvPr id="22" name="Text 18"/>
          <p:cNvSpPr txBox="1"/>
          <p:nvPr/>
        </p:nvSpPr>
        <p:spPr>
          <a:xfrm>
            <a:off x="4663440" y="4069080"/>
            <a:ext cx="4480560" cy="457200"/>
          </a:xfrm>
          <a:prstGeom prst="rect">
            <a:avLst/>
          </a:prstGeom>
          <a:noFill/>
          <a:ln/>
        </p:spPr>
        <p:txBody>
          <a:bodyPr wrap="square" lIns="0" tIns="0" rIns="0" bIns="0" rtlCol="0" anchor="ctr"/>
          <a:lstStyle/>
          <a:p>
            <a:pPr rtl="1" algn="r" indent="0" marL="0">
              <a:buNone/>
            </a:pPr>
            <a:r>
              <a:rPr lang="en-US" sz="1300" dirty="0">
                <a:solidFill>
                  <a:schemeClr val="tx1"/>
                </a:solidFill>
              </a:rPr>
              <a:t>6224010064195</a:t>
            </a:r>
            <a:endParaRPr lang="en-US" sz="1300" dirty="0"/>
          </a:p>
        </p:txBody>
      </p:sp>
      <p:sp>
        <p:nvSpPr>
          <p:cNvPr id="23" name="Text 19"/>
          <p:cNvSpPr txBox="1"/>
          <p:nvPr/>
        </p:nvSpPr>
        <p:spPr>
          <a:xfrm>
            <a:off x="9235440" y="4526280"/>
            <a:ext cx="2286000" cy="457200"/>
          </a:xfrm>
          <a:prstGeom prst="rect">
            <a:avLst/>
          </a:prstGeom>
          <a:noFill/>
          <a:ln/>
        </p:spPr>
        <p:txBody>
          <a:bodyPr wrap="square" lIns="0" tIns="0" rIns="76200" bIns="0" rtlCol="0" anchor="ctr"/>
          <a:lstStyle/>
          <a:p>
            <a:pPr rtl="1" algn="r" indent="0" marL="0">
              <a:buNone/>
            </a:pPr>
            <a:r>
              <a:rPr lang="en-US" sz="1300" b="1" dirty="0">
                <a:solidFill>
                  <a:schemeClr val="accent2"/>
                </a:solidFill>
              </a:rPr>
              <a:t>الاستخدام</a:t>
            </a:r>
            <a:endParaRPr lang="en-US" sz="1300" dirty="0"/>
          </a:p>
        </p:txBody>
      </p:sp>
      <p:sp>
        <p:nvSpPr>
          <p:cNvPr id="24" name="Text 20"/>
          <p:cNvSpPr txBox="1"/>
          <p:nvPr/>
        </p:nvSpPr>
        <p:spPr>
          <a:xfrm>
            <a:off x="4663440" y="4526280"/>
            <a:ext cx="4480560" cy="457200"/>
          </a:xfrm>
          <a:prstGeom prst="rect">
            <a:avLst/>
          </a:prstGeom>
          <a:noFill/>
          <a:ln/>
        </p:spPr>
        <p:txBody>
          <a:bodyPr wrap="square" lIns="0" tIns="0" rIns="0" bIns="0" rtlCol="0" anchor="ctr"/>
          <a:lstStyle/>
          <a:p>
            <a:pPr rtl="1" algn="r" indent="0" marL="0">
              <a:buNone/>
            </a:pPr>
            <a:r>
              <a:rPr lang="en-US" sz="1300" dirty="0">
                <a:solidFill>
                  <a:schemeClr val="tx1"/>
                </a:solidFill>
              </a:rPr>
              <a:t>1–2 مرة يومياً أو حسب الحاجة</a:t>
            </a:r>
            <a:endParaRPr lang="en-US" sz="1300" dirty="0"/>
          </a:p>
        </p:txBody>
      </p:sp>
      <p:sp>
        <p:nvSpPr>
          <p:cNvPr id="25" name="Shape 21"/>
          <p:cNvSpPr/>
          <p:nvPr/>
        </p:nvSpPr>
        <p:spPr>
          <a:xfrm>
            <a:off x="4572000" y="4983480"/>
            <a:ext cx="7040880" cy="457200"/>
          </a:xfrm>
          <a:prstGeom prst="rect">
            <a:avLst/>
          </a:prstGeom>
          <a:solidFill>
            <a:schemeClr val="accent2">
              <a:alpha val="7000"/>
            </a:schemeClr>
          </a:solidFill>
          <a:ln w="12700">
            <a:solidFill>
              <a:schemeClr val="accent2">
                <a:alpha val="0"/>
              </a:schemeClr>
            </a:solidFill>
            <a:prstDash val="solid"/>
          </a:ln>
        </p:spPr>
      </p:sp>
      <p:sp>
        <p:nvSpPr>
          <p:cNvPr id="26" name="Text 22"/>
          <p:cNvSpPr txBox="1"/>
          <p:nvPr/>
        </p:nvSpPr>
        <p:spPr>
          <a:xfrm>
            <a:off x="9235440" y="4983480"/>
            <a:ext cx="2286000" cy="457200"/>
          </a:xfrm>
          <a:prstGeom prst="rect">
            <a:avLst/>
          </a:prstGeom>
          <a:noFill/>
          <a:ln/>
        </p:spPr>
        <p:txBody>
          <a:bodyPr wrap="square" lIns="0" tIns="0" rIns="76200" bIns="0" rtlCol="0" anchor="ctr"/>
          <a:lstStyle/>
          <a:p>
            <a:pPr rtl="1" algn="r" indent="0" marL="0">
              <a:buNone/>
            </a:pPr>
            <a:r>
              <a:rPr lang="en-US" sz="1300" b="1" dirty="0">
                <a:solidFill>
                  <a:schemeClr val="accent2"/>
                </a:solidFill>
              </a:rPr>
              <a:t>المصنع</a:t>
            </a:r>
            <a:endParaRPr lang="en-US" sz="1300" dirty="0"/>
          </a:p>
        </p:txBody>
      </p:sp>
      <p:sp>
        <p:nvSpPr>
          <p:cNvPr id="27" name="Text 23"/>
          <p:cNvSpPr txBox="1"/>
          <p:nvPr/>
        </p:nvSpPr>
        <p:spPr>
          <a:xfrm>
            <a:off x="4663440" y="4983480"/>
            <a:ext cx="4480560" cy="457200"/>
          </a:xfrm>
          <a:prstGeom prst="rect">
            <a:avLst/>
          </a:prstGeom>
          <a:noFill/>
          <a:ln/>
        </p:spPr>
        <p:txBody>
          <a:bodyPr wrap="square" lIns="0" tIns="0" rIns="0" bIns="0" rtlCol="0" anchor="ctr"/>
          <a:lstStyle/>
          <a:p>
            <a:pPr rtl="1" algn="r" indent="0" marL="0">
              <a:buNone/>
            </a:pPr>
            <a:r>
              <a:rPr lang="en-US" sz="1300" dirty="0">
                <a:solidFill>
                  <a:schemeClr val="tx1"/>
                </a:solidFill>
              </a:rPr>
              <a:t>Brand International — مصر</a:t>
            </a:r>
            <a:endParaRPr lang="en-US" sz="1300" dirty="0"/>
          </a:p>
        </p:txBody>
      </p:sp>
      <p:sp>
        <p:nvSpPr>
          <p:cNvPr id="28" name="Text 24"/>
          <p:cNvSpPr txBox="1"/>
          <p:nvPr/>
        </p:nvSpPr>
        <p:spPr>
          <a:xfrm>
            <a:off x="9235440" y="5440680"/>
            <a:ext cx="2286000" cy="457200"/>
          </a:xfrm>
          <a:prstGeom prst="rect">
            <a:avLst/>
          </a:prstGeom>
          <a:noFill/>
          <a:ln/>
        </p:spPr>
        <p:txBody>
          <a:bodyPr wrap="square" lIns="0" tIns="0" rIns="76200" bIns="0" rtlCol="0" anchor="ctr"/>
          <a:lstStyle/>
          <a:p>
            <a:pPr rtl="1" algn="r" indent="0" marL="0">
              <a:buNone/>
            </a:pPr>
            <a:r>
              <a:rPr lang="en-US" sz="1300" b="1" dirty="0">
                <a:solidFill>
                  <a:schemeClr val="accent2"/>
                </a:solidFill>
              </a:rPr>
              <a:t>سعر الجمهور</a:t>
            </a:r>
            <a:endParaRPr lang="en-US" sz="1300" dirty="0"/>
          </a:p>
        </p:txBody>
      </p:sp>
      <p:sp>
        <p:nvSpPr>
          <p:cNvPr id="29" name="Text 25"/>
          <p:cNvSpPr txBox="1"/>
          <p:nvPr/>
        </p:nvSpPr>
        <p:spPr>
          <a:xfrm>
            <a:off x="4663440" y="5440680"/>
            <a:ext cx="4480560" cy="457200"/>
          </a:xfrm>
          <a:prstGeom prst="rect">
            <a:avLst/>
          </a:prstGeom>
          <a:noFill/>
          <a:ln/>
        </p:spPr>
        <p:txBody>
          <a:bodyPr wrap="square" lIns="0" tIns="0" rIns="0" bIns="0" rtlCol="0" anchor="ctr"/>
          <a:lstStyle/>
          <a:p>
            <a:pPr rtl="1" algn="r" indent="0" marL="0">
              <a:buNone/>
            </a:pPr>
            <a:r>
              <a:rPr lang="en-US" sz="1300" dirty="0">
                <a:solidFill>
                  <a:schemeClr val="tx1"/>
                </a:solidFill>
              </a:rPr>
              <a:t>30 ريال (غير شامل الضريبة)</a:t>
            </a:r>
            <a:endParaRPr lang="en-US" sz="1300" dirty="0"/>
          </a:p>
        </p:txBody>
      </p:sp>
      <p:sp>
        <p:nvSpPr>
          <p:cNvPr id="25" name="Slide Number Placeholder 0"/>
          <p:cNvSpPr>
            <a:spLocks noGrp="1"/>
          </p:cNvSpPr>
          <p:nvPr>
            <p:ph type="sldNum" sz="quarter" idx="4294967295"/>
          </p:nvPr>
        </p:nvSpPr>
        <p:spPr>
          <a:xfrm>
            <a:off x="5806440" y="630936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ct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2" type="title" hasCustomPrompt="1"/>
          </p:nvPr>
        </p:nvSpPr>
        <p:spPr>
          <a:xfrm>
            <a:off x="548640" y="320040"/>
            <a:ext cx="11064240" cy="777240"/>
          </a:xfrm>
          <a:prstGeom prst="rect">
            <a:avLst/>
          </a:prstGeom>
          <a:noFill/>
          <a:ln/>
        </p:spPr>
        <p:txBody>
          <a:bodyPr wrap="square" rtlCol="0" anchor="ctr"/>
          <a:lstStyle/>
          <a:p>
            <a:pPr rtl="1" algn="r" indent="0" marL="0">
              <a:buNone/>
            </a:pPr>
            <a:r>
              <a:rPr lang="en-US" sz="3200" b="1" dirty="0">
                <a:solidFill>
                  <a:schemeClr val="tx2"/>
                </a:solidFill>
              </a:rPr>
              <a:t>E-Panthen — القوى العشر</a:t>
            </a:r>
            <a:endParaRPr lang="en-US" sz="3200" dirty="0"/>
          </a:p>
        </p:txBody>
      </p:sp>
      <p:sp>
        <p:nvSpPr>
          <p:cNvPr id="4" name="Shape 1"/>
          <p:cNvSpPr/>
          <p:nvPr/>
        </p:nvSpPr>
        <p:spPr>
          <a:xfrm>
            <a:off x="9546336" y="1325880"/>
            <a:ext cx="2103120" cy="2240280"/>
          </a:xfrm>
          <a:prstGeom prst="roundRect">
            <a:avLst>
              <a:gd name="adj" fmla="val 5217"/>
            </a:avLst>
          </a:prstGeom>
          <a:solidFill>
            <a:schemeClr val="accent2">
              <a:alpha val="10000"/>
            </a:schemeClr>
          </a:solidFill>
          <a:ln w="9525">
            <a:solidFill>
              <a:schemeClr val="accent2">
                <a:alpha val="25000"/>
              </a:schemeClr>
            </a:solidFill>
            <a:prstDash val="solid"/>
          </a:ln>
        </p:spPr>
      </p:sp>
      <p:sp>
        <p:nvSpPr>
          <p:cNvPr id="5" name="Shape 2"/>
          <p:cNvSpPr/>
          <p:nvPr/>
        </p:nvSpPr>
        <p:spPr>
          <a:xfrm>
            <a:off x="10369296" y="1463040"/>
            <a:ext cx="457200" cy="457200"/>
          </a:xfrm>
          <a:prstGeom prst="ellipse">
            <a:avLst/>
          </a:prstGeom>
          <a:solidFill>
            <a:schemeClr val="accent2"/>
          </a:solidFill>
          <a:ln w="12700">
            <a:solidFill>
              <a:schemeClr val="accent2"/>
            </a:solidFill>
            <a:prstDash val="solid"/>
          </a:ln>
        </p:spPr>
      </p:sp>
      <p:sp>
        <p:nvSpPr>
          <p:cNvPr id="6" name="Text 3"/>
          <p:cNvSpPr txBox="1"/>
          <p:nvPr/>
        </p:nvSpPr>
        <p:spPr>
          <a:xfrm>
            <a:off x="10369296" y="146304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7" name="Text 4"/>
          <p:cNvSpPr txBox="1"/>
          <p:nvPr/>
        </p:nvSpPr>
        <p:spPr>
          <a:xfrm>
            <a:off x="9637776" y="2011680"/>
            <a:ext cx="1920240" cy="457200"/>
          </a:xfrm>
          <a:prstGeom prst="rect">
            <a:avLst/>
          </a:prstGeom>
          <a:noFill/>
          <a:ln/>
        </p:spPr>
        <p:txBody>
          <a:bodyPr wrap="square" lIns="0" tIns="0" rIns="0" bIns="0" rtlCol="0" anchor="ctr"/>
          <a:lstStyle/>
          <a:p>
            <a:pPr algn="ctr" indent="0" marL="0">
              <a:buNone/>
            </a:pPr>
            <a:r>
              <a:rPr lang="en-US" sz="1400" b="1" dirty="0">
                <a:solidFill>
                  <a:schemeClr val="accent2"/>
                </a:solidFill>
              </a:rPr>
              <a:t>D-Panthenol 5%</a:t>
            </a:r>
            <a:endParaRPr lang="en-US" sz="1400" dirty="0"/>
          </a:p>
        </p:txBody>
      </p:sp>
      <p:sp>
        <p:nvSpPr>
          <p:cNvPr id="8" name="Text 5"/>
          <p:cNvSpPr txBox="1"/>
          <p:nvPr/>
        </p:nvSpPr>
        <p:spPr>
          <a:xfrm>
            <a:off x="9656064" y="2468880"/>
            <a:ext cx="1883664" cy="1005840"/>
          </a:xfrm>
          <a:prstGeom prst="rect">
            <a:avLst/>
          </a:prstGeom>
          <a:noFill/>
          <a:ln/>
        </p:spPr>
        <p:txBody>
          <a:bodyPr wrap="square" lIns="0" tIns="0" rIns="0" bIns="0" rtlCol="0" anchor="t"/>
          <a:lstStyle/>
          <a:p>
            <a:pPr rtl="1" algn="ctr" indent="0" marL="0">
              <a:buNone/>
            </a:pPr>
            <a:r>
              <a:rPr lang="en-US" sz="1200" dirty="0">
                <a:solidFill>
                  <a:schemeClr val="tx1"/>
                </a:solidFill>
              </a:rPr>
              <a:t>ترطيب عميق وتهدئة، وبيرمّم الحاجز</a:t>
            </a:r>
            <a:endParaRPr lang="en-US" sz="1200" dirty="0"/>
          </a:p>
        </p:txBody>
      </p:sp>
      <p:sp>
        <p:nvSpPr>
          <p:cNvPr id="9" name="Shape 6"/>
          <p:cNvSpPr/>
          <p:nvPr/>
        </p:nvSpPr>
        <p:spPr>
          <a:xfrm>
            <a:off x="7296912" y="1325880"/>
            <a:ext cx="2103120" cy="2240280"/>
          </a:xfrm>
          <a:prstGeom prst="roundRect">
            <a:avLst>
              <a:gd name="adj" fmla="val 5217"/>
            </a:avLst>
          </a:prstGeom>
          <a:solidFill>
            <a:schemeClr val="accent2">
              <a:alpha val="10000"/>
            </a:schemeClr>
          </a:solidFill>
          <a:ln w="9525">
            <a:solidFill>
              <a:schemeClr val="accent2">
                <a:alpha val="25000"/>
              </a:schemeClr>
            </a:solidFill>
            <a:prstDash val="solid"/>
          </a:ln>
        </p:spPr>
      </p:sp>
      <p:sp>
        <p:nvSpPr>
          <p:cNvPr id="10" name="Shape 7"/>
          <p:cNvSpPr/>
          <p:nvPr/>
        </p:nvSpPr>
        <p:spPr>
          <a:xfrm>
            <a:off x="8119872" y="1463040"/>
            <a:ext cx="457200" cy="457200"/>
          </a:xfrm>
          <a:prstGeom prst="ellipse">
            <a:avLst/>
          </a:prstGeom>
          <a:solidFill>
            <a:schemeClr val="accent2"/>
          </a:solidFill>
          <a:ln w="12700">
            <a:solidFill>
              <a:schemeClr val="accent2"/>
            </a:solidFill>
            <a:prstDash val="solid"/>
          </a:ln>
        </p:spPr>
      </p:sp>
      <p:sp>
        <p:nvSpPr>
          <p:cNvPr id="11" name="Text 8"/>
          <p:cNvSpPr txBox="1"/>
          <p:nvPr/>
        </p:nvSpPr>
        <p:spPr>
          <a:xfrm>
            <a:off x="8119872" y="146304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2" name="Text 9"/>
          <p:cNvSpPr txBox="1"/>
          <p:nvPr/>
        </p:nvSpPr>
        <p:spPr>
          <a:xfrm>
            <a:off x="7388352" y="2011680"/>
            <a:ext cx="1920240" cy="457200"/>
          </a:xfrm>
          <a:prstGeom prst="rect">
            <a:avLst/>
          </a:prstGeom>
          <a:noFill/>
          <a:ln/>
        </p:spPr>
        <p:txBody>
          <a:bodyPr wrap="square" lIns="0" tIns="0" rIns="0" bIns="0" rtlCol="0" anchor="ctr"/>
          <a:lstStyle/>
          <a:p>
            <a:pPr algn="ctr" indent="0" marL="0">
              <a:buNone/>
            </a:pPr>
            <a:r>
              <a:rPr lang="en-US" sz="1400" b="1" dirty="0">
                <a:solidFill>
                  <a:schemeClr val="accent2"/>
                </a:solidFill>
              </a:rPr>
              <a:t>Vitamin E 0.5%</a:t>
            </a:r>
            <a:endParaRPr lang="en-US" sz="1400" dirty="0"/>
          </a:p>
        </p:txBody>
      </p:sp>
      <p:sp>
        <p:nvSpPr>
          <p:cNvPr id="13" name="Text 10"/>
          <p:cNvSpPr txBox="1"/>
          <p:nvPr/>
        </p:nvSpPr>
        <p:spPr>
          <a:xfrm>
            <a:off x="7406640" y="2468880"/>
            <a:ext cx="1883664" cy="1005840"/>
          </a:xfrm>
          <a:prstGeom prst="rect">
            <a:avLst/>
          </a:prstGeom>
          <a:noFill/>
          <a:ln/>
        </p:spPr>
        <p:txBody>
          <a:bodyPr wrap="square" lIns="0" tIns="0" rIns="0" bIns="0" rtlCol="0" anchor="t"/>
          <a:lstStyle/>
          <a:p>
            <a:pPr rtl="1" algn="ctr" indent="0" marL="0">
              <a:buNone/>
            </a:pPr>
            <a:r>
              <a:rPr lang="en-US" sz="1200" dirty="0">
                <a:solidFill>
                  <a:schemeClr val="tx1"/>
                </a:solidFill>
              </a:rPr>
              <a:t>مضاد أكسدة، بيحمي دهون الجلد</a:t>
            </a:r>
            <a:endParaRPr lang="en-US" sz="1200" dirty="0"/>
          </a:p>
        </p:txBody>
      </p:sp>
      <p:sp>
        <p:nvSpPr>
          <p:cNvPr id="14" name="Shape 11"/>
          <p:cNvSpPr/>
          <p:nvPr/>
        </p:nvSpPr>
        <p:spPr>
          <a:xfrm>
            <a:off x="5047488" y="1325880"/>
            <a:ext cx="2103120" cy="2240280"/>
          </a:xfrm>
          <a:prstGeom prst="roundRect">
            <a:avLst>
              <a:gd name="adj" fmla="val 5217"/>
            </a:avLst>
          </a:prstGeom>
          <a:solidFill>
            <a:schemeClr val="accent2">
              <a:alpha val="10000"/>
            </a:schemeClr>
          </a:solidFill>
          <a:ln w="9525">
            <a:solidFill>
              <a:schemeClr val="accent2">
                <a:alpha val="25000"/>
              </a:schemeClr>
            </a:solidFill>
            <a:prstDash val="solid"/>
          </a:ln>
        </p:spPr>
      </p:sp>
      <p:sp>
        <p:nvSpPr>
          <p:cNvPr id="15" name="Shape 12"/>
          <p:cNvSpPr/>
          <p:nvPr/>
        </p:nvSpPr>
        <p:spPr>
          <a:xfrm>
            <a:off x="5870448" y="1463040"/>
            <a:ext cx="457200" cy="457200"/>
          </a:xfrm>
          <a:prstGeom prst="ellipse">
            <a:avLst/>
          </a:prstGeom>
          <a:solidFill>
            <a:schemeClr val="accent2"/>
          </a:solidFill>
          <a:ln w="12700">
            <a:solidFill>
              <a:schemeClr val="accent2"/>
            </a:solidFill>
            <a:prstDash val="solid"/>
          </a:ln>
        </p:spPr>
      </p:sp>
      <p:sp>
        <p:nvSpPr>
          <p:cNvPr id="16" name="Text 13"/>
          <p:cNvSpPr txBox="1"/>
          <p:nvPr/>
        </p:nvSpPr>
        <p:spPr>
          <a:xfrm>
            <a:off x="5870448" y="146304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7" name="Text 14"/>
          <p:cNvSpPr txBox="1"/>
          <p:nvPr/>
        </p:nvSpPr>
        <p:spPr>
          <a:xfrm>
            <a:off x="5138928" y="2011680"/>
            <a:ext cx="1920240" cy="457200"/>
          </a:xfrm>
          <a:prstGeom prst="rect">
            <a:avLst/>
          </a:prstGeom>
          <a:noFill/>
          <a:ln/>
        </p:spPr>
        <p:txBody>
          <a:bodyPr wrap="square" lIns="0" tIns="0" rIns="0" bIns="0" rtlCol="0" anchor="ctr"/>
          <a:lstStyle/>
          <a:p>
            <a:pPr algn="ctr" indent="0" marL="0">
              <a:buNone/>
            </a:pPr>
            <a:r>
              <a:rPr lang="en-US" sz="1400" b="1" dirty="0">
                <a:solidFill>
                  <a:schemeClr val="accent2"/>
                </a:solidFill>
              </a:rPr>
              <a:t>Ceramide 1%</a:t>
            </a:r>
            <a:endParaRPr lang="en-US" sz="1400" dirty="0"/>
          </a:p>
        </p:txBody>
      </p:sp>
      <p:sp>
        <p:nvSpPr>
          <p:cNvPr id="18" name="Text 15"/>
          <p:cNvSpPr txBox="1"/>
          <p:nvPr/>
        </p:nvSpPr>
        <p:spPr>
          <a:xfrm>
            <a:off x="5157216" y="2468880"/>
            <a:ext cx="1883664" cy="1005840"/>
          </a:xfrm>
          <a:prstGeom prst="rect">
            <a:avLst/>
          </a:prstGeom>
          <a:noFill/>
          <a:ln/>
        </p:spPr>
        <p:txBody>
          <a:bodyPr wrap="square" lIns="0" tIns="0" rIns="0" bIns="0" rtlCol="0" anchor="t"/>
          <a:lstStyle/>
          <a:p>
            <a:pPr rtl="1" algn="ctr" indent="0" marL="0">
              <a:buNone/>
            </a:pPr>
            <a:r>
              <a:rPr lang="en-US" sz="1200" dirty="0">
                <a:solidFill>
                  <a:schemeClr val="tx1"/>
                </a:solidFill>
              </a:rPr>
              <a:t>بيرجّع دهون حاجز البشرة</a:t>
            </a:r>
            <a:endParaRPr lang="en-US" sz="1200" dirty="0"/>
          </a:p>
        </p:txBody>
      </p:sp>
      <p:sp>
        <p:nvSpPr>
          <p:cNvPr id="19" name="Shape 16"/>
          <p:cNvSpPr/>
          <p:nvPr/>
        </p:nvSpPr>
        <p:spPr>
          <a:xfrm>
            <a:off x="2798064" y="1325880"/>
            <a:ext cx="2103120" cy="2240280"/>
          </a:xfrm>
          <a:prstGeom prst="roundRect">
            <a:avLst>
              <a:gd name="adj" fmla="val 5217"/>
            </a:avLst>
          </a:prstGeom>
          <a:solidFill>
            <a:schemeClr val="accent2">
              <a:alpha val="10000"/>
            </a:schemeClr>
          </a:solidFill>
          <a:ln w="9525">
            <a:solidFill>
              <a:schemeClr val="accent2">
                <a:alpha val="25000"/>
              </a:schemeClr>
            </a:solidFill>
            <a:prstDash val="solid"/>
          </a:ln>
        </p:spPr>
      </p:sp>
      <p:sp>
        <p:nvSpPr>
          <p:cNvPr id="20" name="Shape 17"/>
          <p:cNvSpPr/>
          <p:nvPr/>
        </p:nvSpPr>
        <p:spPr>
          <a:xfrm>
            <a:off x="3621024" y="1463040"/>
            <a:ext cx="457200" cy="457200"/>
          </a:xfrm>
          <a:prstGeom prst="ellipse">
            <a:avLst/>
          </a:prstGeom>
          <a:solidFill>
            <a:schemeClr val="accent2"/>
          </a:solidFill>
          <a:ln w="12700">
            <a:solidFill>
              <a:schemeClr val="accent2"/>
            </a:solidFill>
            <a:prstDash val="solid"/>
          </a:ln>
        </p:spPr>
      </p:sp>
      <p:sp>
        <p:nvSpPr>
          <p:cNvPr id="21" name="Text 18"/>
          <p:cNvSpPr txBox="1"/>
          <p:nvPr/>
        </p:nvSpPr>
        <p:spPr>
          <a:xfrm>
            <a:off x="3621024" y="146304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2" name="Text 19"/>
          <p:cNvSpPr txBox="1"/>
          <p:nvPr/>
        </p:nvSpPr>
        <p:spPr>
          <a:xfrm>
            <a:off x="2889504" y="2011680"/>
            <a:ext cx="1920240" cy="457200"/>
          </a:xfrm>
          <a:prstGeom prst="rect">
            <a:avLst/>
          </a:prstGeom>
          <a:noFill/>
          <a:ln/>
        </p:spPr>
        <p:txBody>
          <a:bodyPr wrap="square" lIns="0" tIns="0" rIns="0" bIns="0" rtlCol="0" anchor="ctr"/>
          <a:lstStyle/>
          <a:p>
            <a:pPr algn="ctr" indent="0" marL="0">
              <a:buNone/>
            </a:pPr>
            <a:r>
              <a:rPr lang="en-US" sz="1400" b="1" dirty="0">
                <a:solidFill>
                  <a:schemeClr val="accent2"/>
                </a:solidFill>
              </a:rPr>
              <a:t>Allantoin 1%</a:t>
            </a:r>
            <a:endParaRPr lang="en-US" sz="1400" dirty="0"/>
          </a:p>
        </p:txBody>
      </p:sp>
      <p:sp>
        <p:nvSpPr>
          <p:cNvPr id="23" name="Text 20"/>
          <p:cNvSpPr txBox="1"/>
          <p:nvPr/>
        </p:nvSpPr>
        <p:spPr>
          <a:xfrm>
            <a:off x="2907792" y="2468880"/>
            <a:ext cx="1883664" cy="1005840"/>
          </a:xfrm>
          <a:prstGeom prst="rect">
            <a:avLst/>
          </a:prstGeom>
          <a:noFill/>
          <a:ln/>
        </p:spPr>
        <p:txBody>
          <a:bodyPr wrap="square" lIns="0" tIns="0" rIns="0" bIns="0" rtlCol="0" anchor="t"/>
          <a:lstStyle/>
          <a:p>
            <a:pPr rtl="1" algn="ctr" indent="0" marL="0">
              <a:buNone/>
            </a:pPr>
            <a:r>
              <a:rPr lang="en-US" sz="1200" dirty="0">
                <a:solidFill>
                  <a:schemeClr val="tx1"/>
                </a:solidFill>
              </a:rPr>
              <a:t>بيهدّي وينعّم الجلد الخشن</a:t>
            </a:r>
            <a:endParaRPr lang="en-US" sz="1200" dirty="0"/>
          </a:p>
        </p:txBody>
      </p:sp>
      <p:sp>
        <p:nvSpPr>
          <p:cNvPr id="24" name="Shape 21"/>
          <p:cNvSpPr/>
          <p:nvPr/>
        </p:nvSpPr>
        <p:spPr>
          <a:xfrm>
            <a:off x="548640" y="1325880"/>
            <a:ext cx="2103120" cy="2240280"/>
          </a:xfrm>
          <a:prstGeom prst="roundRect">
            <a:avLst>
              <a:gd name="adj" fmla="val 5217"/>
            </a:avLst>
          </a:prstGeom>
          <a:solidFill>
            <a:schemeClr val="accent2">
              <a:alpha val="10000"/>
            </a:schemeClr>
          </a:solidFill>
          <a:ln w="9525">
            <a:solidFill>
              <a:schemeClr val="accent2">
                <a:alpha val="25000"/>
              </a:schemeClr>
            </a:solidFill>
            <a:prstDash val="solid"/>
          </a:ln>
        </p:spPr>
      </p:sp>
      <p:sp>
        <p:nvSpPr>
          <p:cNvPr id="25" name="Shape 22"/>
          <p:cNvSpPr/>
          <p:nvPr/>
        </p:nvSpPr>
        <p:spPr>
          <a:xfrm>
            <a:off x="1371600" y="1463040"/>
            <a:ext cx="457200" cy="457200"/>
          </a:xfrm>
          <a:prstGeom prst="ellipse">
            <a:avLst/>
          </a:prstGeom>
          <a:solidFill>
            <a:schemeClr val="accent2"/>
          </a:solidFill>
          <a:ln w="12700">
            <a:solidFill>
              <a:schemeClr val="accent2"/>
            </a:solidFill>
            <a:prstDash val="solid"/>
          </a:ln>
        </p:spPr>
      </p:sp>
      <p:sp>
        <p:nvSpPr>
          <p:cNvPr id="26" name="Text 23"/>
          <p:cNvSpPr txBox="1"/>
          <p:nvPr/>
        </p:nvSpPr>
        <p:spPr>
          <a:xfrm>
            <a:off x="1371600" y="146304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27" name="Text 24"/>
          <p:cNvSpPr txBox="1"/>
          <p:nvPr/>
        </p:nvSpPr>
        <p:spPr>
          <a:xfrm>
            <a:off x="640080" y="2011680"/>
            <a:ext cx="1920240" cy="457200"/>
          </a:xfrm>
          <a:prstGeom prst="rect">
            <a:avLst/>
          </a:prstGeom>
          <a:noFill/>
          <a:ln/>
        </p:spPr>
        <p:txBody>
          <a:bodyPr wrap="square" lIns="0" tIns="0" rIns="0" bIns="0" rtlCol="0" anchor="ctr"/>
          <a:lstStyle/>
          <a:p>
            <a:pPr algn="ctr" indent="0" marL="0">
              <a:buNone/>
            </a:pPr>
            <a:r>
              <a:rPr lang="en-US" sz="1400" b="1" dirty="0">
                <a:solidFill>
                  <a:schemeClr val="accent2"/>
                </a:solidFill>
              </a:rPr>
              <a:t>Glycerin 2%</a:t>
            </a:r>
            <a:endParaRPr lang="en-US" sz="1400" dirty="0"/>
          </a:p>
        </p:txBody>
      </p:sp>
      <p:sp>
        <p:nvSpPr>
          <p:cNvPr id="28" name="Text 25"/>
          <p:cNvSpPr txBox="1"/>
          <p:nvPr/>
        </p:nvSpPr>
        <p:spPr>
          <a:xfrm>
            <a:off x="658368" y="2468880"/>
            <a:ext cx="1883664" cy="1005840"/>
          </a:xfrm>
          <a:prstGeom prst="rect">
            <a:avLst/>
          </a:prstGeom>
          <a:noFill/>
          <a:ln/>
        </p:spPr>
        <p:txBody>
          <a:bodyPr wrap="square" lIns="0" tIns="0" rIns="0" bIns="0" rtlCol="0" anchor="t"/>
          <a:lstStyle/>
          <a:p>
            <a:pPr rtl="1" algn="ctr" indent="0" marL="0">
              <a:buNone/>
            </a:pPr>
            <a:r>
              <a:rPr lang="en-US" sz="1200" dirty="0">
                <a:solidFill>
                  <a:schemeClr val="tx1"/>
                </a:solidFill>
              </a:rPr>
              <a:t>بيشدّ المية ويحافظ على الترطيب</a:t>
            </a:r>
            <a:endParaRPr lang="en-US" sz="1200" dirty="0"/>
          </a:p>
        </p:txBody>
      </p:sp>
      <p:sp>
        <p:nvSpPr>
          <p:cNvPr id="29" name="Shape 26"/>
          <p:cNvSpPr/>
          <p:nvPr/>
        </p:nvSpPr>
        <p:spPr>
          <a:xfrm>
            <a:off x="9546336" y="3749040"/>
            <a:ext cx="2103120" cy="2240280"/>
          </a:xfrm>
          <a:prstGeom prst="roundRect">
            <a:avLst>
              <a:gd name="adj" fmla="val 5217"/>
            </a:avLst>
          </a:prstGeom>
          <a:solidFill>
            <a:schemeClr val="accent2">
              <a:alpha val="10000"/>
            </a:schemeClr>
          </a:solidFill>
          <a:ln w="9525">
            <a:solidFill>
              <a:schemeClr val="accent2">
                <a:alpha val="25000"/>
              </a:schemeClr>
            </a:solidFill>
            <a:prstDash val="solid"/>
          </a:ln>
        </p:spPr>
      </p:sp>
      <p:sp>
        <p:nvSpPr>
          <p:cNvPr id="30" name="Shape 27"/>
          <p:cNvSpPr/>
          <p:nvPr/>
        </p:nvSpPr>
        <p:spPr>
          <a:xfrm>
            <a:off x="10369296" y="3886200"/>
            <a:ext cx="457200" cy="457200"/>
          </a:xfrm>
          <a:prstGeom prst="ellipse">
            <a:avLst/>
          </a:prstGeom>
          <a:solidFill>
            <a:schemeClr val="accent2"/>
          </a:solidFill>
          <a:ln w="12700">
            <a:solidFill>
              <a:schemeClr val="accent2"/>
            </a:solidFill>
            <a:prstDash val="solid"/>
          </a:ln>
        </p:spPr>
      </p:sp>
      <p:sp>
        <p:nvSpPr>
          <p:cNvPr id="31" name="Text 28"/>
          <p:cNvSpPr txBox="1"/>
          <p:nvPr/>
        </p:nvSpPr>
        <p:spPr>
          <a:xfrm>
            <a:off x="10369296" y="388620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6</a:t>
            </a:r>
            <a:endParaRPr lang="en-US" sz="1400" dirty="0"/>
          </a:p>
        </p:txBody>
      </p:sp>
      <p:sp>
        <p:nvSpPr>
          <p:cNvPr id="32" name="Text 29"/>
          <p:cNvSpPr txBox="1"/>
          <p:nvPr/>
        </p:nvSpPr>
        <p:spPr>
          <a:xfrm>
            <a:off x="9637776" y="4434840"/>
            <a:ext cx="1920240" cy="457200"/>
          </a:xfrm>
          <a:prstGeom prst="rect">
            <a:avLst/>
          </a:prstGeom>
          <a:noFill/>
          <a:ln/>
        </p:spPr>
        <p:txBody>
          <a:bodyPr wrap="square" lIns="0" tIns="0" rIns="0" bIns="0" rtlCol="0" anchor="ctr"/>
          <a:lstStyle/>
          <a:p>
            <a:pPr algn="ctr" indent="0" marL="0">
              <a:buNone/>
            </a:pPr>
            <a:r>
              <a:rPr lang="en-US" sz="1400" b="1" dirty="0">
                <a:solidFill>
                  <a:schemeClr val="accent2"/>
                </a:solidFill>
              </a:rPr>
              <a:t>Sweet Almond Oil 3%</a:t>
            </a:r>
            <a:endParaRPr lang="en-US" sz="1400" dirty="0"/>
          </a:p>
        </p:txBody>
      </p:sp>
      <p:sp>
        <p:nvSpPr>
          <p:cNvPr id="33" name="Text 30"/>
          <p:cNvSpPr txBox="1"/>
          <p:nvPr/>
        </p:nvSpPr>
        <p:spPr>
          <a:xfrm>
            <a:off x="9656064" y="4892040"/>
            <a:ext cx="1883664" cy="1005840"/>
          </a:xfrm>
          <a:prstGeom prst="rect">
            <a:avLst/>
          </a:prstGeom>
          <a:noFill/>
          <a:ln/>
        </p:spPr>
        <p:txBody>
          <a:bodyPr wrap="square" lIns="0" tIns="0" rIns="0" bIns="0" rtlCol="0" anchor="t"/>
          <a:lstStyle/>
          <a:p>
            <a:pPr rtl="1" algn="ctr" indent="0" marL="0">
              <a:buNone/>
            </a:pPr>
            <a:r>
              <a:rPr lang="en-US" sz="1200" dirty="0">
                <a:solidFill>
                  <a:schemeClr val="tx1"/>
                </a:solidFill>
              </a:rPr>
              <a:t>مطرّي غني بفيتامين A و E</a:t>
            </a:r>
            <a:endParaRPr lang="en-US" sz="1200" dirty="0"/>
          </a:p>
        </p:txBody>
      </p:sp>
      <p:sp>
        <p:nvSpPr>
          <p:cNvPr id="34" name="Shape 31"/>
          <p:cNvSpPr/>
          <p:nvPr/>
        </p:nvSpPr>
        <p:spPr>
          <a:xfrm>
            <a:off x="7296912" y="3749040"/>
            <a:ext cx="2103120" cy="2240280"/>
          </a:xfrm>
          <a:prstGeom prst="roundRect">
            <a:avLst>
              <a:gd name="adj" fmla="val 5217"/>
            </a:avLst>
          </a:prstGeom>
          <a:solidFill>
            <a:schemeClr val="accent2">
              <a:alpha val="10000"/>
            </a:schemeClr>
          </a:solidFill>
          <a:ln w="9525">
            <a:solidFill>
              <a:schemeClr val="accent2">
                <a:alpha val="25000"/>
              </a:schemeClr>
            </a:solidFill>
            <a:prstDash val="solid"/>
          </a:ln>
        </p:spPr>
      </p:sp>
      <p:sp>
        <p:nvSpPr>
          <p:cNvPr id="35" name="Shape 32"/>
          <p:cNvSpPr/>
          <p:nvPr/>
        </p:nvSpPr>
        <p:spPr>
          <a:xfrm>
            <a:off x="8119872" y="3886200"/>
            <a:ext cx="457200" cy="457200"/>
          </a:xfrm>
          <a:prstGeom prst="ellipse">
            <a:avLst/>
          </a:prstGeom>
          <a:solidFill>
            <a:schemeClr val="accent2"/>
          </a:solidFill>
          <a:ln w="12700">
            <a:solidFill>
              <a:schemeClr val="accent2"/>
            </a:solidFill>
            <a:prstDash val="solid"/>
          </a:ln>
        </p:spPr>
      </p:sp>
      <p:sp>
        <p:nvSpPr>
          <p:cNvPr id="36" name="Text 33"/>
          <p:cNvSpPr txBox="1"/>
          <p:nvPr/>
        </p:nvSpPr>
        <p:spPr>
          <a:xfrm>
            <a:off x="8119872" y="388620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7</a:t>
            </a:r>
            <a:endParaRPr lang="en-US" sz="1400" dirty="0"/>
          </a:p>
        </p:txBody>
      </p:sp>
      <p:sp>
        <p:nvSpPr>
          <p:cNvPr id="37" name="Text 34"/>
          <p:cNvSpPr txBox="1"/>
          <p:nvPr/>
        </p:nvSpPr>
        <p:spPr>
          <a:xfrm>
            <a:off x="7388352" y="4434840"/>
            <a:ext cx="1920240" cy="457200"/>
          </a:xfrm>
          <a:prstGeom prst="rect">
            <a:avLst/>
          </a:prstGeom>
          <a:noFill/>
          <a:ln/>
        </p:spPr>
        <p:txBody>
          <a:bodyPr wrap="square" lIns="0" tIns="0" rIns="0" bIns="0" rtlCol="0" anchor="ctr"/>
          <a:lstStyle/>
          <a:p>
            <a:pPr algn="ctr" indent="0" marL="0">
              <a:buNone/>
            </a:pPr>
            <a:r>
              <a:rPr lang="en-US" sz="1400" b="1" dirty="0">
                <a:solidFill>
                  <a:schemeClr val="accent2"/>
                </a:solidFill>
              </a:rPr>
              <a:t>Shea Butter 1%</a:t>
            </a:r>
            <a:endParaRPr lang="en-US" sz="1400" dirty="0"/>
          </a:p>
        </p:txBody>
      </p:sp>
      <p:sp>
        <p:nvSpPr>
          <p:cNvPr id="38" name="Text 35"/>
          <p:cNvSpPr txBox="1"/>
          <p:nvPr/>
        </p:nvSpPr>
        <p:spPr>
          <a:xfrm>
            <a:off x="7406640" y="4892040"/>
            <a:ext cx="1883664" cy="1005840"/>
          </a:xfrm>
          <a:prstGeom prst="rect">
            <a:avLst/>
          </a:prstGeom>
          <a:noFill/>
          <a:ln/>
        </p:spPr>
        <p:txBody>
          <a:bodyPr wrap="square" lIns="0" tIns="0" rIns="0" bIns="0" rtlCol="0" anchor="t"/>
          <a:lstStyle/>
          <a:p>
            <a:pPr rtl="1" algn="ctr" indent="0" marL="0">
              <a:buNone/>
            </a:pPr>
            <a:r>
              <a:rPr lang="en-US" sz="1200" dirty="0">
                <a:solidFill>
                  <a:schemeClr val="tx1"/>
                </a:solidFill>
              </a:rPr>
              <a:t>مطرّي ومهدّئ</a:t>
            </a:r>
            <a:endParaRPr lang="en-US" sz="1200" dirty="0"/>
          </a:p>
        </p:txBody>
      </p:sp>
      <p:sp>
        <p:nvSpPr>
          <p:cNvPr id="39" name="Shape 36"/>
          <p:cNvSpPr/>
          <p:nvPr/>
        </p:nvSpPr>
        <p:spPr>
          <a:xfrm>
            <a:off x="5047488" y="3749040"/>
            <a:ext cx="2103120" cy="2240280"/>
          </a:xfrm>
          <a:prstGeom prst="roundRect">
            <a:avLst>
              <a:gd name="adj" fmla="val 5217"/>
            </a:avLst>
          </a:prstGeom>
          <a:solidFill>
            <a:schemeClr val="accent2">
              <a:alpha val="10000"/>
            </a:schemeClr>
          </a:solidFill>
          <a:ln w="9525">
            <a:solidFill>
              <a:schemeClr val="accent2">
                <a:alpha val="25000"/>
              </a:schemeClr>
            </a:solidFill>
            <a:prstDash val="solid"/>
          </a:ln>
        </p:spPr>
      </p:sp>
      <p:sp>
        <p:nvSpPr>
          <p:cNvPr id="40" name="Shape 37"/>
          <p:cNvSpPr/>
          <p:nvPr/>
        </p:nvSpPr>
        <p:spPr>
          <a:xfrm>
            <a:off x="5870448" y="3886200"/>
            <a:ext cx="457200" cy="457200"/>
          </a:xfrm>
          <a:prstGeom prst="ellipse">
            <a:avLst/>
          </a:prstGeom>
          <a:solidFill>
            <a:schemeClr val="accent2"/>
          </a:solidFill>
          <a:ln w="12700">
            <a:solidFill>
              <a:schemeClr val="accent2"/>
            </a:solidFill>
            <a:prstDash val="solid"/>
          </a:ln>
        </p:spPr>
      </p:sp>
      <p:sp>
        <p:nvSpPr>
          <p:cNvPr id="41" name="Text 38"/>
          <p:cNvSpPr txBox="1"/>
          <p:nvPr/>
        </p:nvSpPr>
        <p:spPr>
          <a:xfrm>
            <a:off x="5870448" y="388620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8</a:t>
            </a:r>
            <a:endParaRPr lang="en-US" sz="1400" dirty="0"/>
          </a:p>
        </p:txBody>
      </p:sp>
      <p:sp>
        <p:nvSpPr>
          <p:cNvPr id="42" name="Text 39"/>
          <p:cNvSpPr txBox="1"/>
          <p:nvPr/>
        </p:nvSpPr>
        <p:spPr>
          <a:xfrm>
            <a:off x="5138928" y="4434840"/>
            <a:ext cx="1920240" cy="457200"/>
          </a:xfrm>
          <a:prstGeom prst="rect">
            <a:avLst/>
          </a:prstGeom>
          <a:noFill/>
          <a:ln/>
        </p:spPr>
        <p:txBody>
          <a:bodyPr wrap="square" lIns="0" tIns="0" rIns="0" bIns="0" rtlCol="0" anchor="ctr"/>
          <a:lstStyle/>
          <a:p>
            <a:pPr algn="ctr" indent="0" marL="0">
              <a:buNone/>
            </a:pPr>
            <a:r>
              <a:rPr lang="en-US" sz="1400" b="1" dirty="0">
                <a:solidFill>
                  <a:schemeClr val="accent2"/>
                </a:solidFill>
              </a:rPr>
              <a:t>Argan Oil 0.5%</a:t>
            </a:r>
            <a:endParaRPr lang="en-US" sz="1400" dirty="0"/>
          </a:p>
        </p:txBody>
      </p:sp>
      <p:sp>
        <p:nvSpPr>
          <p:cNvPr id="43" name="Text 40"/>
          <p:cNvSpPr txBox="1"/>
          <p:nvPr/>
        </p:nvSpPr>
        <p:spPr>
          <a:xfrm>
            <a:off x="5157216" y="4892040"/>
            <a:ext cx="1883664" cy="1005840"/>
          </a:xfrm>
          <a:prstGeom prst="rect">
            <a:avLst/>
          </a:prstGeom>
          <a:noFill/>
          <a:ln/>
        </p:spPr>
        <p:txBody>
          <a:bodyPr wrap="square" lIns="0" tIns="0" rIns="0" bIns="0" rtlCol="0" anchor="t"/>
          <a:lstStyle/>
          <a:p>
            <a:pPr rtl="1" algn="ctr" indent="0" marL="0">
              <a:buNone/>
            </a:pPr>
            <a:r>
              <a:rPr lang="en-US" sz="1200" dirty="0">
                <a:solidFill>
                  <a:schemeClr val="tx1"/>
                </a:solidFill>
              </a:rPr>
              <a:t>غني بفيتامين E، بيرمّم الجلد</a:t>
            </a:r>
            <a:endParaRPr lang="en-US" sz="1200" dirty="0"/>
          </a:p>
        </p:txBody>
      </p:sp>
      <p:sp>
        <p:nvSpPr>
          <p:cNvPr id="44" name="Shape 41"/>
          <p:cNvSpPr/>
          <p:nvPr/>
        </p:nvSpPr>
        <p:spPr>
          <a:xfrm>
            <a:off x="2798064" y="3749040"/>
            <a:ext cx="2103120" cy="2240280"/>
          </a:xfrm>
          <a:prstGeom prst="roundRect">
            <a:avLst>
              <a:gd name="adj" fmla="val 5217"/>
            </a:avLst>
          </a:prstGeom>
          <a:solidFill>
            <a:schemeClr val="accent2">
              <a:alpha val="10000"/>
            </a:schemeClr>
          </a:solidFill>
          <a:ln w="9525">
            <a:solidFill>
              <a:schemeClr val="accent2">
                <a:alpha val="25000"/>
              </a:schemeClr>
            </a:solidFill>
            <a:prstDash val="solid"/>
          </a:ln>
        </p:spPr>
      </p:sp>
      <p:sp>
        <p:nvSpPr>
          <p:cNvPr id="45" name="Shape 42"/>
          <p:cNvSpPr/>
          <p:nvPr/>
        </p:nvSpPr>
        <p:spPr>
          <a:xfrm>
            <a:off x="3621024" y="3886200"/>
            <a:ext cx="457200" cy="457200"/>
          </a:xfrm>
          <a:prstGeom prst="ellipse">
            <a:avLst/>
          </a:prstGeom>
          <a:solidFill>
            <a:schemeClr val="accent2"/>
          </a:solidFill>
          <a:ln w="12700">
            <a:solidFill>
              <a:schemeClr val="accent2"/>
            </a:solidFill>
            <a:prstDash val="solid"/>
          </a:ln>
        </p:spPr>
      </p:sp>
      <p:sp>
        <p:nvSpPr>
          <p:cNvPr id="46" name="Text 43"/>
          <p:cNvSpPr txBox="1"/>
          <p:nvPr/>
        </p:nvSpPr>
        <p:spPr>
          <a:xfrm>
            <a:off x="3621024" y="388620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9</a:t>
            </a:r>
            <a:endParaRPr lang="en-US" sz="1400" dirty="0"/>
          </a:p>
        </p:txBody>
      </p:sp>
      <p:sp>
        <p:nvSpPr>
          <p:cNvPr id="47" name="Text 44"/>
          <p:cNvSpPr txBox="1"/>
          <p:nvPr/>
        </p:nvSpPr>
        <p:spPr>
          <a:xfrm>
            <a:off x="2889504" y="4434840"/>
            <a:ext cx="1920240" cy="457200"/>
          </a:xfrm>
          <a:prstGeom prst="rect">
            <a:avLst/>
          </a:prstGeom>
          <a:noFill/>
          <a:ln/>
        </p:spPr>
        <p:txBody>
          <a:bodyPr wrap="square" lIns="0" tIns="0" rIns="0" bIns="0" rtlCol="0" anchor="ctr"/>
          <a:lstStyle/>
          <a:p>
            <a:pPr algn="ctr" indent="0" marL="0">
              <a:buNone/>
            </a:pPr>
            <a:r>
              <a:rPr lang="en-US" sz="1400" b="1" dirty="0">
                <a:solidFill>
                  <a:schemeClr val="accent2"/>
                </a:solidFill>
              </a:rPr>
              <a:t>Wheat Germ Oil 0.5%</a:t>
            </a:r>
            <a:endParaRPr lang="en-US" sz="1400" dirty="0"/>
          </a:p>
        </p:txBody>
      </p:sp>
      <p:sp>
        <p:nvSpPr>
          <p:cNvPr id="48" name="Text 45"/>
          <p:cNvSpPr txBox="1"/>
          <p:nvPr/>
        </p:nvSpPr>
        <p:spPr>
          <a:xfrm>
            <a:off x="2907792" y="4892040"/>
            <a:ext cx="1883664" cy="1005840"/>
          </a:xfrm>
          <a:prstGeom prst="rect">
            <a:avLst/>
          </a:prstGeom>
          <a:noFill/>
          <a:ln/>
        </p:spPr>
        <p:txBody>
          <a:bodyPr wrap="square" lIns="0" tIns="0" rIns="0" bIns="0" rtlCol="0" anchor="t"/>
          <a:lstStyle/>
          <a:p>
            <a:pPr rtl="1" algn="ctr" indent="0" marL="0">
              <a:buNone/>
            </a:pPr>
            <a:r>
              <a:rPr lang="en-US" sz="1200" dirty="0">
                <a:solidFill>
                  <a:schemeClr val="tx1"/>
                </a:solidFill>
              </a:rPr>
              <a:t>ترطيب وتغذية للبشرة</a:t>
            </a:r>
            <a:endParaRPr lang="en-US" sz="1200" dirty="0"/>
          </a:p>
        </p:txBody>
      </p:sp>
      <p:sp>
        <p:nvSpPr>
          <p:cNvPr id="49" name="Shape 46"/>
          <p:cNvSpPr/>
          <p:nvPr/>
        </p:nvSpPr>
        <p:spPr>
          <a:xfrm>
            <a:off x="548640" y="3749040"/>
            <a:ext cx="2103120" cy="2240280"/>
          </a:xfrm>
          <a:prstGeom prst="roundRect">
            <a:avLst>
              <a:gd name="adj" fmla="val 5217"/>
            </a:avLst>
          </a:prstGeom>
          <a:solidFill>
            <a:schemeClr val="accent2">
              <a:alpha val="10000"/>
            </a:schemeClr>
          </a:solidFill>
          <a:ln w="9525">
            <a:solidFill>
              <a:schemeClr val="accent2">
                <a:alpha val="25000"/>
              </a:schemeClr>
            </a:solidFill>
            <a:prstDash val="solid"/>
          </a:ln>
        </p:spPr>
      </p:sp>
      <p:sp>
        <p:nvSpPr>
          <p:cNvPr id="50" name="Shape 47"/>
          <p:cNvSpPr/>
          <p:nvPr/>
        </p:nvSpPr>
        <p:spPr>
          <a:xfrm>
            <a:off x="1371600" y="3886200"/>
            <a:ext cx="457200" cy="457200"/>
          </a:xfrm>
          <a:prstGeom prst="ellipse">
            <a:avLst/>
          </a:prstGeom>
          <a:solidFill>
            <a:schemeClr val="accent2"/>
          </a:solidFill>
          <a:ln w="12700">
            <a:solidFill>
              <a:schemeClr val="accent2"/>
            </a:solidFill>
            <a:prstDash val="solid"/>
          </a:ln>
        </p:spPr>
      </p:sp>
      <p:sp>
        <p:nvSpPr>
          <p:cNvPr id="51" name="Text 48"/>
          <p:cNvSpPr txBox="1"/>
          <p:nvPr/>
        </p:nvSpPr>
        <p:spPr>
          <a:xfrm>
            <a:off x="1371600" y="388620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10</a:t>
            </a:r>
            <a:endParaRPr lang="en-US" sz="1400" dirty="0"/>
          </a:p>
        </p:txBody>
      </p:sp>
      <p:sp>
        <p:nvSpPr>
          <p:cNvPr id="52" name="Text 49"/>
          <p:cNvSpPr txBox="1"/>
          <p:nvPr/>
        </p:nvSpPr>
        <p:spPr>
          <a:xfrm>
            <a:off x="640080" y="4434840"/>
            <a:ext cx="1920240" cy="457200"/>
          </a:xfrm>
          <a:prstGeom prst="rect">
            <a:avLst/>
          </a:prstGeom>
          <a:noFill/>
          <a:ln/>
        </p:spPr>
        <p:txBody>
          <a:bodyPr wrap="square" lIns="0" tIns="0" rIns="0" bIns="0" rtlCol="0" anchor="ctr"/>
          <a:lstStyle/>
          <a:p>
            <a:pPr algn="ctr" indent="0" marL="0">
              <a:buNone/>
            </a:pPr>
            <a:r>
              <a:rPr lang="en-US" sz="1400" b="1" dirty="0">
                <a:solidFill>
                  <a:schemeClr val="accent2"/>
                </a:solidFill>
              </a:rPr>
              <a:t>Dimethicone 0.5%</a:t>
            </a:r>
            <a:endParaRPr lang="en-US" sz="1400" dirty="0"/>
          </a:p>
        </p:txBody>
      </p:sp>
      <p:sp>
        <p:nvSpPr>
          <p:cNvPr id="53" name="Text 50"/>
          <p:cNvSpPr txBox="1"/>
          <p:nvPr/>
        </p:nvSpPr>
        <p:spPr>
          <a:xfrm>
            <a:off x="658368" y="4892040"/>
            <a:ext cx="1883664" cy="1005840"/>
          </a:xfrm>
          <a:prstGeom prst="rect">
            <a:avLst/>
          </a:prstGeom>
          <a:noFill/>
          <a:ln/>
        </p:spPr>
        <p:txBody>
          <a:bodyPr wrap="square" lIns="0" tIns="0" rIns="0" bIns="0" rtlCol="0" anchor="t"/>
          <a:lstStyle/>
          <a:p>
            <a:pPr rtl="1" algn="ctr" indent="0" marL="0">
              <a:buNone/>
            </a:pPr>
            <a:r>
              <a:rPr lang="en-US" sz="1200" dirty="0">
                <a:solidFill>
                  <a:schemeClr val="tx1"/>
                </a:solidFill>
              </a:rPr>
              <a:t>طبقة خفيفة بتقلّل فقد المية من غير ملمس دهني</a:t>
            </a:r>
            <a:endParaRPr lang="en-US" sz="1200" dirty="0"/>
          </a:p>
        </p:txBody>
      </p:sp>
      <p:sp>
        <p:nvSpPr>
          <p:cNvPr id="25" name="Slide Number Placeholder 0"/>
          <p:cNvSpPr>
            <a:spLocks noGrp="1"/>
          </p:cNvSpPr>
          <p:nvPr>
            <p:ph type="sldNum" sz="quarter" idx="4294967295"/>
          </p:nvPr>
        </p:nvSpPr>
        <p:spPr>
          <a:xfrm>
            <a:off x="5806440" y="630936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ct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p:nvPr>
            <p:ph idx="102" type="title" hasCustomPrompt="1"/>
          </p:nvPr>
        </p:nvSpPr>
        <p:spPr>
          <a:xfrm>
            <a:off x="548640" y="320040"/>
            <a:ext cx="11064240" cy="777240"/>
          </a:xfrm>
          <a:prstGeom prst="rect">
            <a:avLst/>
          </a:prstGeom>
          <a:noFill/>
          <a:ln/>
        </p:spPr>
        <p:txBody>
          <a:bodyPr wrap="square" rtlCol="0" anchor="ctr"/>
          <a:lstStyle/>
          <a:p>
            <a:pPr rtl="1" algn="r" indent="0" marL="0">
              <a:buNone/>
            </a:pPr>
            <a:r>
              <a:rPr lang="en-US" sz="3200" b="1" dirty="0">
                <a:solidFill>
                  <a:schemeClr val="tx2"/>
                </a:solidFill>
              </a:rPr>
              <a:t>E-Panthen — الدليل العلمي والاستخدامات</a:t>
            </a:r>
            <a:endParaRPr lang="en-US" sz="3200" dirty="0"/>
          </a:p>
        </p:txBody>
      </p:sp>
      <p:sp>
        <p:nvSpPr>
          <p:cNvPr id="4" name="Shape 1"/>
          <p:cNvSpPr/>
          <p:nvPr/>
        </p:nvSpPr>
        <p:spPr>
          <a:xfrm>
            <a:off x="548640" y="1325880"/>
            <a:ext cx="11064240" cy="1188720"/>
          </a:xfrm>
          <a:prstGeom prst="roundRect">
            <a:avLst>
              <a:gd name="adj" fmla="val 11538"/>
            </a:avLst>
          </a:prstGeom>
          <a:solidFill>
            <a:schemeClr val="accent2"/>
          </a:solidFill>
          <a:ln w="12700">
            <a:solidFill>
              <a:schemeClr val="accent2"/>
            </a:solidFill>
            <a:prstDash val="solid"/>
          </a:ln>
        </p:spPr>
      </p:sp>
      <p:sp>
        <p:nvSpPr>
          <p:cNvPr id="5" name="Text 2"/>
          <p:cNvSpPr txBox="1"/>
          <p:nvPr/>
        </p:nvSpPr>
        <p:spPr>
          <a:xfrm>
            <a:off x="822960" y="1325880"/>
            <a:ext cx="10515600" cy="1188720"/>
          </a:xfrm>
          <a:prstGeom prst="rect">
            <a:avLst/>
          </a:prstGeom>
          <a:noFill/>
          <a:ln/>
        </p:spPr>
        <p:txBody>
          <a:bodyPr wrap="square" lIns="0" tIns="0" rIns="0" bIns="0" rtlCol="0" anchor="ctr"/>
          <a:lstStyle/>
          <a:p>
            <a:pPr algn="r" indent="0" marL="0">
              <a:spcAft>
                <a:spcPts val="400"/>
              </a:spcAft>
              <a:buNone/>
            </a:pPr>
            <a:r>
              <a:rPr lang="en-US" sz="1200" b="1" dirty="0">
                <a:solidFill>
                  <a:schemeClr val="bg1"/>
                </a:solidFill>
              </a:rPr>
              <a:t>Key Selling Point</a:t>
            </a:r>
            <a:endParaRPr lang="en-US" sz="1200" dirty="0"/>
          </a:p>
          <a:p>
            <a:pPr rtl="1" algn="r" indent="0" marL="0">
              <a:spcAft>
                <a:spcPts val="400"/>
              </a:spcAft>
              <a:buNone/>
            </a:pPr>
            <a:r>
              <a:rPr lang="en-US" sz="1800" b="1" dirty="0">
                <a:solidFill>
                  <a:schemeClr val="bg1"/>
                </a:solidFill>
              </a:rPr>
              <a:t>5% دي-بانثينول + فيتامين E، مع 10 مكونات مرطبة منها السيراميد</a:t>
            </a:r>
            <a:endParaRPr lang="en-US" sz="1200" dirty="0"/>
          </a:p>
        </p:txBody>
      </p:sp>
      <p:sp>
        <p:nvSpPr>
          <p:cNvPr id="6" name="Shape 3"/>
          <p:cNvSpPr/>
          <p:nvPr/>
        </p:nvSpPr>
        <p:spPr>
          <a:xfrm>
            <a:off x="7863840" y="2743200"/>
            <a:ext cx="3749040" cy="2011680"/>
          </a:xfrm>
          <a:prstGeom prst="roundRect">
            <a:avLst>
              <a:gd name="adj" fmla="val 5455"/>
            </a:avLst>
          </a:prstGeom>
          <a:solidFill>
            <a:schemeClr val="accent2">
              <a:alpha val="8000"/>
            </a:schemeClr>
          </a:solidFill>
          <a:ln w="9525">
            <a:solidFill>
              <a:schemeClr val="accent2">
                <a:alpha val="25000"/>
              </a:schemeClr>
            </a:solidFill>
            <a:prstDash val="solid"/>
          </a:ln>
        </p:spPr>
      </p:sp>
      <p:sp>
        <p:nvSpPr>
          <p:cNvPr id="7" name="Text 4"/>
          <p:cNvSpPr txBox="1"/>
          <p:nvPr/>
        </p:nvSpPr>
        <p:spPr>
          <a:xfrm>
            <a:off x="8046720" y="2852928"/>
            <a:ext cx="3383280" cy="365760"/>
          </a:xfrm>
          <a:prstGeom prst="rect">
            <a:avLst/>
          </a:prstGeom>
          <a:noFill/>
          <a:ln/>
        </p:spPr>
        <p:txBody>
          <a:bodyPr wrap="square" lIns="0" tIns="0" rIns="0" bIns="0" rtlCol="0" anchor="ctr"/>
          <a:lstStyle/>
          <a:p>
            <a:pPr algn="l" indent="0" marL="0">
              <a:buNone/>
            </a:pPr>
            <a:r>
              <a:rPr lang="en-US" sz="1400" b="1" dirty="0">
                <a:solidFill>
                  <a:schemeClr val="accent2"/>
                </a:solidFill>
              </a:rPr>
              <a:t>Gehring &amp; Gloor, 2000</a:t>
            </a:r>
            <a:endParaRPr lang="en-US" sz="1400" dirty="0"/>
          </a:p>
        </p:txBody>
      </p:sp>
      <p:sp>
        <p:nvSpPr>
          <p:cNvPr id="8" name="Text 5"/>
          <p:cNvSpPr txBox="1"/>
          <p:nvPr/>
        </p:nvSpPr>
        <p:spPr>
          <a:xfrm>
            <a:off x="8046720" y="3246120"/>
            <a:ext cx="3383280" cy="685800"/>
          </a:xfrm>
          <a:prstGeom prst="rect">
            <a:avLst/>
          </a:prstGeom>
          <a:noFill/>
          <a:ln/>
        </p:spPr>
        <p:txBody>
          <a:bodyPr wrap="square" lIns="0" tIns="0" rIns="0" bIns="0" rtlCol="0" anchor="t"/>
          <a:lstStyle/>
          <a:p>
            <a:pPr rtl="1" algn="r" indent="0" marL="0">
              <a:buNone/>
            </a:pPr>
            <a:r>
              <a:rPr lang="en-US" sz="1300" dirty="0">
                <a:solidFill>
                  <a:schemeClr val="accent5"/>
                </a:solidFill>
              </a:rPr>
              <a:t>دراسة مزدوجة التعمية على البشر · أسبوع</a:t>
            </a:r>
            <a:endParaRPr lang="en-US" sz="1300" dirty="0"/>
          </a:p>
        </p:txBody>
      </p:sp>
      <p:sp>
        <p:nvSpPr>
          <p:cNvPr id="9" name="Text 6"/>
          <p:cNvSpPr txBox="1"/>
          <p:nvPr/>
        </p:nvSpPr>
        <p:spPr>
          <a:xfrm>
            <a:off x="8046720" y="3931920"/>
            <a:ext cx="3383280" cy="731520"/>
          </a:xfrm>
          <a:prstGeom prst="rect">
            <a:avLst/>
          </a:prstGeom>
          <a:noFill/>
          <a:ln/>
        </p:spPr>
        <p:txBody>
          <a:bodyPr wrap="square" lIns="0" tIns="0" rIns="0" bIns="0" rtlCol="0" anchor="t"/>
          <a:lstStyle/>
          <a:p>
            <a:pPr rtl="1" algn="r" indent="0" marL="0">
              <a:buNone/>
            </a:pPr>
            <a:r>
              <a:rPr lang="en-US" sz="1400" b="1" dirty="0">
                <a:solidFill>
                  <a:schemeClr val="tx1"/>
                </a:solidFill>
              </a:rPr>
              <a:t>زيادة ترطيب الطبقة القرنية وتقليل فقد المية</a:t>
            </a:r>
            <a:endParaRPr lang="en-US" sz="1400" dirty="0"/>
          </a:p>
        </p:txBody>
      </p:sp>
      <p:sp>
        <p:nvSpPr>
          <p:cNvPr id="10" name="Shape 7"/>
          <p:cNvSpPr/>
          <p:nvPr/>
        </p:nvSpPr>
        <p:spPr>
          <a:xfrm>
            <a:off x="4023360" y="2743200"/>
            <a:ext cx="3657600" cy="2011680"/>
          </a:xfrm>
          <a:prstGeom prst="roundRect">
            <a:avLst>
              <a:gd name="adj" fmla="val 5455"/>
            </a:avLst>
          </a:prstGeom>
          <a:solidFill>
            <a:schemeClr val="accent2">
              <a:alpha val="8000"/>
            </a:schemeClr>
          </a:solidFill>
          <a:ln w="9525">
            <a:solidFill>
              <a:schemeClr val="accent2">
                <a:alpha val="25000"/>
              </a:schemeClr>
            </a:solidFill>
            <a:prstDash val="solid"/>
          </a:ln>
        </p:spPr>
      </p:sp>
      <p:sp>
        <p:nvSpPr>
          <p:cNvPr id="11" name="Text 8"/>
          <p:cNvSpPr txBox="1"/>
          <p:nvPr/>
        </p:nvSpPr>
        <p:spPr>
          <a:xfrm>
            <a:off x="4206240" y="2852928"/>
            <a:ext cx="3291840" cy="365760"/>
          </a:xfrm>
          <a:prstGeom prst="rect">
            <a:avLst/>
          </a:prstGeom>
          <a:noFill/>
          <a:ln/>
        </p:spPr>
        <p:txBody>
          <a:bodyPr wrap="square" lIns="0" tIns="0" rIns="0" bIns="0" rtlCol="0" anchor="ctr"/>
          <a:lstStyle/>
          <a:p>
            <a:pPr algn="l" indent="0" marL="0">
              <a:buNone/>
            </a:pPr>
            <a:r>
              <a:rPr lang="en-US" sz="1400" b="1" dirty="0">
                <a:solidFill>
                  <a:schemeClr val="accent2"/>
                </a:solidFill>
              </a:rPr>
              <a:t>Proksch, 2017</a:t>
            </a:r>
            <a:endParaRPr lang="en-US" sz="1400" dirty="0"/>
          </a:p>
        </p:txBody>
      </p:sp>
      <p:sp>
        <p:nvSpPr>
          <p:cNvPr id="12" name="Text 9"/>
          <p:cNvSpPr txBox="1"/>
          <p:nvPr/>
        </p:nvSpPr>
        <p:spPr>
          <a:xfrm>
            <a:off x="4206240" y="3246120"/>
            <a:ext cx="3291840" cy="685800"/>
          </a:xfrm>
          <a:prstGeom prst="rect">
            <a:avLst/>
          </a:prstGeom>
          <a:noFill/>
          <a:ln/>
        </p:spPr>
        <p:txBody>
          <a:bodyPr wrap="square" lIns="0" tIns="0" rIns="0" bIns="0" rtlCol="0" anchor="t"/>
          <a:lstStyle/>
          <a:p>
            <a:pPr rtl="1" algn="r" indent="0" marL="0">
              <a:buNone/>
            </a:pPr>
            <a:r>
              <a:rPr lang="en-US" sz="1300" dirty="0">
                <a:solidFill>
                  <a:schemeClr val="accent5"/>
                </a:solidFill>
              </a:rPr>
              <a:t>مراجعة 70 سنة استخدام للبانثينول</a:t>
            </a:r>
            <a:endParaRPr lang="en-US" sz="1300" dirty="0"/>
          </a:p>
        </p:txBody>
      </p:sp>
      <p:sp>
        <p:nvSpPr>
          <p:cNvPr id="13" name="Text 10"/>
          <p:cNvSpPr txBox="1"/>
          <p:nvPr/>
        </p:nvSpPr>
        <p:spPr>
          <a:xfrm>
            <a:off x="4206240" y="3931920"/>
            <a:ext cx="3291840" cy="731520"/>
          </a:xfrm>
          <a:prstGeom prst="rect">
            <a:avLst/>
          </a:prstGeom>
          <a:noFill/>
          <a:ln/>
        </p:spPr>
        <p:txBody>
          <a:bodyPr wrap="square" lIns="0" tIns="0" rIns="0" bIns="0" rtlCol="0" anchor="t"/>
          <a:lstStyle/>
          <a:p>
            <a:pPr rtl="1" algn="r" indent="0" marL="0">
              <a:buNone/>
            </a:pPr>
            <a:r>
              <a:rPr lang="en-US" sz="1400" b="1" dirty="0">
                <a:solidFill>
                  <a:schemeClr val="tx1"/>
                </a:solidFill>
              </a:rPr>
              <a:t>مرطب ومرمّم لحاجز البشرة ويساعد التئام الجلد</a:t>
            </a:r>
            <a:endParaRPr lang="en-US" sz="1400" dirty="0"/>
          </a:p>
        </p:txBody>
      </p:sp>
      <p:sp>
        <p:nvSpPr>
          <p:cNvPr id="14" name="Shape 11"/>
          <p:cNvSpPr/>
          <p:nvPr/>
        </p:nvSpPr>
        <p:spPr>
          <a:xfrm>
            <a:off x="548640" y="2743200"/>
            <a:ext cx="3291840" cy="2011680"/>
          </a:xfrm>
          <a:prstGeom prst="roundRect">
            <a:avLst>
              <a:gd name="adj" fmla="val 5455"/>
            </a:avLst>
          </a:prstGeom>
          <a:solidFill>
            <a:schemeClr val="accent2">
              <a:alpha val="8000"/>
            </a:schemeClr>
          </a:solidFill>
          <a:ln w="9525">
            <a:solidFill>
              <a:schemeClr val="accent2">
                <a:alpha val="25000"/>
              </a:schemeClr>
            </a:solidFill>
            <a:prstDash val="solid"/>
          </a:ln>
        </p:spPr>
      </p:sp>
      <p:sp>
        <p:nvSpPr>
          <p:cNvPr id="15" name="Text 12"/>
          <p:cNvSpPr txBox="1"/>
          <p:nvPr/>
        </p:nvSpPr>
        <p:spPr>
          <a:xfrm>
            <a:off x="731520" y="2852928"/>
            <a:ext cx="2926080" cy="365760"/>
          </a:xfrm>
          <a:prstGeom prst="rect">
            <a:avLst/>
          </a:prstGeom>
          <a:noFill/>
          <a:ln/>
        </p:spPr>
        <p:txBody>
          <a:bodyPr wrap="square" lIns="0" tIns="0" rIns="0" bIns="0" rtlCol="0" anchor="ctr"/>
          <a:lstStyle/>
          <a:p>
            <a:pPr algn="l" indent="0" marL="0">
              <a:buNone/>
            </a:pPr>
            <a:r>
              <a:rPr lang="en-US" sz="1400" b="1" dirty="0">
                <a:solidFill>
                  <a:schemeClr val="accent2"/>
                </a:solidFill>
              </a:rPr>
              <a:t>Coderch, 2003</a:t>
            </a:r>
            <a:endParaRPr lang="en-US" sz="1400" dirty="0"/>
          </a:p>
        </p:txBody>
      </p:sp>
      <p:sp>
        <p:nvSpPr>
          <p:cNvPr id="16" name="Text 13"/>
          <p:cNvSpPr txBox="1"/>
          <p:nvPr/>
        </p:nvSpPr>
        <p:spPr>
          <a:xfrm>
            <a:off x="731520" y="3246120"/>
            <a:ext cx="2926080" cy="685800"/>
          </a:xfrm>
          <a:prstGeom prst="rect">
            <a:avLst/>
          </a:prstGeom>
          <a:noFill/>
          <a:ln/>
        </p:spPr>
        <p:txBody>
          <a:bodyPr wrap="square" lIns="0" tIns="0" rIns="0" bIns="0" rtlCol="0" anchor="t"/>
          <a:lstStyle/>
          <a:p>
            <a:pPr rtl="1" algn="r" indent="0" marL="0">
              <a:buNone/>
            </a:pPr>
            <a:r>
              <a:rPr lang="en-US" sz="1300" dirty="0">
                <a:solidFill>
                  <a:schemeClr val="accent5"/>
                </a:solidFill>
              </a:rPr>
              <a:t>مراجعة عن السيراميد</a:t>
            </a:r>
            <a:endParaRPr lang="en-US" sz="1300" dirty="0"/>
          </a:p>
        </p:txBody>
      </p:sp>
      <p:sp>
        <p:nvSpPr>
          <p:cNvPr id="17" name="Text 14"/>
          <p:cNvSpPr txBox="1"/>
          <p:nvPr/>
        </p:nvSpPr>
        <p:spPr>
          <a:xfrm>
            <a:off x="731520" y="3931920"/>
            <a:ext cx="2926080" cy="731520"/>
          </a:xfrm>
          <a:prstGeom prst="rect">
            <a:avLst/>
          </a:prstGeom>
          <a:noFill/>
          <a:ln/>
        </p:spPr>
        <p:txBody>
          <a:bodyPr wrap="square" lIns="0" tIns="0" rIns="0" bIns="0" rtlCol="0" anchor="t"/>
          <a:lstStyle/>
          <a:p>
            <a:pPr rtl="1" algn="r" indent="0" marL="0">
              <a:buNone/>
            </a:pPr>
            <a:r>
              <a:rPr lang="en-US" sz="1400" b="1" dirty="0">
                <a:solidFill>
                  <a:schemeClr val="tx1"/>
                </a:solidFill>
              </a:rPr>
              <a:t>بيرمّم حاجز الجلد الجاف</a:t>
            </a:r>
            <a:endParaRPr lang="en-US" sz="1400" dirty="0"/>
          </a:p>
        </p:txBody>
      </p:sp>
      <p:sp>
        <p:nvSpPr>
          <p:cNvPr id="18" name="Shape 15"/>
          <p:cNvSpPr/>
          <p:nvPr/>
        </p:nvSpPr>
        <p:spPr>
          <a:xfrm>
            <a:off x="548640" y="4937760"/>
            <a:ext cx="11064240" cy="1143000"/>
          </a:xfrm>
          <a:prstGeom prst="roundRect">
            <a:avLst>
              <a:gd name="adj" fmla="val 9600"/>
            </a:avLst>
          </a:prstGeom>
          <a:solidFill>
            <a:schemeClr val="accent2">
              <a:alpha val="7000"/>
            </a:schemeClr>
          </a:solidFill>
          <a:ln w="9525">
            <a:solidFill>
              <a:schemeClr val="accent2">
                <a:alpha val="25000"/>
              </a:schemeClr>
            </a:solidFill>
            <a:prstDash val="solid"/>
          </a:ln>
        </p:spPr>
      </p:sp>
      <p:sp>
        <p:nvSpPr>
          <p:cNvPr id="19" name="Text 16"/>
          <p:cNvSpPr txBox="1"/>
          <p:nvPr/>
        </p:nvSpPr>
        <p:spPr>
          <a:xfrm>
            <a:off x="731520" y="4983480"/>
            <a:ext cx="10698480" cy="1051560"/>
          </a:xfrm>
          <a:prstGeom prst="rect">
            <a:avLst/>
          </a:prstGeom>
          <a:noFill/>
          <a:ln/>
        </p:spPr>
        <p:txBody>
          <a:bodyPr wrap="square" lIns="0" tIns="0" rIns="0" bIns="0" rtlCol="0" anchor="ctr"/>
          <a:lstStyle/>
          <a:p>
            <a:pPr algn="r" indent="0" marL="0">
              <a:buNone/>
            </a:pPr>
            <a:r>
              <a:rPr lang="en-US" sz="1500" b="1" dirty="0">
                <a:solidFill>
                  <a:schemeClr val="accent2"/>
                </a:solidFill>
              </a:rPr>
              <a:t>مناسب لـ:  </a:t>
            </a:r>
            <a:pPr algn="r" indent="0" marL="0">
              <a:buNone/>
            </a:pPr>
            <a:r>
              <a:rPr lang="en-US" sz="1500" dirty="0">
                <a:solidFill>
                  <a:schemeClr val="tx1"/>
                </a:solidFill>
              </a:rPr>
              <a:t>الجلد الجاف والخشن (اليدين، الكوع، القدمين) · الاحمرار بعد الشمس · علامات الضغط · الحروق السطحية البسيطة</a:t>
            </a:r>
            <a:endParaRPr lang="en-US" sz="1500" dirty="0"/>
          </a:p>
        </p:txBody>
      </p:sp>
      <p:sp>
        <p:nvSpPr>
          <p:cNvPr id="25" name="Slide Number Placeholder 0"/>
          <p:cNvSpPr>
            <a:spLocks noGrp="1"/>
          </p:cNvSpPr>
          <p:nvPr>
            <p:ph type="sldNum" sz="quarter" idx="4294967295"/>
          </p:nvPr>
        </p:nvSpPr>
        <p:spPr>
          <a:xfrm>
            <a:off x="5806440" y="630936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ct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chemeClr val="accent3"/>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120640" y="2194560"/>
            <a:ext cx="6492240" cy="1097280"/>
          </a:xfrm>
          <a:prstGeom prst="rect">
            <a:avLst/>
          </a:prstGeom>
          <a:noFill/>
          <a:ln/>
        </p:spPr>
        <p:txBody>
          <a:bodyPr wrap="square" rtlCol="0" anchor="b"/>
          <a:lstStyle/>
          <a:p>
            <a:pPr rtl="1" algn="r" indent="0" marL="0">
              <a:buNone/>
            </a:pPr>
            <a:r>
              <a:rPr lang="en-US" sz="4400" b="1" dirty="0">
                <a:solidFill>
                  <a:schemeClr val="bg1"/>
                </a:solidFill>
              </a:rPr>
              <a:t>Mebonol</a:t>
            </a:r>
            <a:endParaRPr lang="en-US" sz="4400" dirty="0"/>
          </a:p>
        </p:txBody>
      </p:sp>
      <p:sp>
        <p:nvSpPr>
          <p:cNvPr id="3" name="Text 1"/>
          <p:cNvSpPr txBox="1"/>
          <p:nvPr/>
        </p:nvSpPr>
        <p:spPr>
          <a:xfrm>
            <a:off x="5120640" y="3383280"/>
            <a:ext cx="6492240" cy="914400"/>
          </a:xfrm>
          <a:prstGeom prst="rect">
            <a:avLst/>
          </a:prstGeom>
          <a:noFill/>
          <a:ln/>
        </p:spPr>
        <p:txBody>
          <a:bodyPr wrap="square" rtlCol="0" anchor="t"/>
          <a:lstStyle/>
          <a:p>
            <a:pPr rtl="1" algn="r" indent="0" marL="0">
              <a:buNone/>
            </a:pPr>
            <a:r>
              <a:rPr lang="en-US" sz="2000" dirty="0">
                <a:solidFill>
                  <a:schemeClr val="bg1"/>
                </a:solidFill>
              </a:rPr>
              <a:t>17 مكوّن طبيعي بتقنية الليبوسوم</a:t>
            </a:r>
            <a:endParaRPr lang="en-US" sz="2000" dirty="0"/>
          </a:p>
        </p:txBody>
      </p:sp>
      <p:sp>
        <p:nvSpPr>
          <p:cNvPr id="4" name="Shape 2"/>
          <p:cNvSpPr/>
          <p:nvPr/>
        </p:nvSpPr>
        <p:spPr>
          <a:xfrm>
            <a:off x="548640" y="822960"/>
            <a:ext cx="4206240" cy="5212080"/>
          </a:xfrm>
          <a:prstGeom prst="roundRect">
            <a:avLst>
              <a:gd name="adj" fmla="val 5435"/>
            </a:avLst>
          </a:prstGeom>
          <a:solidFill>
            <a:schemeClr val="bg1"/>
          </a:solidFill>
          <a:ln w="12700">
            <a:solidFill>
              <a:schemeClr val="bg1"/>
            </a:solidFill>
            <a:prstDash val="solid"/>
          </a:ln>
        </p:spPr>
      </p:sp>
      <p:pic>
        <p:nvPicPr>
          <p:cNvPr id="5" name="mebonol image" descr="preencoded.png">    </p:cNvPr>
          <p:cNvPicPr>
            <a:picLocks noChangeAspect="1"/>
          </p:cNvPicPr>
          <p:nvPr/>
        </p:nvPicPr>
        <p:blipFill>
          <a:blip r:embed="rId1"/>
          <a:stretch>
            <a:fillRect/>
          </a:stretch>
        </p:blipFill>
        <p:spPr>
          <a:xfrm>
            <a:off x="731520" y="2675026"/>
            <a:ext cx="3749040" cy="1507947"/>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1"/>
          <p:cNvSpPr/>
          <p:nvPr>
            <p:ph idx="102" type="title" hasCustomPrompt="1"/>
          </p:nvPr>
        </p:nvSpPr>
        <p:spPr>
          <a:xfrm>
            <a:off x="548640" y="320040"/>
            <a:ext cx="11064240" cy="777240"/>
          </a:xfrm>
          <a:prstGeom prst="rect">
            <a:avLst/>
          </a:prstGeom>
          <a:noFill/>
          <a:ln/>
        </p:spPr>
        <p:txBody>
          <a:bodyPr wrap="square" rtlCol="0" anchor="ctr"/>
          <a:lstStyle/>
          <a:p>
            <a:pPr rtl="1" algn="r" indent="0" marL="0">
              <a:buNone/>
            </a:pPr>
            <a:r>
              <a:rPr lang="en-US" sz="3200" b="1" dirty="0">
                <a:solidFill>
                  <a:schemeClr val="tx2"/>
                </a:solidFill>
              </a:rPr>
              <a:t>Mebonol — بطاقة المنتج</a:t>
            </a:r>
            <a:endParaRPr lang="en-US" sz="3200" dirty="0"/>
          </a:p>
        </p:txBody>
      </p:sp>
      <p:pic>
        <p:nvPicPr>
          <p:cNvPr id="4" name="mebonol image" descr="preencoded.png">    </p:cNvPr>
          <p:cNvPicPr>
            <a:picLocks noChangeAspect="1"/>
          </p:cNvPicPr>
          <p:nvPr/>
        </p:nvPicPr>
        <p:blipFill>
          <a:blip r:embed="rId1"/>
          <a:stretch>
            <a:fillRect/>
          </a:stretch>
        </p:blipFill>
        <p:spPr>
          <a:xfrm>
            <a:off x="548640" y="2922016"/>
            <a:ext cx="3657600" cy="1471168"/>
          </a:xfrm>
          <a:prstGeom prst="rect">
            <a:avLst/>
          </a:prstGeom>
        </p:spPr>
      </p:pic>
      <p:sp>
        <p:nvSpPr>
          <p:cNvPr id="5" name="Shape 1"/>
          <p:cNvSpPr/>
          <p:nvPr/>
        </p:nvSpPr>
        <p:spPr>
          <a:xfrm>
            <a:off x="4572000" y="1325880"/>
            <a:ext cx="7040880" cy="457200"/>
          </a:xfrm>
          <a:prstGeom prst="rect">
            <a:avLst/>
          </a:prstGeom>
          <a:solidFill>
            <a:schemeClr val="accent3">
              <a:alpha val="7000"/>
            </a:schemeClr>
          </a:solidFill>
          <a:ln w="12700">
            <a:solidFill>
              <a:schemeClr val="accent3">
                <a:alpha val="0"/>
              </a:schemeClr>
            </a:solidFill>
            <a:prstDash val="solid"/>
          </a:ln>
        </p:spPr>
      </p:sp>
      <p:sp>
        <p:nvSpPr>
          <p:cNvPr id="6" name="Text 2"/>
          <p:cNvSpPr txBox="1"/>
          <p:nvPr/>
        </p:nvSpPr>
        <p:spPr>
          <a:xfrm>
            <a:off x="9235440" y="1325880"/>
            <a:ext cx="2286000" cy="457200"/>
          </a:xfrm>
          <a:prstGeom prst="rect">
            <a:avLst/>
          </a:prstGeom>
          <a:noFill/>
          <a:ln/>
        </p:spPr>
        <p:txBody>
          <a:bodyPr wrap="square" lIns="0" tIns="0" rIns="76200" bIns="0" rtlCol="0" anchor="ctr"/>
          <a:lstStyle/>
          <a:p>
            <a:pPr rtl="1" algn="r" indent="0" marL="0">
              <a:buNone/>
            </a:pPr>
            <a:r>
              <a:rPr lang="en-US" sz="1300" b="1" dirty="0">
                <a:solidFill>
                  <a:schemeClr val="accent3"/>
                </a:solidFill>
              </a:rPr>
              <a:t>الاسم التجاري</a:t>
            </a:r>
            <a:endParaRPr lang="en-US" sz="1300" dirty="0"/>
          </a:p>
        </p:txBody>
      </p:sp>
      <p:sp>
        <p:nvSpPr>
          <p:cNvPr id="7" name="Text 3"/>
          <p:cNvSpPr txBox="1"/>
          <p:nvPr/>
        </p:nvSpPr>
        <p:spPr>
          <a:xfrm>
            <a:off x="4663440" y="1325880"/>
            <a:ext cx="4480560" cy="457200"/>
          </a:xfrm>
          <a:prstGeom prst="rect">
            <a:avLst/>
          </a:prstGeom>
          <a:noFill/>
          <a:ln/>
        </p:spPr>
        <p:txBody>
          <a:bodyPr wrap="square" lIns="0" tIns="0" rIns="0" bIns="0" rtlCol="0" anchor="ctr"/>
          <a:lstStyle/>
          <a:p>
            <a:pPr rtl="1" algn="r" indent="0" marL="0">
              <a:buNone/>
            </a:pPr>
            <a:r>
              <a:rPr lang="en-US" sz="1300" dirty="0">
                <a:solidFill>
                  <a:schemeClr val="tx1"/>
                </a:solidFill>
              </a:rPr>
              <a:t>Mebonol Cream</a:t>
            </a:r>
            <a:endParaRPr lang="en-US" sz="1300" dirty="0"/>
          </a:p>
        </p:txBody>
      </p:sp>
      <p:sp>
        <p:nvSpPr>
          <p:cNvPr id="8" name="Text 4"/>
          <p:cNvSpPr txBox="1"/>
          <p:nvPr/>
        </p:nvSpPr>
        <p:spPr>
          <a:xfrm>
            <a:off x="9235440" y="1783080"/>
            <a:ext cx="2286000" cy="457200"/>
          </a:xfrm>
          <a:prstGeom prst="rect">
            <a:avLst/>
          </a:prstGeom>
          <a:noFill/>
          <a:ln/>
        </p:spPr>
        <p:txBody>
          <a:bodyPr wrap="square" lIns="0" tIns="0" rIns="76200" bIns="0" rtlCol="0" anchor="ctr"/>
          <a:lstStyle/>
          <a:p>
            <a:pPr rtl="1" algn="r" indent="0" marL="0">
              <a:buNone/>
            </a:pPr>
            <a:r>
              <a:rPr lang="en-US" sz="1300" b="1" dirty="0">
                <a:solidFill>
                  <a:schemeClr val="accent3"/>
                </a:solidFill>
              </a:rPr>
              <a:t>العلامة</a:t>
            </a:r>
            <a:endParaRPr lang="en-US" sz="1300" dirty="0"/>
          </a:p>
        </p:txBody>
      </p:sp>
      <p:sp>
        <p:nvSpPr>
          <p:cNvPr id="9" name="Text 5"/>
          <p:cNvSpPr txBox="1"/>
          <p:nvPr/>
        </p:nvSpPr>
        <p:spPr>
          <a:xfrm>
            <a:off x="4663440" y="1783080"/>
            <a:ext cx="4480560" cy="457200"/>
          </a:xfrm>
          <a:prstGeom prst="rect">
            <a:avLst/>
          </a:prstGeom>
          <a:noFill/>
          <a:ln/>
        </p:spPr>
        <p:txBody>
          <a:bodyPr wrap="square" lIns="0" tIns="0" rIns="0" bIns="0" rtlCol="0" anchor="ctr"/>
          <a:lstStyle/>
          <a:p>
            <a:pPr rtl="1" algn="r" indent="0" marL="0">
              <a:buNone/>
            </a:pPr>
            <a:r>
              <a:rPr lang="en-US" sz="1300" dirty="0">
                <a:solidFill>
                  <a:schemeClr val="tx1"/>
                </a:solidFill>
              </a:rPr>
              <a:t>Dr Organic</a:t>
            </a:r>
            <a:endParaRPr lang="en-US" sz="1300" dirty="0"/>
          </a:p>
        </p:txBody>
      </p:sp>
      <p:sp>
        <p:nvSpPr>
          <p:cNvPr id="10" name="Shape 6"/>
          <p:cNvSpPr/>
          <p:nvPr/>
        </p:nvSpPr>
        <p:spPr>
          <a:xfrm>
            <a:off x="4572000" y="2240280"/>
            <a:ext cx="7040880" cy="457200"/>
          </a:xfrm>
          <a:prstGeom prst="rect">
            <a:avLst/>
          </a:prstGeom>
          <a:solidFill>
            <a:schemeClr val="accent3">
              <a:alpha val="7000"/>
            </a:schemeClr>
          </a:solidFill>
          <a:ln w="12700">
            <a:solidFill>
              <a:schemeClr val="accent3">
                <a:alpha val="0"/>
              </a:schemeClr>
            </a:solidFill>
            <a:prstDash val="solid"/>
          </a:ln>
        </p:spPr>
      </p:sp>
      <p:sp>
        <p:nvSpPr>
          <p:cNvPr id="11" name="Text 7"/>
          <p:cNvSpPr txBox="1"/>
          <p:nvPr/>
        </p:nvSpPr>
        <p:spPr>
          <a:xfrm>
            <a:off x="9235440" y="2240280"/>
            <a:ext cx="2286000" cy="457200"/>
          </a:xfrm>
          <a:prstGeom prst="rect">
            <a:avLst/>
          </a:prstGeom>
          <a:noFill/>
          <a:ln/>
        </p:spPr>
        <p:txBody>
          <a:bodyPr wrap="square" lIns="0" tIns="0" rIns="76200" bIns="0" rtlCol="0" anchor="ctr"/>
          <a:lstStyle/>
          <a:p>
            <a:pPr rtl="1" algn="r" indent="0" marL="0">
              <a:buNone/>
            </a:pPr>
            <a:r>
              <a:rPr lang="en-US" sz="1300" b="1" dirty="0">
                <a:solidFill>
                  <a:schemeClr val="accent3"/>
                </a:solidFill>
              </a:rPr>
              <a:t>التصنيف</a:t>
            </a:r>
            <a:endParaRPr lang="en-US" sz="1300" dirty="0"/>
          </a:p>
        </p:txBody>
      </p:sp>
      <p:sp>
        <p:nvSpPr>
          <p:cNvPr id="12" name="Text 8"/>
          <p:cNvSpPr txBox="1"/>
          <p:nvPr/>
        </p:nvSpPr>
        <p:spPr>
          <a:xfrm>
            <a:off x="4663440" y="2240280"/>
            <a:ext cx="4480560" cy="457200"/>
          </a:xfrm>
          <a:prstGeom prst="rect">
            <a:avLst/>
          </a:prstGeom>
          <a:noFill/>
          <a:ln/>
        </p:spPr>
        <p:txBody>
          <a:bodyPr wrap="square" lIns="0" tIns="0" rIns="0" bIns="0" rtlCol="0" anchor="ctr"/>
          <a:lstStyle/>
          <a:p>
            <a:pPr rtl="1" algn="r" indent="0" marL="0">
              <a:buNone/>
            </a:pPr>
            <a:r>
              <a:rPr lang="en-US" sz="1300" dirty="0">
                <a:solidFill>
                  <a:schemeClr val="tx1"/>
                </a:solidFill>
              </a:rPr>
              <a:t>مستحضر عناية بالبشرة</a:t>
            </a:r>
            <a:endParaRPr lang="en-US" sz="1300" dirty="0"/>
          </a:p>
        </p:txBody>
      </p:sp>
      <p:sp>
        <p:nvSpPr>
          <p:cNvPr id="13" name="Text 9"/>
          <p:cNvSpPr txBox="1"/>
          <p:nvPr/>
        </p:nvSpPr>
        <p:spPr>
          <a:xfrm>
            <a:off x="9235440" y="2697480"/>
            <a:ext cx="2286000" cy="457200"/>
          </a:xfrm>
          <a:prstGeom prst="rect">
            <a:avLst/>
          </a:prstGeom>
          <a:noFill/>
          <a:ln/>
        </p:spPr>
        <p:txBody>
          <a:bodyPr wrap="square" lIns="0" tIns="0" rIns="76200" bIns="0" rtlCol="0" anchor="ctr"/>
          <a:lstStyle/>
          <a:p>
            <a:pPr rtl="1" algn="r" indent="0" marL="0">
              <a:buNone/>
            </a:pPr>
            <a:r>
              <a:rPr lang="en-US" sz="1300" b="1" dirty="0">
                <a:solidFill>
                  <a:schemeClr val="accent3"/>
                </a:solidFill>
              </a:rPr>
              <a:t>الحجم</a:t>
            </a:r>
            <a:endParaRPr lang="en-US" sz="1300" dirty="0"/>
          </a:p>
        </p:txBody>
      </p:sp>
      <p:sp>
        <p:nvSpPr>
          <p:cNvPr id="14" name="Text 10"/>
          <p:cNvSpPr txBox="1"/>
          <p:nvPr/>
        </p:nvSpPr>
        <p:spPr>
          <a:xfrm>
            <a:off x="4663440" y="2697480"/>
            <a:ext cx="4480560" cy="457200"/>
          </a:xfrm>
          <a:prstGeom prst="rect">
            <a:avLst/>
          </a:prstGeom>
          <a:noFill/>
          <a:ln/>
        </p:spPr>
        <p:txBody>
          <a:bodyPr wrap="square" lIns="0" tIns="0" rIns="0" bIns="0" rtlCol="0" anchor="ctr"/>
          <a:lstStyle/>
          <a:p>
            <a:pPr rtl="1" algn="r" indent="0" marL="0">
              <a:buNone/>
            </a:pPr>
            <a:r>
              <a:rPr lang="en-US" sz="1300" dirty="0">
                <a:solidFill>
                  <a:schemeClr val="tx1"/>
                </a:solidFill>
              </a:rPr>
              <a:t>40 جم</a:t>
            </a:r>
            <a:endParaRPr lang="en-US" sz="1300" dirty="0"/>
          </a:p>
        </p:txBody>
      </p:sp>
      <p:sp>
        <p:nvSpPr>
          <p:cNvPr id="15" name="Shape 11"/>
          <p:cNvSpPr/>
          <p:nvPr/>
        </p:nvSpPr>
        <p:spPr>
          <a:xfrm>
            <a:off x="4572000" y="3154680"/>
            <a:ext cx="7040880" cy="457200"/>
          </a:xfrm>
          <a:prstGeom prst="rect">
            <a:avLst/>
          </a:prstGeom>
          <a:solidFill>
            <a:schemeClr val="accent3">
              <a:alpha val="7000"/>
            </a:schemeClr>
          </a:solidFill>
          <a:ln w="12700">
            <a:solidFill>
              <a:schemeClr val="accent3">
                <a:alpha val="0"/>
              </a:schemeClr>
            </a:solidFill>
            <a:prstDash val="solid"/>
          </a:ln>
        </p:spPr>
      </p:sp>
      <p:sp>
        <p:nvSpPr>
          <p:cNvPr id="16" name="Text 12"/>
          <p:cNvSpPr txBox="1"/>
          <p:nvPr/>
        </p:nvSpPr>
        <p:spPr>
          <a:xfrm>
            <a:off x="9235440" y="3154680"/>
            <a:ext cx="2286000" cy="457200"/>
          </a:xfrm>
          <a:prstGeom prst="rect">
            <a:avLst/>
          </a:prstGeom>
          <a:noFill/>
          <a:ln/>
        </p:spPr>
        <p:txBody>
          <a:bodyPr wrap="square" lIns="0" tIns="0" rIns="76200" bIns="0" rtlCol="0" anchor="ctr"/>
          <a:lstStyle/>
          <a:p>
            <a:pPr rtl="1" algn="r" indent="0" marL="0">
              <a:buNone/>
            </a:pPr>
            <a:r>
              <a:rPr lang="en-US" sz="1300" b="1" dirty="0">
                <a:solidFill>
                  <a:schemeClr val="accent3"/>
                </a:solidFill>
              </a:rPr>
              <a:t>التقنية</a:t>
            </a:r>
            <a:endParaRPr lang="en-US" sz="1300" dirty="0"/>
          </a:p>
        </p:txBody>
      </p:sp>
      <p:sp>
        <p:nvSpPr>
          <p:cNvPr id="17" name="Text 13"/>
          <p:cNvSpPr txBox="1"/>
          <p:nvPr/>
        </p:nvSpPr>
        <p:spPr>
          <a:xfrm>
            <a:off x="4663440" y="3154680"/>
            <a:ext cx="4480560" cy="457200"/>
          </a:xfrm>
          <a:prstGeom prst="rect">
            <a:avLst/>
          </a:prstGeom>
          <a:noFill/>
          <a:ln/>
        </p:spPr>
        <p:txBody>
          <a:bodyPr wrap="square" lIns="0" tIns="0" rIns="0" bIns="0" rtlCol="0" anchor="ctr"/>
          <a:lstStyle/>
          <a:p>
            <a:pPr rtl="1" algn="r" indent="0" marL="0">
              <a:buNone/>
            </a:pPr>
            <a:r>
              <a:rPr lang="en-US" sz="1300" dirty="0">
                <a:solidFill>
                  <a:schemeClr val="tx1"/>
                </a:solidFill>
              </a:rPr>
              <a:t>Liposome — لتوصيل أفضل للمكونات</a:t>
            </a:r>
            <a:endParaRPr lang="en-US" sz="1300" dirty="0"/>
          </a:p>
        </p:txBody>
      </p:sp>
      <p:sp>
        <p:nvSpPr>
          <p:cNvPr id="18" name="Text 14"/>
          <p:cNvSpPr txBox="1"/>
          <p:nvPr/>
        </p:nvSpPr>
        <p:spPr>
          <a:xfrm>
            <a:off x="9235440" y="3611880"/>
            <a:ext cx="2286000" cy="457200"/>
          </a:xfrm>
          <a:prstGeom prst="rect">
            <a:avLst/>
          </a:prstGeom>
          <a:noFill/>
          <a:ln/>
        </p:spPr>
        <p:txBody>
          <a:bodyPr wrap="square" lIns="0" tIns="0" rIns="76200" bIns="0" rtlCol="0" anchor="ctr"/>
          <a:lstStyle/>
          <a:p>
            <a:pPr rtl="1" algn="r" indent="0" marL="0">
              <a:buNone/>
            </a:pPr>
            <a:r>
              <a:rPr lang="en-US" sz="1300" b="1" dirty="0">
                <a:solidFill>
                  <a:schemeClr val="accent3"/>
                </a:solidFill>
              </a:rPr>
              <a:t>عدد المكونات</a:t>
            </a:r>
            <a:endParaRPr lang="en-US" sz="1300" dirty="0"/>
          </a:p>
        </p:txBody>
      </p:sp>
      <p:sp>
        <p:nvSpPr>
          <p:cNvPr id="19" name="Text 15"/>
          <p:cNvSpPr txBox="1"/>
          <p:nvPr/>
        </p:nvSpPr>
        <p:spPr>
          <a:xfrm>
            <a:off x="4663440" y="3611880"/>
            <a:ext cx="4480560" cy="457200"/>
          </a:xfrm>
          <a:prstGeom prst="rect">
            <a:avLst/>
          </a:prstGeom>
          <a:noFill/>
          <a:ln/>
        </p:spPr>
        <p:txBody>
          <a:bodyPr wrap="square" lIns="0" tIns="0" rIns="0" bIns="0" rtlCol="0" anchor="ctr"/>
          <a:lstStyle/>
          <a:p>
            <a:pPr rtl="1" algn="r" indent="0" marL="0">
              <a:buNone/>
            </a:pPr>
            <a:r>
              <a:rPr lang="en-US" sz="1300" dirty="0">
                <a:solidFill>
                  <a:schemeClr val="tx1"/>
                </a:solidFill>
              </a:rPr>
              <a:t>17 مكوّن طبيعي</a:t>
            </a:r>
            <a:endParaRPr lang="en-US" sz="1300" dirty="0"/>
          </a:p>
        </p:txBody>
      </p:sp>
      <p:sp>
        <p:nvSpPr>
          <p:cNvPr id="20" name="Shape 16"/>
          <p:cNvSpPr/>
          <p:nvPr/>
        </p:nvSpPr>
        <p:spPr>
          <a:xfrm>
            <a:off x="4572000" y="4069080"/>
            <a:ext cx="7040880" cy="457200"/>
          </a:xfrm>
          <a:prstGeom prst="rect">
            <a:avLst/>
          </a:prstGeom>
          <a:solidFill>
            <a:schemeClr val="accent3">
              <a:alpha val="7000"/>
            </a:schemeClr>
          </a:solidFill>
          <a:ln w="12700">
            <a:solidFill>
              <a:schemeClr val="accent3">
                <a:alpha val="0"/>
              </a:schemeClr>
            </a:solidFill>
            <a:prstDash val="solid"/>
          </a:ln>
        </p:spPr>
      </p:sp>
      <p:sp>
        <p:nvSpPr>
          <p:cNvPr id="21" name="Text 17"/>
          <p:cNvSpPr txBox="1"/>
          <p:nvPr/>
        </p:nvSpPr>
        <p:spPr>
          <a:xfrm>
            <a:off x="9235440" y="4069080"/>
            <a:ext cx="2286000" cy="457200"/>
          </a:xfrm>
          <a:prstGeom prst="rect">
            <a:avLst/>
          </a:prstGeom>
          <a:noFill/>
          <a:ln/>
        </p:spPr>
        <p:txBody>
          <a:bodyPr wrap="square" lIns="0" tIns="0" rIns="76200" bIns="0" rtlCol="0" anchor="ctr"/>
          <a:lstStyle/>
          <a:p>
            <a:pPr rtl="1" algn="r" indent="0" marL="0">
              <a:buNone/>
            </a:pPr>
            <a:r>
              <a:rPr lang="en-US" sz="1300" b="1" dirty="0">
                <a:solidFill>
                  <a:schemeClr val="accent3"/>
                </a:solidFill>
              </a:rPr>
              <a:t>الإخطار SFDA</a:t>
            </a:r>
            <a:endParaRPr lang="en-US" sz="1300" dirty="0"/>
          </a:p>
        </p:txBody>
      </p:sp>
      <p:sp>
        <p:nvSpPr>
          <p:cNvPr id="22" name="Text 18"/>
          <p:cNvSpPr txBox="1"/>
          <p:nvPr/>
        </p:nvSpPr>
        <p:spPr>
          <a:xfrm>
            <a:off x="4663440" y="4069080"/>
            <a:ext cx="4480560" cy="457200"/>
          </a:xfrm>
          <a:prstGeom prst="rect">
            <a:avLst/>
          </a:prstGeom>
          <a:noFill/>
          <a:ln/>
        </p:spPr>
        <p:txBody>
          <a:bodyPr wrap="square" lIns="0" tIns="0" rIns="0" bIns="0" rtlCol="0" anchor="ctr"/>
          <a:lstStyle/>
          <a:p>
            <a:pPr rtl="1" algn="r" indent="0" marL="0">
              <a:buNone/>
            </a:pPr>
            <a:r>
              <a:rPr lang="en-US" sz="1300" dirty="0">
                <a:solidFill>
                  <a:schemeClr val="tx1"/>
                </a:solidFill>
              </a:rPr>
              <a:t>CN-2026-65103 (ساري حتى 12/5/2031)</a:t>
            </a:r>
            <a:endParaRPr lang="en-US" sz="1300" dirty="0"/>
          </a:p>
        </p:txBody>
      </p:sp>
      <p:sp>
        <p:nvSpPr>
          <p:cNvPr id="23" name="Text 19"/>
          <p:cNvSpPr txBox="1"/>
          <p:nvPr/>
        </p:nvSpPr>
        <p:spPr>
          <a:xfrm>
            <a:off x="9235440" y="4526280"/>
            <a:ext cx="2286000" cy="457200"/>
          </a:xfrm>
          <a:prstGeom prst="rect">
            <a:avLst/>
          </a:prstGeom>
          <a:noFill/>
          <a:ln/>
        </p:spPr>
        <p:txBody>
          <a:bodyPr wrap="square" lIns="0" tIns="0" rIns="76200" bIns="0" rtlCol="0" anchor="ctr"/>
          <a:lstStyle/>
          <a:p>
            <a:pPr rtl="1" algn="r" indent="0" marL="0">
              <a:buNone/>
            </a:pPr>
            <a:r>
              <a:rPr lang="en-US" sz="1300" b="1" dirty="0">
                <a:solidFill>
                  <a:schemeClr val="accent3"/>
                </a:solidFill>
              </a:rPr>
              <a:t>الباركود</a:t>
            </a:r>
            <a:endParaRPr lang="en-US" sz="1300" dirty="0"/>
          </a:p>
        </p:txBody>
      </p:sp>
      <p:sp>
        <p:nvSpPr>
          <p:cNvPr id="24" name="Text 20"/>
          <p:cNvSpPr txBox="1"/>
          <p:nvPr/>
        </p:nvSpPr>
        <p:spPr>
          <a:xfrm>
            <a:off x="4663440" y="4526280"/>
            <a:ext cx="4480560" cy="457200"/>
          </a:xfrm>
          <a:prstGeom prst="rect">
            <a:avLst/>
          </a:prstGeom>
          <a:noFill/>
          <a:ln/>
        </p:spPr>
        <p:txBody>
          <a:bodyPr wrap="square" lIns="0" tIns="0" rIns="0" bIns="0" rtlCol="0" anchor="ctr"/>
          <a:lstStyle/>
          <a:p>
            <a:pPr rtl="1" algn="r" indent="0" marL="0">
              <a:buNone/>
            </a:pPr>
            <a:r>
              <a:rPr lang="en-US" sz="1300" dirty="0">
                <a:solidFill>
                  <a:schemeClr val="tx1"/>
                </a:solidFill>
              </a:rPr>
              <a:t>6224010064188</a:t>
            </a:r>
            <a:endParaRPr lang="en-US" sz="1300" dirty="0"/>
          </a:p>
        </p:txBody>
      </p:sp>
      <p:sp>
        <p:nvSpPr>
          <p:cNvPr id="25" name="Shape 21"/>
          <p:cNvSpPr/>
          <p:nvPr/>
        </p:nvSpPr>
        <p:spPr>
          <a:xfrm>
            <a:off x="4572000" y="4983480"/>
            <a:ext cx="7040880" cy="457200"/>
          </a:xfrm>
          <a:prstGeom prst="rect">
            <a:avLst/>
          </a:prstGeom>
          <a:solidFill>
            <a:schemeClr val="accent3">
              <a:alpha val="7000"/>
            </a:schemeClr>
          </a:solidFill>
          <a:ln w="12700">
            <a:solidFill>
              <a:schemeClr val="accent3">
                <a:alpha val="0"/>
              </a:schemeClr>
            </a:solidFill>
            <a:prstDash val="solid"/>
          </a:ln>
        </p:spPr>
      </p:sp>
      <p:sp>
        <p:nvSpPr>
          <p:cNvPr id="26" name="Text 22"/>
          <p:cNvSpPr txBox="1"/>
          <p:nvPr/>
        </p:nvSpPr>
        <p:spPr>
          <a:xfrm>
            <a:off x="9235440" y="4983480"/>
            <a:ext cx="2286000" cy="457200"/>
          </a:xfrm>
          <a:prstGeom prst="rect">
            <a:avLst/>
          </a:prstGeom>
          <a:noFill/>
          <a:ln/>
        </p:spPr>
        <p:txBody>
          <a:bodyPr wrap="square" lIns="0" tIns="0" rIns="76200" bIns="0" rtlCol="0" anchor="ctr"/>
          <a:lstStyle/>
          <a:p>
            <a:pPr rtl="1" algn="r" indent="0" marL="0">
              <a:buNone/>
            </a:pPr>
            <a:r>
              <a:rPr lang="en-US" sz="1300" b="1" dirty="0">
                <a:solidFill>
                  <a:schemeClr val="accent3"/>
                </a:solidFill>
              </a:rPr>
              <a:t>الاستخدام</a:t>
            </a:r>
            <a:endParaRPr lang="en-US" sz="1300" dirty="0"/>
          </a:p>
        </p:txBody>
      </p:sp>
      <p:sp>
        <p:nvSpPr>
          <p:cNvPr id="27" name="Text 23"/>
          <p:cNvSpPr txBox="1"/>
          <p:nvPr/>
        </p:nvSpPr>
        <p:spPr>
          <a:xfrm>
            <a:off x="4663440" y="4983480"/>
            <a:ext cx="4480560" cy="457200"/>
          </a:xfrm>
          <a:prstGeom prst="rect">
            <a:avLst/>
          </a:prstGeom>
          <a:noFill/>
          <a:ln/>
        </p:spPr>
        <p:txBody>
          <a:bodyPr wrap="square" lIns="0" tIns="0" rIns="0" bIns="0" rtlCol="0" anchor="ctr"/>
          <a:lstStyle/>
          <a:p>
            <a:pPr rtl="1" algn="r" indent="0" marL="0">
              <a:buNone/>
            </a:pPr>
            <a:r>
              <a:rPr lang="en-US" sz="1300" dirty="0">
                <a:solidFill>
                  <a:schemeClr val="tx1"/>
                </a:solidFill>
              </a:rPr>
              <a:t>2–3 مرات يومياً، طبقة رقيقة</a:t>
            </a:r>
            <a:endParaRPr lang="en-US" sz="1300" dirty="0"/>
          </a:p>
        </p:txBody>
      </p:sp>
      <p:sp>
        <p:nvSpPr>
          <p:cNvPr id="28" name="Text 24"/>
          <p:cNvSpPr txBox="1"/>
          <p:nvPr/>
        </p:nvSpPr>
        <p:spPr>
          <a:xfrm>
            <a:off x="9235440" y="5440680"/>
            <a:ext cx="2286000" cy="457200"/>
          </a:xfrm>
          <a:prstGeom prst="rect">
            <a:avLst/>
          </a:prstGeom>
          <a:noFill/>
          <a:ln/>
        </p:spPr>
        <p:txBody>
          <a:bodyPr wrap="square" lIns="0" tIns="0" rIns="76200" bIns="0" rtlCol="0" anchor="ctr"/>
          <a:lstStyle/>
          <a:p>
            <a:pPr rtl="1" algn="r" indent="0" marL="0">
              <a:buNone/>
            </a:pPr>
            <a:r>
              <a:rPr lang="en-US" sz="1300" b="1" dirty="0">
                <a:solidFill>
                  <a:schemeClr val="accent3"/>
                </a:solidFill>
              </a:rPr>
              <a:t>سعر الجمهور</a:t>
            </a:r>
            <a:endParaRPr lang="en-US" sz="1300" dirty="0"/>
          </a:p>
        </p:txBody>
      </p:sp>
      <p:sp>
        <p:nvSpPr>
          <p:cNvPr id="29" name="Text 25"/>
          <p:cNvSpPr txBox="1"/>
          <p:nvPr/>
        </p:nvSpPr>
        <p:spPr>
          <a:xfrm>
            <a:off x="4663440" y="5440680"/>
            <a:ext cx="4480560" cy="457200"/>
          </a:xfrm>
          <a:prstGeom prst="rect">
            <a:avLst/>
          </a:prstGeom>
          <a:noFill/>
          <a:ln/>
        </p:spPr>
        <p:txBody>
          <a:bodyPr wrap="square" lIns="0" tIns="0" rIns="0" bIns="0" rtlCol="0" anchor="ctr"/>
          <a:lstStyle/>
          <a:p>
            <a:pPr rtl="1" algn="r" indent="0" marL="0">
              <a:buNone/>
            </a:pPr>
            <a:r>
              <a:rPr lang="en-US" sz="1300" dirty="0">
                <a:solidFill>
                  <a:schemeClr val="tx1"/>
                </a:solidFill>
              </a:rPr>
              <a:t>55 ريال (غير شامل الضريبة)</a:t>
            </a:r>
            <a:endParaRPr lang="en-US" sz="1300" dirty="0"/>
          </a:p>
        </p:txBody>
      </p:sp>
      <p:sp>
        <p:nvSpPr>
          <p:cNvPr id="25" name="Slide Number Placeholder 0"/>
          <p:cNvSpPr>
            <a:spLocks noGrp="1"/>
          </p:cNvSpPr>
          <p:nvPr>
            <p:ph type="sldNum" sz="quarter" idx="4294967295"/>
          </p:nvPr>
        </p:nvSpPr>
        <p:spPr>
          <a:xfrm>
            <a:off x="5806440" y="630936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ct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1"/>
          <p:cNvSpPr/>
          <p:nvPr>
            <p:ph idx="102" type="title" hasCustomPrompt="1"/>
          </p:nvPr>
        </p:nvSpPr>
        <p:spPr>
          <a:xfrm>
            <a:off x="548640" y="320040"/>
            <a:ext cx="11064240" cy="777240"/>
          </a:xfrm>
          <a:prstGeom prst="rect">
            <a:avLst/>
          </a:prstGeom>
          <a:noFill/>
          <a:ln/>
        </p:spPr>
        <p:txBody>
          <a:bodyPr wrap="square" rtlCol="0" anchor="ctr"/>
          <a:lstStyle/>
          <a:p>
            <a:pPr rtl="1" algn="r" indent="0" marL="0">
              <a:buNone/>
            </a:pPr>
            <a:r>
              <a:rPr lang="en-US" sz="3200" b="1" dirty="0">
                <a:solidFill>
                  <a:schemeClr val="tx2"/>
                </a:solidFill>
              </a:rPr>
              <a:t>Mebonol — 17 مكوّن حسب الوظيفة</a:t>
            </a:r>
            <a:endParaRPr lang="en-US" sz="3200" dirty="0"/>
          </a:p>
        </p:txBody>
      </p:sp>
      <p:sp>
        <p:nvSpPr>
          <p:cNvPr id="4" name="Shape 1"/>
          <p:cNvSpPr/>
          <p:nvPr/>
        </p:nvSpPr>
        <p:spPr>
          <a:xfrm>
            <a:off x="8983980" y="1325880"/>
            <a:ext cx="2651760" cy="3200400"/>
          </a:xfrm>
          <a:prstGeom prst="roundRect">
            <a:avLst>
              <a:gd name="adj" fmla="val 4138"/>
            </a:avLst>
          </a:prstGeom>
          <a:solidFill>
            <a:schemeClr val="accent3">
              <a:alpha val="8000"/>
            </a:schemeClr>
          </a:solidFill>
          <a:ln w="9525">
            <a:solidFill>
              <a:schemeClr val="accent3">
                <a:alpha val="25000"/>
              </a:schemeClr>
            </a:solidFill>
            <a:prstDash val="solid"/>
          </a:ln>
        </p:spPr>
      </p:sp>
      <p:sp>
        <p:nvSpPr>
          <p:cNvPr id="5" name="Shape 2"/>
          <p:cNvSpPr/>
          <p:nvPr/>
        </p:nvSpPr>
        <p:spPr>
          <a:xfrm>
            <a:off x="11013948" y="1490472"/>
            <a:ext cx="457200" cy="457200"/>
          </a:xfrm>
          <a:prstGeom prst="ellipse">
            <a:avLst/>
          </a:prstGeom>
          <a:solidFill>
            <a:schemeClr val="accent3"/>
          </a:solidFill>
          <a:ln w="12700">
            <a:solidFill>
              <a:schemeClr val="accent3"/>
            </a:solidFill>
            <a:prstDash val="solid"/>
          </a:ln>
        </p:spPr>
      </p:sp>
      <p:sp>
        <p:nvSpPr>
          <p:cNvPr id="6" name="Text 3"/>
          <p:cNvSpPr txBox="1"/>
          <p:nvPr/>
        </p:nvSpPr>
        <p:spPr>
          <a:xfrm>
            <a:off x="11013948" y="1490472"/>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7" name="Text 4"/>
          <p:cNvSpPr txBox="1"/>
          <p:nvPr/>
        </p:nvSpPr>
        <p:spPr>
          <a:xfrm>
            <a:off x="9121140" y="1435608"/>
            <a:ext cx="1783080" cy="548640"/>
          </a:xfrm>
          <a:prstGeom prst="rect">
            <a:avLst/>
          </a:prstGeom>
          <a:noFill/>
          <a:ln/>
        </p:spPr>
        <p:txBody>
          <a:bodyPr wrap="square" lIns="0" tIns="0" rIns="0" bIns="0" rtlCol="0" anchor="ctr"/>
          <a:lstStyle/>
          <a:p>
            <a:pPr rtl="1" algn="r" indent="0" marL="0">
              <a:buNone/>
            </a:pPr>
            <a:r>
              <a:rPr lang="en-US" sz="1600" b="1" dirty="0">
                <a:solidFill>
                  <a:schemeClr val="accent3"/>
                </a:solidFill>
              </a:rPr>
              <a:t>يدعم الالتئام</a:t>
            </a:r>
            <a:endParaRPr lang="en-US" sz="1600" dirty="0"/>
          </a:p>
        </p:txBody>
      </p:sp>
      <p:sp>
        <p:nvSpPr>
          <p:cNvPr id="8" name="Text 5"/>
          <p:cNvSpPr txBox="1"/>
          <p:nvPr/>
        </p:nvSpPr>
        <p:spPr>
          <a:xfrm>
            <a:off x="9166860" y="2039112"/>
            <a:ext cx="2286000" cy="2395728"/>
          </a:xfrm>
          <a:prstGeom prst="rect">
            <a:avLst/>
          </a:prstGeom>
          <a:noFill/>
          <a:ln/>
        </p:spPr>
        <p:txBody>
          <a:bodyPr wrap="square" lIns="0" tIns="0" rIns="0" bIns="0" rtlCol="0" anchor="t"/>
          <a:lstStyle/>
          <a:p>
            <a:pPr rtl="1" algn="r" indent="0" marL="0">
              <a:spcAft>
                <a:spcPts val="400"/>
              </a:spcAft>
              <a:buNone/>
            </a:pPr>
            <a:r>
              <a:rPr lang="en-US" sz="1500" dirty="0">
                <a:solidFill>
                  <a:schemeClr val="tx1"/>
                </a:solidFill>
              </a:rPr>
              <a:t>Calendula · Honey · Panthenol</a:t>
            </a:r>
            <a:endParaRPr lang="en-US" sz="1500" dirty="0"/>
          </a:p>
          <a:p>
            <a:pPr rtl="1" algn="r" indent="0" marL="0">
              <a:spcAft>
                <a:spcPts val="400"/>
              </a:spcAft>
              <a:buNone/>
            </a:pPr>
            <a:r>
              <a:rPr lang="en-US" sz="1500" dirty="0">
                <a:solidFill>
                  <a:schemeClr val="tx1"/>
                </a:solidFill>
              </a:rPr>
              <a:t>Emu oil · Aloe vera</a:t>
            </a:r>
            <a:endParaRPr lang="en-US" sz="1500" dirty="0"/>
          </a:p>
          <a:p>
            <a:pPr rtl="1" algn="r" indent="0" marL="0">
              <a:spcAft>
                <a:spcPts val="400"/>
              </a:spcAft>
              <a:buNone/>
            </a:pPr>
            <a:r>
              <a:rPr lang="en-US" sz="1500" dirty="0">
                <a:solidFill>
                  <a:schemeClr val="tx1"/>
                </a:solidFill>
              </a:rPr>
              <a:t>Olive oil · Sesame oil · Beeswax</a:t>
            </a:r>
            <a:endParaRPr lang="en-US" sz="1500" dirty="0"/>
          </a:p>
        </p:txBody>
      </p:sp>
      <p:sp>
        <p:nvSpPr>
          <p:cNvPr id="9" name="Shape 6"/>
          <p:cNvSpPr/>
          <p:nvPr/>
        </p:nvSpPr>
        <p:spPr>
          <a:xfrm>
            <a:off x="6172200" y="1325880"/>
            <a:ext cx="2651760" cy="3200400"/>
          </a:xfrm>
          <a:prstGeom prst="roundRect">
            <a:avLst>
              <a:gd name="adj" fmla="val 4138"/>
            </a:avLst>
          </a:prstGeom>
          <a:solidFill>
            <a:schemeClr val="accent3">
              <a:alpha val="8000"/>
            </a:schemeClr>
          </a:solidFill>
          <a:ln w="9525">
            <a:solidFill>
              <a:schemeClr val="accent3">
                <a:alpha val="25000"/>
              </a:schemeClr>
            </a:solidFill>
            <a:prstDash val="solid"/>
          </a:ln>
        </p:spPr>
      </p:sp>
      <p:sp>
        <p:nvSpPr>
          <p:cNvPr id="10" name="Shape 7"/>
          <p:cNvSpPr/>
          <p:nvPr/>
        </p:nvSpPr>
        <p:spPr>
          <a:xfrm>
            <a:off x="8202168" y="1490472"/>
            <a:ext cx="457200" cy="457200"/>
          </a:xfrm>
          <a:prstGeom prst="ellipse">
            <a:avLst/>
          </a:prstGeom>
          <a:solidFill>
            <a:schemeClr val="accent3"/>
          </a:solidFill>
          <a:ln w="12700">
            <a:solidFill>
              <a:schemeClr val="accent3"/>
            </a:solidFill>
            <a:prstDash val="solid"/>
          </a:ln>
        </p:spPr>
      </p:sp>
      <p:sp>
        <p:nvSpPr>
          <p:cNvPr id="11" name="Text 8"/>
          <p:cNvSpPr txBox="1"/>
          <p:nvPr/>
        </p:nvSpPr>
        <p:spPr>
          <a:xfrm>
            <a:off x="8202168" y="1490472"/>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2" name="Text 9"/>
          <p:cNvSpPr txBox="1"/>
          <p:nvPr/>
        </p:nvSpPr>
        <p:spPr>
          <a:xfrm>
            <a:off x="6309360" y="1435608"/>
            <a:ext cx="1783080" cy="548640"/>
          </a:xfrm>
          <a:prstGeom prst="rect">
            <a:avLst/>
          </a:prstGeom>
          <a:noFill/>
          <a:ln/>
        </p:spPr>
        <p:txBody>
          <a:bodyPr wrap="square" lIns="0" tIns="0" rIns="0" bIns="0" rtlCol="0" anchor="ctr"/>
          <a:lstStyle/>
          <a:p>
            <a:pPr rtl="1" algn="r" indent="0" marL="0">
              <a:buNone/>
            </a:pPr>
            <a:r>
              <a:rPr lang="en-US" sz="1600" b="1" dirty="0">
                <a:solidFill>
                  <a:schemeClr val="accent3"/>
                </a:solidFill>
              </a:rPr>
              <a:t>مضاد للعدوى</a:t>
            </a:r>
            <a:endParaRPr lang="en-US" sz="1600" dirty="0"/>
          </a:p>
        </p:txBody>
      </p:sp>
      <p:sp>
        <p:nvSpPr>
          <p:cNvPr id="13" name="Text 10"/>
          <p:cNvSpPr txBox="1"/>
          <p:nvPr/>
        </p:nvSpPr>
        <p:spPr>
          <a:xfrm>
            <a:off x="6355080" y="2039112"/>
            <a:ext cx="2286000" cy="2395728"/>
          </a:xfrm>
          <a:prstGeom prst="rect">
            <a:avLst/>
          </a:prstGeom>
          <a:noFill/>
          <a:ln/>
        </p:spPr>
        <p:txBody>
          <a:bodyPr wrap="square" lIns="0" tIns="0" rIns="0" bIns="0" rtlCol="0" anchor="t"/>
          <a:lstStyle/>
          <a:p>
            <a:pPr rtl="1" algn="r" indent="0" marL="0">
              <a:spcAft>
                <a:spcPts val="400"/>
              </a:spcAft>
              <a:buNone/>
            </a:pPr>
            <a:r>
              <a:rPr lang="en-US" sz="1500" dirty="0">
                <a:solidFill>
                  <a:schemeClr val="tx1"/>
                </a:solidFill>
              </a:rPr>
              <a:t>Chlorhexidine</a:t>
            </a:r>
            <a:endParaRPr lang="en-US" sz="1500" dirty="0"/>
          </a:p>
          <a:p>
            <a:pPr rtl="1" algn="r" indent="0" marL="0">
              <a:spcAft>
                <a:spcPts val="400"/>
              </a:spcAft>
              <a:buNone/>
            </a:pPr>
            <a:r>
              <a:rPr lang="en-US" sz="1500" dirty="0">
                <a:solidFill>
                  <a:schemeClr val="tx1"/>
                </a:solidFill>
              </a:rPr>
              <a:t>Tea tree oil · Garlic oil</a:t>
            </a:r>
            <a:endParaRPr lang="en-US" sz="1500" dirty="0"/>
          </a:p>
          <a:p>
            <a:pPr rtl="1" algn="r" indent="0" marL="0">
              <a:spcAft>
                <a:spcPts val="400"/>
              </a:spcAft>
              <a:buNone/>
            </a:pPr>
            <a:r>
              <a:rPr lang="en-US" sz="1500" dirty="0">
                <a:solidFill>
                  <a:schemeClr val="tx1"/>
                </a:solidFill>
              </a:rPr>
              <a:t>Bee propolis</a:t>
            </a:r>
            <a:endParaRPr lang="en-US" sz="1500" dirty="0"/>
          </a:p>
        </p:txBody>
      </p:sp>
      <p:sp>
        <p:nvSpPr>
          <p:cNvPr id="14" name="Shape 11"/>
          <p:cNvSpPr/>
          <p:nvPr/>
        </p:nvSpPr>
        <p:spPr>
          <a:xfrm>
            <a:off x="3360420" y="1325880"/>
            <a:ext cx="2651760" cy="3200400"/>
          </a:xfrm>
          <a:prstGeom prst="roundRect">
            <a:avLst>
              <a:gd name="adj" fmla="val 4138"/>
            </a:avLst>
          </a:prstGeom>
          <a:solidFill>
            <a:schemeClr val="accent3">
              <a:alpha val="8000"/>
            </a:schemeClr>
          </a:solidFill>
          <a:ln w="9525">
            <a:solidFill>
              <a:schemeClr val="accent3">
                <a:alpha val="25000"/>
              </a:schemeClr>
            </a:solidFill>
            <a:prstDash val="solid"/>
          </a:ln>
        </p:spPr>
      </p:sp>
      <p:sp>
        <p:nvSpPr>
          <p:cNvPr id="15" name="Shape 12"/>
          <p:cNvSpPr/>
          <p:nvPr/>
        </p:nvSpPr>
        <p:spPr>
          <a:xfrm>
            <a:off x="5390388" y="1490472"/>
            <a:ext cx="457200" cy="457200"/>
          </a:xfrm>
          <a:prstGeom prst="ellipse">
            <a:avLst/>
          </a:prstGeom>
          <a:solidFill>
            <a:schemeClr val="accent3"/>
          </a:solidFill>
          <a:ln w="12700">
            <a:solidFill>
              <a:schemeClr val="accent3"/>
            </a:solidFill>
            <a:prstDash val="solid"/>
          </a:ln>
        </p:spPr>
      </p:sp>
      <p:sp>
        <p:nvSpPr>
          <p:cNvPr id="16" name="Text 13"/>
          <p:cNvSpPr txBox="1"/>
          <p:nvPr/>
        </p:nvSpPr>
        <p:spPr>
          <a:xfrm>
            <a:off x="5390388" y="1490472"/>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7" name="Text 14"/>
          <p:cNvSpPr txBox="1"/>
          <p:nvPr/>
        </p:nvSpPr>
        <p:spPr>
          <a:xfrm>
            <a:off x="3497580" y="1435608"/>
            <a:ext cx="1783080" cy="548640"/>
          </a:xfrm>
          <a:prstGeom prst="rect">
            <a:avLst/>
          </a:prstGeom>
          <a:noFill/>
          <a:ln/>
        </p:spPr>
        <p:txBody>
          <a:bodyPr wrap="square" lIns="0" tIns="0" rIns="0" bIns="0" rtlCol="0" anchor="ctr"/>
          <a:lstStyle/>
          <a:p>
            <a:pPr rtl="1" algn="r" indent="0" marL="0">
              <a:buNone/>
            </a:pPr>
            <a:r>
              <a:rPr lang="en-US" sz="1600" b="1" dirty="0">
                <a:solidFill>
                  <a:schemeClr val="accent3"/>
                </a:solidFill>
              </a:rPr>
              <a:t>مضاد للالتهاب</a:t>
            </a:r>
            <a:endParaRPr lang="en-US" sz="1600" dirty="0"/>
          </a:p>
        </p:txBody>
      </p:sp>
      <p:sp>
        <p:nvSpPr>
          <p:cNvPr id="18" name="Text 15"/>
          <p:cNvSpPr txBox="1"/>
          <p:nvPr/>
        </p:nvSpPr>
        <p:spPr>
          <a:xfrm>
            <a:off x="3543300" y="2039112"/>
            <a:ext cx="2286000" cy="2395728"/>
          </a:xfrm>
          <a:prstGeom prst="rect">
            <a:avLst/>
          </a:prstGeom>
          <a:noFill/>
          <a:ln/>
        </p:spPr>
        <p:txBody>
          <a:bodyPr wrap="square" lIns="0" tIns="0" rIns="0" bIns="0" rtlCol="0" anchor="t"/>
          <a:lstStyle/>
          <a:p>
            <a:pPr rtl="1" algn="r" indent="0" marL="0">
              <a:spcAft>
                <a:spcPts val="400"/>
              </a:spcAft>
              <a:buNone/>
            </a:pPr>
            <a:r>
              <a:rPr lang="en-US" sz="1500" dirty="0">
                <a:solidFill>
                  <a:schemeClr val="tx1"/>
                </a:solidFill>
              </a:rPr>
              <a:t>Arnica oil · Vitamin E</a:t>
            </a:r>
            <a:endParaRPr lang="en-US" sz="1500" dirty="0"/>
          </a:p>
          <a:p>
            <a:pPr rtl="1" algn="r" indent="0" marL="0">
              <a:spcAft>
                <a:spcPts val="400"/>
              </a:spcAft>
              <a:buNone/>
            </a:pPr>
            <a:r>
              <a:rPr lang="en-US" sz="1500" dirty="0">
                <a:solidFill>
                  <a:schemeClr val="tx1"/>
                </a:solidFill>
              </a:rPr>
              <a:t>Bee propolis · Aloe vera</a:t>
            </a:r>
            <a:endParaRPr lang="en-US" sz="1500" dirty="0"/>
          </a:p>
          <a:p>
            <a:pPr rtl="1" algn="r" indent="0" marL="0">
              <a:spcAft>
                <a:spcPts val="400"/>
              </a:spcAft>
              <a:buNone/>
            </a:pPr>
            <a:r>
              <a:rPr lang="en-US" sz="1500" dirty="0">
                <a:solidFill>
                  <a:schemeClr val="tx1"/>
                </a:solidFill>
              </a:rPr>
              <a:t>Emu oil</a:t>
            </a:r>
            <a:endParaRPr lang="en-US" sz="1500" dirty="0"/>
          </a:p>
        </p:txBody>
      </p:sp>
      <p:sp>
        <p:nvSpPr>
          <p:cNvPr id="19" name="Shape 16"/>
          <p:cNvSpPr/>
          <p:nvPr/>
        </p:nvSpPr>
        <p:spPr>
          <a:xfrm>
            <a:off x="548640" y="1325880"/>
            <a:ext cx="2651760" cy="3200400"/>
          </a:xfrm>
          <a:prstGeom prst="roundRect">
            <a:avLst>
              <a:gd name="adj" fmla="val 4138"/>
            </a:avLst>
          </a:prstGeom>
          <a:solidFill>
            <a:schemeClr val="accent3">
              <a:alpha val="8000"/>
            </a:schemeClr>
          </a:solidFill>
          <a:ln w="9525">
            <a:solidFill>
              <a:schemeClr val="accent3">
                <a:alpha val="25000"/>
              </a:schemeClr>
            </a:solidFill>
            <a:prstDash val="solid"/>
          </a:ln>
        </p:spPr>
      </p:sp>
      <p:sp>
        <p:nvSpPr>
          <p:cNvPr id="20" name="Shape 17"/>
          <p:cNvSpPr/>
          <p:nvPr/>
        </p:nvSpPr>
        <p:spPr>
          <a:xfrm>
            <a:off x="2578608" y="1490472"/>
            <a:ext cx="457200" cy="457200"/>
          </a:xfrm>
          <a:prstGeom prst="ellipse">
            <a:avLst/>
          </a:prstGeom>
          <a:solidFill>
            <a:schemeClr val="accent3"/>
          </a:solidFill>
          <a:ln w="12700">
            <a:solidFill>
              <a:schemeClr val="accent3"/>
            </a:solidFill>
            <a:prstDash val="solid"/>
          </a:ln>
        </p:spPr>
      </p:sp>
      <p:sp>
        <p:nvSpPr>
          <p:cNvPr id="21" name="Text 18"/>
          <p:cNvSpPr txBox="1"/>
          <p:nvPr/>
        </p:nvSpPr>
        <p:spPr>
          <a:xfrm>
            <a:off x="2578608" y="1490472"/>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2" name="Text 19"/>
          <p:cNvSpPr txBox="1"/>
          <p:nvPr/>
        </p:nvSpPr>
        <p:spPr>
          <a:xfrm>
            <a:off x="685800" y="1435608"/>
            <a:ext cx="1783080" cy="548640"/>
          </a:xfrm>
          <a:prstGeom prst="rect">
            <a:avLst/>
          </a:prstGeom>
          <a:noFill/>
          <a:ln/>
        </p:spPr>
        <p:txBody>
          <a:bodyPr wrap="square" lIns="0" tIns="0" rIns="0" bIns="0" rtlCol="0" anchor="ctr"/>
          <a:lstStyle/>
          <a:p>
            <a:pPr rtl="1" algn="r" indent="0" marL="0">
              <a:buNone/>
            </a:pPr>
            <a:r>
              <a:rPr lang="en-US" sz="1600" b="1" dirty="0">
                <a:solidFill>
                  <a:schemeClr val="accent3"/>
                </a:solidFill>
              </a:rPr>
              <a:t>مهدّئ ومطرّي</a:t>
            </a:r>
            <a:endParaRPr lang="en-US" sz="1600" dirty="0"/>
          </a:p>
        </p:txBody>
      </p:sp>
      <p:sp>
        <p:nvSpPr>
          <p:cNvPr id="23" name="Text 20"/>
          <p:cNvSpPr txBox="1"/>
          <p:nvPr/>
        </p:nvSpPr>
        <p:spPr>
          <a:xfrm>
            <a:off x="731520" y="2039112"/>
            <a:ext cx="2286000" cy="2395728"/>
          </a:xfrm>
          <a:prstGeom prst="rect">
            <a:avLst/>
          </a:prstGeom>
          <a:noFill/>
          <a:ln/>
        </p:spPr>
        <p:txBody>
          <a:bodyPr wrap="square" lIns="0" tIns="0" rIns="0" bIns="0" rtlCol="0" anchor="t"/>
          <a:lstStyle/>
          <a:p>
            <a:pPr rtl="1" algn="r" indent="0" marL="0">
              <a:spcAft>
                <a:spcPts val="400"/>
              </a:spcAft>
              <a:buNone/>
            </a:pPr>
            <a:r>
              <a:rPr lang="en-US" sz="1500" dirty="0">
                <a:solidFill>
                  <a:schemeClr val="tx1"/>
                </a:solidFill>
              </a:rPr>
              <a:t>Glycerin · Jojoba oil</a:t>
            </a:r>
            <a:endParaRPr lang="en-US" sz="1500" dirty="0"/>
          </a:p>
          <a:p>
            <a:pPr rtl="1" algn="r" indent="0" marL="0">
              <a:spcAft>
                <a:spcPts val="400"/>
              </a:spcAft>
              <a:buNone/>
            </a:pPr>
            <a:r>
              <a:rPr lang="en-US" sz="1500" dirty="0">
                <a:solidFill>
                  <a:schemeClr val="tx1"/>
                </a:solidFill>
              </a:rPr>
              <a:t>Rose oil · Vitamin E</a:t>
            </a:r>
            <a:endParaRPr lang="en-US" sz="1500" dirty="0"/>
          </a:p>
          <a:p>
            <a:pPr rtl="1" algn="r" indent="0" marL="0">
              <a:spcAft>
                <a:spcPts val="400"/>
              </a:spcAft>
              <a:buNone/>
            </a:pPr>
            <a:r>
              <a:rPr lang="en-US" sz="1500" dirty="0">
                <a:solidFill>
                  <a:schemeClr val="tx1"/>
                </a:solidFill>
              </a:rPr>
              <a:t>Honey · Olive oil</a:t>
            </a:r>
            <a:endParaRPr lang="en-US" sz="1500" dirty="0"/>
          </a:p>
        </p:txBody>
      </p:sp>
      <p:sp>
        <p:nvSpPr>
          <p:cNvPr id="24" name="Shape 21"/>
          <p:cNvSpPr/>
          <p:nvPr/>
        </p:nvSpPr>
        <p:spPr>
          <a:xfrm>
            <a:off x="6172200" y="4709160"/>
            <a:ext cx="5440680" cy="1371600"/>
          </a:xfrm>
          <a:prstGeom prst="roundRect">
            <a:avLst>
              <a:gd name="adj" fmla="val 8000"/>
            </a:avLst>
          </a:prstGeom>
          <a:solidFill>
            <a:schemeClr val="accent3">
              <a:alpha val="8000"/>
            </a:schemeClr>
          </a:solidFill>
          <a:ln w="9525">
            <a:solidFill>
              <a:schemeClr val="accent3">
                <a:alpha val="25000"/>
              </a:schemeClr>
            </a:solidFill>
            <a:prstDash val="solid"/>
          </a:ln>
        </p:spPr>
      </p:sp>
      <p:sp>
        <p:nvSpPr>
          <p:cNvPr id="25" name="Text 22"/>
          <p:cNvSpPr txBox="1"/>
          <p:nvPr/>
        </p:nvSpPr>
        <p:spPr>
          <a:xfrm>
            <a:off x="6172200" y="4818888"/>
            <a:ext cx="5440680" cy="617220"/>
          </a:xfrm>
          <a:prstGeom prst="rect">
            <a:avLst/>
          </a:prstGeom>
          <a:noFill/>
          <a:ln/>
        </p:spPr>
        <p:txBody>
          <a:bodyPr wrap="square" lIns="0" tIns="0" rIns="0" bIns="0" rtlCol="0" anchor="ctr"/>
          <a:lstStyle/>
          <a:p>
            <a:pPr algn="ctr" indent="0" marL="0">
              <a:buNone/>
            </a:pPr>
            <a:r>
              <a:rPr lang="en-US" sz="3200" b="1" dirty="0">
                <a:solidFill>
                  <a:schemeClr val="accent3"/>
                </a:solidFill>
              </a:rPr>
              <a:t>17</a:t>
            </a:r>
            <a:endParaRPr lang="en-US" sz="3200" dirty="0"/>
          </a:p>
        </p:txBody>
      </p:sp>
      <p:sp>
        <p:nvSpPr>
          <p:cNvPr id="26" name="Text 23"/>
          <p:cNvSpPr txBox="1"/>
          <p:nvPr/>
        </p:nvSpPr>
        <p:spPr>
          <a:xfrm>
            <a:off x="6263640" y="5394960"/>
            <a:ext cx="5257800" cy="365760"/>
          </a:xfrm>
          <a:prstGeom prst="rect">
            <a:avLst/>
          </a:prstGeom>
          <a:noFill/>
          <a:ln/>
        </p:spPr>
        <p:txBody>
          <a:bodyPr wrap="square" lIns="0" tIns="0" rIns="0" bIns="0" rtlCol="0" anchor="ctr"/>
          <a:lstStyle/>
          <a:p>
            <a:pPr rtl="1" algn="ctr" indent="0" marL="0">
              <a:buNone/>
            </a:pPr>
            <a:r>
              <a:rPr lang="en-US" sz="1400" b="1" dirty="0">
                <a:solidFill>
                  <a:schemeClr val="tx1"/>
                </a:solidFill>
              </a:rPr>
              <a:t>مكوّن طبيعي</a:t>
            </a:r>
            <a:endParaRPr lang="en-US" sz="1400" dirty="0"/>
          </a:p>
        </p:txBody>
      </p:sp>
      <p:sp>
        <p:nvSpPr>
          <p:cNvPr id="27" name="Shape 24"/>
          <p:cNvSpPr/>
          <p:nvPr/>
        </p:nvSpPr>
        <p:spPr>
          <a:xfrm>
            <a:off x="548640" y="4709160"/>
            <a:ext cx="5440680" cy="1371600"/>
          </a:xfrm>
          <a:prstGeom prst="roundRect">
            <a:avLst>
              <a:gd name="adj" fmla="val 8000"/>
            </a:avLst>
          </a:prstGeom>
          <a:solidFill>
            <a:schemeClr val="accent3">
              <a:alpha val="8000"/>
            </a:schemeClr>
          </a:solidFill>
          <a:ln w="9525">
            <a:solidFill>
              <a:schemeClr val="accent3">
                <a:alpha val="25000"/>
              </a:schemeClr>
            </a:solidFill>
            <a:prstDash val="solid"/>
          </a:ln>
        </p:spPr>
      </p:sp>
      <p:sp>
        <p:nvSpPr>
          <p:cNvPr id="28" name="Text 25"/>
          <p:cNvSpPr txBox="1"/>
          <p:nvPr/>
        </p:nvSpPr>
        <p:spPr>
          <a:xfrm>
            <a:off x="548640" y="4818888"/>
            <a:ext cx="5440680" cy="617220"/>
          </a:xfrm>
          <a:prstGeom prst="rect">
            <a:avLst/>
          </a:prstGeom>
          <a:noFill/>
          <a:ln/>
        </p:spPr>
        <p:txBody>
          <a:bodyPr wrap="square" lIns="0" tIns="0" rIns="0" bIns="0" rtlCol="0" anchor="ctr"/>
          <a:lstStyle/>
          <a:p>
            <a:pPr algn="ctr" indent="0" marL="0">
              <a:buNone/>
            </a:pPr>
            <a:r>
              <a:rPr lang="en-US" sz="3200" b="1" dirty="0">
                <a:solidFill>
                  <a:schemeClr val="accent3"/>
                </a:solidFill>
              </a:rPr>
              <a:t>Liposome</a:t>
            </a:r>
            <a:endParaRPr lang="en-US" sz="3200" dirty="0"/>
          </a:p>
        </p:txBody>
      </p:sp>
      <p:sp>
        <p:nvSpPr>
          <p:cNvPr id="29" name="Text 26"/>
          <p:cNvSpPr txBox="1"/>
          <p:nvPr/>
        </p:nvSpPr>
        <p:spPr>
          <a:xfrm>
            <a:off x="640080" y="5394960"/>
            <a:ext cx="5257800" cy="365760"/>
          </a:xfrm>
          <a:prstGeom prst="rect">
            <a:avLst/>
          </a:prstGeom>
          <a:noFill/>
          <a:ln/>
        </p:spPr>
        <p:txBody>
          <a:bodyPr wrap="square" lIns="0" tIns="0" rIns="0" bIns="0" rtlCol="0" anchor="ctr"/>
          <a:lstStyle/>
          <a:p>
            <a:pPr rtl="1" algn="ctr" indent="0" marL="0">
              <a:buNone/>
            </a:pPr>
            <a:r>
              <a:rPr lang="en-US" sz="1400" b="1" dirty="0">
                <a:solidFill>
                  <a:schemeClr val="tx1"/>
                </a:solidFill>
              </a:rPr>
              <a:t>توصيل أفضل للمكونات داخل الجلد</a:t>
            </a:r>
            <a:endParaRPr lang="en-US" sz="1400" dirty="0"/>
          </a:p>
        </p:txBody>
      </p:sp>
      <p:sp>
        <p:nvSpPr>
          <p:cNvPr id="25" name="Slide Number Placeholder 0"/>
          <p:cNvSpPr>
            <a:spLocks noGrp="1"/>
          </p:cNvSpPr>
          <p:nvPr>
            <p:ph type="sldNum" sz="quarter" idx="4294967295"/>
          </p:nvPr>
        </p:nvSpPr>
        <p:spPr>
          <a:xfrm>
            <a:off x="5806440" y="630936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ct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1"/>
          <p:cNvSpPr/>
          <p:nvPr>
            <p:ph idx="102" type="title" hasCustomPrompt="1"/>
          </p:nvPr>
        </p:nvSpPr>
        <p:spPr>
          <a:xfrm>
            <a:off x="548640" y="320040"/>
            <a:ext cx="11064240" cy="777240"/>
          </a:xfrm>
          <a:prstGeom prst="rect">
            <a:avLst/>
          </a:prstGeom>
          <a:noFill/>
          <a:ln/>
        </p:spPr>
        <p:txBody>
          <a:bodyPr wrap="square" rtlCol="0" anchor="ctr"/>
          <a:lstStyle/>
          <a:p>
            <a:pPr rtl="1" algn="r" indent="0" marL="0">
              <a:buNone/>
            </a:pPr>
            <a:r>
              <a:rPr lang="en-US" sz="3200" b="1" dirty="0">
                <a:solidFill>
                  <a:schemeClr val="tx2"/>
                </a:solidFill>
              </a:rPr>
              <a:t>Mebonol — مراحل تعافي الجلد ودور ميبونول</a:t>
            </a:r>
            <a:endParaRPr lang="en-US" sz="3200" dirty="0"/>
          </a:p>
        </p:txBody>
      </p:sp>
      <p:sp>
        <p:nvSpPr>
          <p:cNvPr id="4" name="Shape 1"/>
          <p:cNvSpPr/>
          <p:nvPr/>
        </p:nvSpPr>
        <p:spPr>
          <a:xfrm>
            <a:off x="8983980" y="1463040"/>
            <a:ext cx="2651760" cy="3657600"/>
          </a:xfrm>
          <a:prstGeom prst="roundRect">
            <a:avLst>
              <a:gd name="adj" fmla="val 4138"/>
            </a:avLst>
          </a:prstGeom>
          <a:solidFill>
            <a:schemeClr val="accent3">
              <a:alpha val="10000"/>
            </a:schemeClr>
          </a:solidFill>
          <a:ln w="9525">
            <a:solidFill>
              <a:schemeClr val="accent3">
                <a:alpha val="25000"/>
              </a:schemeClr>
            </a:solidFill>
            <a:prstDash val="solid"/>
          </a:ln>
        </p:spPr>
      </p:sp>
      <p:sp>
        <p:nvSpPr>
          <p:cNvPr id="5" name="Shape 2"/>
          <p:cNvSpPr/>
          <p:nvPr/>
        </p:nvSpPr>
        <p:spPr>
          <a:xfrm>
            <a:off x="9944100" y="1645920"/>
            <a:ext cx="731520" cy="731520"/>
          </a:xfrm>
          <a:prstGeom prst="ellipse">
            <a:avLst/>
          </a:prstGeom>
          <a:solidFill>
            <a:schemeClr val="accent3"/>
          </a:solidFill>
          <a:ln w="12700">
            <a:solidFill>
              <a:schemeClr val="accent3"/>
            </a:solidFill>
            <a:prstDash val="solid"/>
          </a:ln>
        </p:spPr>
      </p:sp>
      <p:sp>
        <p:nvSpPr>
          <p:cNvPr id="6" name="Text 3"/>
          <p:cNvSpPr txBox="1"/>
          <p:nvPr/>
        </p:nvSpPr>
        <p:spPr>
          <a:xfrm>
            <a:off x="9944100" y="1645920"/>
            <a:ext cx="731520" cy="731520"/>
          </a:xfrm>
          <a:prstGeom prst="rect">
            <a:avLst/>
          </a:prstGeom>
          <a:noFill/>
          <a:ln/>
        </p:spPr>
        <p:txBody>
          <a:bodyPr wrap="square" lIns="0" tIns="0" rIns="0" bIns="0" rtlCol="0" anchor="ctr"/>
          <a:lstStyle/>
          <a:p>
            <a:pPr algn="ctr" indent="0" marL="0">
              <a:buNone/>
            </a:pPr>
            <a:r>
              <a:rPr lang="en-US" sz="2200" b="1" dirty="0">
                <a:solidFill>
                  <a:schemeClr val="bg1"/>
                </a:solidFill>
              </a:rPr>
              <a:t>1</a:t>
            </a:r>
            <a:endParaRPr lang="en-US" sz="2200" dirty="0"/>
          </a:p>
        </p:txBody>
      </p:sp>
      <p:sp>
        <p:nvSpPr>
          <p:cNvPr id="7" name="Text 4"/>
          <p:cNvSpPr txBox="1"/>
          <p:nvPr/>
        </p:nvSpPr>
        <p:spPr>
          <a:xfrm>
            <a:off x="8983980" y="2514600"/>
            <a:ext cx="2651760" cy="502920"/>
          </a:xfrm>
          <a:prstGeom prst="rect">
            <a:avLst/>
          </a:prstGeom>
          <a:noFill/>
          <a:ln/>
        </p:spPr>
        <p:txBody>
          <a:bodyPr wrap="square" lIns="0" tIns="0" rIns="0" bIns="0" rtlCol="0" anchor="ctr"/>
          <a:lstStyle/>
          <a:p>
            <a:pPr rtl="1" algn="ctr" indent="0" marL="0">
              <a:buNone/>
            </a:pPr>
            <a:r>
              <a:rPr lang="en-US" sz="2000" b="1" dirty="0">
                <a:solidFill>
                  <a:schemeClr val="accent3"/>
                </a:solidFill>
              </a:rPr>
              <a:t>التنظيف</a:t>
            </a:r>
            <a:endParaRPr lang="en-US" sz="2000" dirty="0"/>
          </a:p>
        </p:txBody>
      </p:sp>
      <p:sp>
        <p:nvSpPr>
          <p:cNvPr id="8" name="Text 5"/>
          <p:cNvSpPr txBox="1"/>
          <p:nvPr/>
        </p:nvSpPr>
        <p:spPr>
          <a:xfrm>
            <a:off x="9121140" y="3063240"/>
            <a:ext cx="2377440" cy="731520"/>
          </a:xfrm>
          <a:prstGeom prst="rect">
            <a:avLst/>
          </a:prstGeom>
          <a:noFill/>
          <a:ln/>
        </p:spPr>
        <p:txBody>
          <a:bodyPr wrap="square" lIns="0" tIns="0" rIns="0" bIns="0" rtlCol="0" anchor="t"/>
          <a:lstStyle/>
          <a:p>
            <a:pPr rtl="1" algn="ctr" indent="0" marL="0">
              <a:buNone/>
            </a:pPr>
            <a:r>
              <a:rPr lang="en-US" sz="1400" dirty="0">
                <a:solidFill>
                  <a:schemeClr val="tx1"/>
                </a:solidFill>
              </a:rPr>
              <a:t>تقليل الميكروبات</a:t>
            </a:r>
            <a:endParaRPr lang="en-US" sz="1400" dirty="0"/>
          </a:p>
        </p:txBody>
      </p:sp>
      <p:sp>
        <p:nvSpPr>
          <p:cNvPr id="9" name="Text 6"/>
          <p:cNvSpPr txBox="1"/>
          <p:nvPr/>
        </p:nvSpPr>
        <p:spPr>
          <a:xfrm>
            <a:off x="9121140" y="3886200"/>
            <a:ext cx="2377440" cy="1097280"/>
          </a:xfrm>
          <a:prstGeom prst="rect">
            <a:avLst/>
          </a:prstGeom>
          <a:noFill/>
          <a:ln/>
        </p:spPr>
        <p:txBody>
          <a:bodyPr wrap="square" lIns="0" tIns="0" rIns="0" bIns="0" rtlCol="0" anchor="t"/>
          <a:lstStyle/>
          <a:p>
            <a:pPr algn="ctr" indent="0" marL="0">
              <a:buNone/>
            </a:pPr>
            <a:r>
              <a:rPr lang="en-US" sz="1300" b="1" dirty="0">
                <a:solidFill>
                  <a:schemeClr val="accent5"/>
                </a:solidFill>
              </a:rPr>
              <a:t>Chlorhexidine · Tea tree · Propolis · Garlic oil</a:t>
            </a:r>
            <a:endParaRPr lang="en-US" sz="1300" dirty="0"/>
          </a:p>
        </p:txBody>
      </p:sp>
      <p:sp>
        <p:nvSpPr>
          <p:cNvPr id="10" name="Shape 7"/>
          <p:cNvSpPr/>
          <p:nvPr/>
        </p:nvSpPr>
        <p:spPr>
          <a:xfrm>
            <a:off x="8828532" y="3154680"/>
            <a:ext cx="182880" cy="274320"/>
          </a:xfrm>
          <a:prstGeom prst="leftArrow">
            <a:avLst/>
          </a:prstGeom>
          <a:solidFill>
            <a:schemeClr val="accent3"/>
          </a:solidFill>
          <a:ln w="12700">
            <a:solidFill>
              <a:schemeClr val="accent3"/>
            </a:solidFill>
            <a:prstDash val="solid"/>
          </a:ln>
        </p:spPr>
      </p:sp>
      <p:sp>
        <p:nvSpPr>
          <p:cNvPr id="11" name="Shape 8"/>
          <p:cNvSpPr/>
          <p:nvPr/>
        </p:nvSpPr>
        <p:spPr>
          <a:xfrm>
            <a:off x="6172200" y="1463040"/>
            <a:ext cx="2651760" cy="3657600"/>
          </a:xfrm>
          <a:prstGeom prst="roundRect">
            <a:avLst>
              <a:gd name="adj" fmla="val 4138"/>
            </a:avLst>
          </a:prstGeom>
          <a:solidFill>
            <a:schemeClr val="accent3">
              <a:alpha val="10000"/>
            </a:schemeClr>
          </a:solidFill>
          <a:ln w="9525">
            <a:solidFill>
              <a:schemeClr val="accent3">
                <a:alpha val="25000"/>
              </a:schemeClr>
            </a:solidFill>
            <a:prstDash val="solid"/>
          </a:ln>
        </p:spPr>
      </p:sp>
      <p:sp>
        <p:nvSpPr>
          <p:cNvPr id="12" name="Shape 9"/>
          <p:cNvSpPr/>
          <p:nvPr/>
        </p:nvSpPr>
        <p:spPr>
          <a:xfrm>
            <a:off x="7132320" y="1645920"/>
            <a:ext cx="731520" cy="731520"/>
          </a:xfrm>
          <a:prstGeom prst="ellipse">
            <a:avLst/>
          </a:prstGeom>
          <a:solidFill>
            <a:schemeClr val="accent3"/>
          </a:solidFill>
          <a:ln w="12700">
            <a:solidFill>
              <a:schemeClr val="accent3"/>
            </a:solidFill>
            <a:prstDash val="solid"/>
          </a:ln>
        </p:spPr>
      </p:sp>
      <p:sp>
        <p:nvSpPr>
          <p:cNvPr id="13" name="Text 10"/>
          <p:cNvSpPr txBox="1"/>
          <p:nvPr/>
        </p:nvSpPr>
        <p:spPr>
          <a:xfrm>
            <a:off x="7132320" y="1645920"/>
            <a:ext cx="731520" cy="731520"/>
          </a:xfrm>
          <a:prstGeom prst="rect">
            <a:avLst/>
          </a:prstGeom>
          <a:noFill/>
          <a:ln/>
        </p:spPr>
        <p:txBody>
          <a:bodyPr wrap="square" lIns="0" tIns="0" rIns="0" bIns="0" rtlCol="0" anchor="ctr"/>
          <a:lstStyle/>
          <a:p>
            <a:pPr algn="ctr" indent="0" marL="0">
              <a:buNone/>
            </a:pPr>
            <a:r>
              <a:rPr lang="en-US" sz="2200" b="1" dirty="0">
                <a:solidFill>
                  <a:schemeClr val="bg1"/>
                </a:solidFill>
              </a:rPr>
              <a:t>2</a:t>
            </a:r>
            <a:endParaRPr lang="en-US" sz="2200" dirty="0"/>
          </a:p>
        </p:txBody>
      </p:sp>
      <p:sp>
        <p:nvSpPr>
          <p:cNvPr id="14" name="Text 11"/>
          <p:cNvSpPr txBox="1"/>
          <p:nvPr/>
        </p:nvSpPr>
        <p:spPr>
          <a:xfrm>
            <a:off x="6172200" y="2514600"/>
            <a:ext cx="2651760" cy="502920"/>
          </a:xfrm>
          <a:prstGeom prst="rect">
            <a:avLst/>
          </a:prstGeom>
          <a:noFill/>
          <a:ln/>
        </p:spPr>
        <p:txBody>
          <a:bodyPr wrap="square" lIns="0" tIns="0" rIns="0" bIns="0" rtlCol="0" anchor="ctr"/>
          <a:lstStyle/>
          <a:p>
            <a:pPr rtl="1" algn="ctr" indent="0" marL="0">
              <a:buNone/>
            </a:pPr>
            <a:r>
              <a:rPr lang="en-US" sz="2000" b="1" dirty="0">
                <a:solidFill>
                  <a:schemeClr val="accent3"/>
                </a:solidFill>
              </a:rPr>
              <a:t>الالتهاب</a:t>
            </a:r>
            <a:endParaRPr lang="en-US" sz="2000" dirty="0"/>
          </a:p>
        </p:txBody>
      </p:sp>
      <p:sp>
        <p:nvSpPr>
          <p:cNvPr id="15" name="Text 12"/>
          <p:cNvSpPr txBox="1"/>
          <p:nvPr/>
        </p:nvSpPr>
        <p:spPr>
          <a:xfrm>
            <a:off x="6309360" y="3063240"/>
            <a:ext cx="2377440" cy="731520"/>
          </a:xfrm>
          <a:prstGeom prst="rect">
            <a:avLst/>
          </a:prstGeom>
          <a:noFill/>
          <a:ln/>
        </p:spPr>
        <p:txBody>
          <a:bodyPr wrap="square" lIns="0" tIns="0" rIns="0" bIns="0" rtlCol="0" anchor="t"/>
          <a:lstStyle/>
          <a:p>
            <a:pPr rtl="1" algn="ctr" indent="0" marL="0">
              <a:buNone/>
            </a:pPr>
            <a:r>
              <a:rPr lang="en-US" sz="1400" dirty="0">
                <a:solidFill>
                  <a:schemeClr val="tx1"/>
                </a:solidFill>
              </a:rPr>
              <a:t>تهدئة الاحمرار والتورّم</a:t>
            </a:r>
            <a:endParaRPr lang="en-US" sz="1400" dirty="0"/>
          </a:p>
        </p:txBody>
      </p:sp>
      <p:sp>
        <p:nvSpPr>
          <p:cNvPr id="16" name="Text 13"/>
          <p:cNvSpPr txBox="1"/>
          <p:nvPr/>
        </p:nvSpPr>
        <p:spPr>
          <a:xfrm>
            <a:off x="6309360" y="3886200"/>
            <a:ext cx="2377440" cy="1097280"/>
          </a:xfrm>
          <a:prstGeom prst="rect">
            <a:avLst/>
          </a:prstGeom>
          <a:noFill/>
          <a:ln/>
        </p:spPr>
        <p:txBody>
          <a:bodyPr wrap="square" lIns="0" tIns="0" rIns="0" bIns="0" rtlCol="0" anchor="t"/>
          <a:lstStyle/>
          <a:p>
            <a:pPr algn="ctr" indent="0" marL="0">
              <a:buNone/>
            </a:pPr>
            <a:r>
              <a:rPr lang="en-US" sz="1300" b="1" dirty="0">
                <a:solidFill>
                  <a:schemeClr val="accent5"/>
                </a:solidFill>
              </a:rPr>
              <a:t>Arnica · Propolis · Vitamin E · Aloe</a:t>
            </a:r>
            <a:endParaRPr lang="en-US" sz="1300" dirty="0"/>
          </a:p>
        </p:txBody>
      </p:sp>
      <p:sp>
        <p:nvSpPr>
          <p:cNvPr id="17" name="Shape 14"/>
          <p:cNvSpPr/>
          <p:nvPr/>
        </p:nvSpPr>
        <p:spPr>
          <a:xfrm>
            <a:off x="6016752" y="3154680"/>
            <a:ext cx="182880" cy="274320"/>
          </a:xfrm>
          <a:prstGeom prst="leftArrow">
            <a:avLst/>
          </a:prstGeom>
          <a:solidFill>
            <a:schemeClr val="accent3"/>
          </a:solidFill>
          <a:ln w="12700">
            <a:solidFill>
              <a:schemeClr val="accent3"/>
            </a:solidFill>
            <a:prstDash val="solid"/>
          </a:ln>
        </p:spPr>
      </p:sp>
      <p:sp>
        <p:nvSpPr>
          <p:cNvPr id="18" name="Shape 15"/>
          <p:cNvSpPr/>
          <p:nvPr/>
        </p:nvSpPr>
        <p:spPr>
          <a:xfrm>
            <a:off x="3360420" y="1463040"/>
            <a:ext cx="2651760" cy="3657600"/>
          </a:xfrm>
          <a:prstGeom prst="roundRect">
            <a:avLst>
              <a:gd name="adj" fmla="val 4138"/>
            </a:avLst>
          </a:prstGeom>
          <a:solidFill>
            <a:schemeClr val="accent3">
              <a:alpha val="10000"/>
            </a:schemeClr>
          </a:solidFill>
          <a:ln w="9525">
            <a:solidFill>
              <a:schemeClr val="accent3">
                <a:alpha val="25000"/>
              </a:schemeClr>
            </a:solidFill>
            <a:prstDash val="solid"/>
          </a:ln>
        </p:spPr>
      </p:sp>
      <p:sp>
        <p:nvSpPr>
          <p:cNvPr id="19" name="Shape 16"/>
          <p:cNvSpPr/>
          <p:nvPr/>
        </p:nvSpPr>
        <p:spPr>
          <a:xfrm>
            <a:off x="4320540" y="1645920"/>
            <a:ext cx="731520" cy="731520"/>
          </a:xfrm>
          <a:prstGeom prst="ellipse">
            <a:avLst/>
          </a:prstGeom>
          <a:solidFill>
            <a:schemeClr val="accent3"/>
          </a:solidFill>
          <a:ln w="12700">
            <a:solidFill>
              <a:schemeClr val="accent3"/>
            </a:solidFill>
            <a:prstDash val="solid"/>
          </a:ln>
        </p:spPr>
      </p:sp>
      <p:sp>
        <p:nvSpPr>
          <p:cNvPr id="20" name="Text 17"/>
          <p:cNvSpPr txBox="1"/>
          <p:nvPr/>
        </p:nvSpPr>
        <p:spPr>
          <a:xfrm>
            <a:off x="4320540" y="1645920"/>
            <a:ext cx="731520" cy="731520"/>
          </a:xfrm>
          <a:prstGeom prst="rect">
            <a:avLst/>
          </a:prstGeom>
          <a:noFill/>
          <a:ln/>
        </p:spPr>
        <p:txBody>
          <a:bodyPr wrap="square" lIns="0" tIns="0" rIns="0" bIns="0" rtlCol="0" anchor="ctr"/>
          <a:lstStyle/>
          <a:p>
            <a:pPr algn="ctr" indent="0" marL="0">
              <a:buNone/>
            </a:pPr>
            <a:r>
              <a:rPr lang="en-US" sz="2200" b="1" dirty="0">
                <a:solidFill>
                  <a:schemeClr val="bg1"/>
                </a:solidFill>
              </a:rPr>
              <a:t>3</a:t>
            </a:r>
            <a:endParaRPr lang="en-US" sz="2200" dirty="0"/>
          </a:p>
        </p:txBody>
      </p:sp>
      <p:sp>
        <p:nvSpPr>
          <p:cNvPr id="21" name="Text 18"/>
          <p:cNvSpPr txBox="1"/>
          <p:nvPr/>
        </p:nvSpPr>
        <p:spPr>
          <a:xfrm>
            <a:off x="3360420" y="2514600"/>
            <a:ext cx="2651760" cy="502920"/>
          </a:xfrm>
          <a:prstGeom prst="rect">
            <a:avLst/>
          </a:prstGeom>
          <a:noFill/>
          <a:ln/>
        </p:spPr>
        <p:txBody>
          <a:bodyPr wrap="square" lIns="0" tIns="0" rIns="0" bIns="0" rtlCol="0" anchor="ctr"/>
          <a:lstStyle/>
          <a:p>
            <a:pPr rtl="1" algn="ctr" indent="0" marL="0">
              <a:buNone/>
            </a:pPr>
            <a:r>
              <a:rPr lang="en-US" sz="2000" b="1" dirty="0">
                <a:solidFill>
                  <a:schemeClr val="accent3"/>
                </a:solidFill>
              </a:rPr>
              <a:t>التجدد</a:t>
            </a:r>
            <a:endParaRPr lang="en-US" sz="2000" dirty="0"/>
          </a:p>
        </p:txBody>
      </p:sp>
      <p:sp>
        <p:nvSpPr>
          <p:cNvPr id="22" name="Text 19"/>
          <p:cNvSpPr txBox="1"/>
          <p:nvPr/>
        </p:nvSpPr>
        <p:spPr>
          <a:xfrm>
            <a:off x="3497580" y="3063240"/>
            <a:ext cx="2377440" cy="731520"/>
          </a:xfrm>
          <a:prstGeom prst="rect">
            <a:avLst/>
          </a:prstGeom>
          <a:noFill/>
          <a:ln/>
        </p:spPr>
        <p:txBody>
          <a:bodyPr wrap="square" lIns="0" tIns="0" rIns="0" bIns="0" rtlCol="0" anchor="t"/>
          <a:lstStyle/>
          <a:p>
            <a:pPr rtl="1" algn="ctr" indent="0" marL="0">
              <a:buNone/>
            </a:pPr>
            <a:r>
              <a:rPr lang="en-US" sz="1400" dirty="0">
                <a:solidFill>
                  <a:schemeClr val="tx1"/>
                </a:solidFill>
              </a:rPr>
              <a:t>تكوين أنسجة وكولاجين جديد</a:t>
            </a:r>
            <a:endParaRPr lang="en-US" sz="1400" dirty="0"/>
          </a:p>
        </p:txBody>
      </p:sp>
      <p:sp>
        <p:nvSpPr>
          <p:cNvPr id="23" name="Text 20"/>
          <p:cNvSpPr txBox="1"/>
          <p:nvPr/>
        </p:nvSpPr>
        <p:spPr>
          <a:xfrm>
            <a:off x="3497580" y="3886200"/>
            <a:ext cx="2377440" cy="1097280"/>
          </a:xfrm>
          <a:prstGeom prst="rect">
            <a:avLst/>
          </a:prstGeom>
          <a:noFill/>
          <a:ln/>
        </p:spPr>
        <p:txBody>
          <a:bodyPr wrap="square" lIns="0" tIns="0" rIns="0" bIns="0" rtlCol="0" anchor="t"/>
          <a:lstStyle/>
          <a:p>
            <a:pPr algn="ctr" indent="0" marL="0">
              <a:buNone/>
            </a:pPr>
            <a:r>
              <a:rPr lang="en-US" sz="1300" b="1" dirty="0">
                <a:solidFill>
                  <a:schemeClr val="accent5"/>
                </a:solidFill>
              </a:rPr>
              <a:t>Calendula · Honey · Panthenol · Emu oil</a:t>
            </a:r>
            <a:endParaRPr lang="en-US" sz="1300" dirty="0"/>
          </a:p>
        </p:txBody>
      </p:sp>
      <p:sp>
        <p:nvSpPr>
          <p:cNvPr id="24" name="Shape 21"/>
          <p:cNvSpPr/>
          <p:nvPr/>
        </p:nvSpPr>
        <p:spPr>
          <a:xfrm>
            <a:off x="3204972" y="3154680"/>
            <a:ext cx="182880" cy="274320"/>
          </a:xfrm>
          <a:prstGeom prst="leftArrow">
            <a:avLst/>
          </a:prstGeom>
          <a:solidFill>
            <a:schemeClr val="accent3"/>
          </a:solidFill>
          <a:ln w="12700">
            <a:solidFill>
              <a:schemeClr val="accent3"/>
            </a:solidFill>
            <a:prstDash val="solid"/>
          </a:ln>
        </p:spPr>
      </p:sp>
      <p:sp>
        <p:nvSpPr>
          <p:cNvPr id="25" name="Shape 22"/>
          <p:cNvSpPr/>
          <p:nvPr/>
        </p:nvSpPr>
        <p:spPr>
          <a:xfrm>
            <a:off x="548640" y="1463040"/>
            <a:ext cx="2651760" cy="3657600"/>
          </a:xfrm>
          <a:prstGeom prst="roundRect">
            <a:avLst>
              <a:gd name="adj" fmla="val 4138"/>
            </a:avLst>
          </a:prstGeom>
          <a:solidFill>
            <a:schemeClr val="accent3">
              <a:alpha val="10000"/>
            </a:schemeClr>
          </a:solidFill>
          <a:ln w="9525">
            <a:solidFill>
              <a:schemeClr val="accent3">
                <a:alpha val="25000"/>
              </a:schemeClr>
            </a:solidFill>
            <a:prstDash val="solid"/>
          </a:ln>
        </p:spPr>
      </p:sp>
      <p:sp>
        <p:nvSpPr>
          <p:cNvPr id="26" name="Shape 23"/>
          <p:cNvSpPr/>
          <p:nvPr/>
        </p:nvSpPr>
        <p:spPr>
          <a:xfrm>
            <a:off x="1508760" y="1645920"/>
            <a:ext cx="731520" cy="731520"/>
          </a:xfrm>
          <a:prstGeom prst="ellipse">
            <a:avLst/>
          </a:prstGeom>
          <a:solidFill>
            <a:schemeClr val="accent3"/>
          </a:solidFill>
          <a:ln w="12700">
            <a:solidFill>
              <a:schemeClr val="accent3"/>
            </a:solidFill>
            <a:prstDash val="solid"/>
          </a:ln>
        </p:spPr>
      </p:sp>
      <p:sp>
        <p:nvSpPr>
          <p:cNvPr id="27" name="Text 24"/>
          <p:cNvSpPr txBox="1"/>
          <p:nvPr/>
        </p:nvSpPr>
        <p:spPr>
          <a:xfrm>
            <a:off x="1508760" y="1645920"/>
            <a:ext cx="731520" cy="731520"/>
          </a:xfrm>
          <a:prstGeom prst="rect">
            <a:avLst/>
          </a:prstGeom>
          <a:noFill/>
          <a:ln/>
        </p:spPr>
        <p:txBody>
          <a:bodyPr wrap="square" lIns="0" tIns="0" rIns="0" bIns="0" rtlCol="0" anchor="ctr"/>
          <a:lstStyle/>
          <a:p>
            <a:pPr algn="ctr" indent="0" marL="0">
              <a:buNone/>
            </a:pPr>
            <a:r>
              <a:rPr lang="en-US" sz="2200" b="1" dirty="0">
                <a:solidFill>
                  <a:schemeClr val="bg1"/>
                </a:solidFill>
              </a:rPr>
              <a:t>4</a:t>
            </a:r>
            <a:endParaRPr lang="en-US" sz="2200" dirty="0"/>
          </a:p>
        </p:txBody>
      </p:sp>
      <p:sp>
        <p:nvSpPr>
          <p:cNvPr id="28" name="Text 25"/>
          <p:cNvSpPr txBox="1"/>
          <p:nvPr/>
        </p:nvSpPr>
        <p:spPr>
          <a:xfrm>
            <a:off x="548640" y="2514600"/>
            <a:ext cx="2651760" cy="502920"/>
          </a:xfrm>
          <a:prstGeom prst="rect">
            <a:avLst/>
          </a:prstGeom>
          <a:noFill/>
          <a:ln/>
        </p:spPr>
        <p:txBody>
          <a:bodyPr wrap="square" lIns="0" tIns="0" rIns="0" bIns="0" rtlCol="0" anchor="ctr"/>
          <a:lstStyle/>
          <a:p>
            <a:pPr rtl="1" algn="ctr" indent="0" marL="0">
              <a:buNone/>
            </a:pPr>
            <a:r>
              <a:rPr lang="en-US" sz="2000" b="1" dirty="0">
                <a:solidFill>
                  <a:schemeClr val="accent3"/>
                </a:solidFill>
              </a:rPr>
              <a:t>إعادة البناء</a:t>
            </a:r>
            <a:endParaRPr lang="en-US" sz="2000" dirty="0"/>
          </a:p>
        </p:txBody>
      </p:sp>
      <p:sp>
        <p:nvSpPr>
          <p:cNvPr id="29" name="Text 26"/>
          <p:cNvSpPr txBox="1"/>
          <p:nvPr/>
        </p:nvSpPr>
        <p:spPr>
          <a:xfrm>
            <a:off x="685800" y="3063240"/>
            <a:ext cx="2377440" cy="731520"/>
          </a:xfrm>
          <a:prstGeom prst="rect">
            <a:avLst/>
          </a:prstGeom>
          <a:noFill/>
          <a:ln/>
        </p:spPr>
        <p:txBody>
          <a:bodyPr wrap="square" lIns="0" tIns="0" rIns="0" bIns="0" rtlCol="0" anchor="t"/>
          <a:lstStyle/>
          <a:p>
            <a:pPr rtl="1" algn="ctr" indent="0" marL="0">
              <a:buNone/>
            </a:pPr>
            <a:r>
              <a:rPr lang="en-US" sz="1400" dirty="0">
                <a:solidFill>
                  <a:schemeClr val="tx1"/>
                </a:solidFill>
              </a:rPr>
              <a:t>جلد ناعم ومرن</a:t>
            </a:r>
            <a:endParaRPr lang="en-US" sz="1400" dirty="0"/>
          </a:p>
        </p:txBody>
      </p:sp>
      <p:sp>
        <p:nvSpPr>
          <p:cNvPr id="30" name="Text 27"/>
          <p:cNvSpPr txBox="1"/>
          <p:nvPr/>
        </p:nvSpPr>
        <p:spPr>
          <a:xfrm>
            <a:off x="685800" y="3886200"/>
            <a:ext cx="2377440" cy="1097280"/>
          </a:xfrm>
          <a:prstGeom prst="rect">
            <a:avLst/>
          </a:prstGeom>
          <a:noFill/>
          <a:ln/>
        </p:spPr>
        <p:txBody>
          <a:bodyPr wrap="square" lIns="0" tIns="0" rIns="0" bIns="0" rtlCol="0" anchor="t"/>
          <a:lstStyle/>
          <a:p>
            <a:pPr algn="ctr" indent="0" marL="0">
              <a:buNone/>
            </a:pPr>
            <a:r>
              <a:rPr lang="en-US" sz="1300" b="1" dirty="0">
                <a:solidFill>
                  <a:schemeClr val="accent5"/>
                </a:solidFill>
              </a:rPr>
              <a:t>Olive · Sesame · Jojoba · Rose oil · Glycerin</a:t>
            </a:r>
            <a:endParaRPr lang="en-US" sz="1300" dirty="0"/>
          </a:p>
        </p:txBody>
      </p:sp>
      <p:sp>
        <p:nvSpPr>
          <p:cNvPr id="31" name="Text 28"/>
          <p:cNvSpPr txBox="1"/>
          <p:nvPr/>
        </p:nvSpPr>
        <p:spPr>
          <a:xfrm>
            <a:off x="548640" y="5349240"/>
            <a:ext cx="11064240" cy="457200"/>
          </a:xfrm>
          <a:prstGeom prst="rect">
            <a:avLst/>
          </a:prstGeom>
          <a:noFill/>
          <a:ln/>
        </p:spPr>
        <p:txBody>
          <a:bodyPr wrap="square" lIns="0" tIns="0" rIns="0" bIns="0" rtlCol="0" anchor="ctr"/>
          <a:lstStyle/>
          <a:p>
            <a:pPr rtl="1" algn="r" indent="0" marL="0">
              <a:buNone/>
            </a:pPr>
            <a:r>
              <a:rPr lang="en-US" sz="1300" dirty="0">
                <a:solidFill>
                  <a:schemeClr val="accent5"/>
                </a:solidFill>
              </a:rPr>
              <a:t>الاتجاه من اليمين للشمال: من التنظيف لحد إعادة البناء</a:t>
            </a:r>
            <a:endParaRPr lang="en-US" sz="1300" dirty="0"/>
          </a:p>
        </p:txBody>
      </p:sp>
      <p:sp>
        <p:nvSpPr>
          <p:cNvPr id="25" name="Slide Number Placeholder 0"/>
          <p:cNvSpPr>
            <a:spLocks noGrp="1"/>
          </p:cNvSpPr>
          <p:nvPr>
            <p:ph type="sldNum" sz="quarter" idx="4294967295"/>
          </p:nvPr>
        </p:nvSpPr>
        <p:spPr>
          <a:xfrm>
            <a:off x="5806440" y="630936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ct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1"/>
          <p:cNvSpPr/>
          <p:nvPr>
            <p:ph idx="102" type="title" hasCustomPrompt="1"/>
          </p:nvPr>
        </p:nvSpPr>
        <p:spPr>
          <a:xfrm>
            <a:off x="548640" y="320040"/>
            <a:ext cx="11064240" cy="777240"/>
          </a:xfrm>
          <a:prstGeom prst="rect">
            <a:avLst/>
          </a:prstGeom>
          <a:noFill/>
          <a:ln/>
        </p:spPr>
        <p:txBody>
          <a:bodyPr wrap="square" rtlCol="0" anchor="ctr"/>
          <a:lstStyle/>
          <a:p>
            <a:pPr rtl="1" algn="r" indent="0" marL="0">
              <a:buNone/>
            </a:pPr>
            <a:r>
              <a:rPr lang="en-US" sz="3200" b="1" dirty="0">
                <a:solidFill>
                  <a:schemeClr val="tx2"/>
                </a:solidFill>
              </a:rPr>
              <a:t>Mebonol — الدليل العلمي والاستخدامات</a:t>
            </a:r>
            <a:endParaRPr lang="en-US" sz="3200" dirty="0"/>
          </a:p>
        </p:txBody>
      </p:sp>
      <p:sp>
        <p:nvSpPr>
          <p:cNvPr id="4" name="Shape 1"/>
          <p:cNvSpPr/>
          <p:nvPr/>
        </p:nvSpPr>
        <p:spPr>
          <a:xfrm>
            <a:off x="548640" y="1325880"/>
            <a:ext cx="11064240" cy="1188720"/>
          </a:xfrm>
          <a:prstGeom prst="roundRect">
            <a:avLst>
              <a:gd name="adj" fmla="val 11538"/>
            </a:avLst>
          </a:prstGeom>
          <a:solidFill>
            <a:schemeClr val="accent3"/>
          </a:solidFill>
          <a:ln w="12700">
            <a:solidFill>
              <a:schemeClr val="accent3"/>
            </a:solidFill>
            <a:prstDash val="solid"/>
          </a:ln>
        </p:spPr>
      </p:sp>
      <p:sp>
        <p:nvSpPr>
          <p:cNvPr id="5" name="Text 2"/>
          <p:cNvSpPr txBox="1"/>
          <p:nvPr/>
        </p:nvSpPr>
        <p:spPr>
          <a:xfrm>
            <a:off x="822960" y="1325880"/>
            <a:ext cx="10515600" cy="1188720"/>
          </a:xfrm>
          <a:prstGeom prst="rect">
            <a:avLst/>
          </a:prstGeom>
          <a:noFill/>
          <a:ln/>
        </p:spPr>
        <p:txBody>
          <a:bodyPr wrap="square" lIns="0" tIns="0" rIns="0" bIns="0" rtlCol="0" anchor="ctr"/>
          <a:lstStyle/>
          <a:p>
            <a:pPr algn="r" indent="0" marL="0">
              <a:spcAft>
                <a:spcPts val="400"/>
              </a:spcAft>
              <a:buNone/>
            </a:pPr>
            <a:r>
              <a:rPr lang="en-US" sz="1200" b="1" dirty="0">
                <a:solidFill>
                  <a:schemeClr val="bg1"/>
                </a:solidFill>
              </a:rPr>
              <a:t>Key Selling Point</a:t>
            </a:r>
            <a:endParaRPr lang="en-US" sz="1200" dirty="0"/>
          </a:p>
          <a:p>
            <a:pPr rtl="1" algn="r" indent="0" marL="0">
              <a:spcAft>
                <a:spcPts val="400"/>
              </a:spcAft>
              <a:buNone/>
            </a:pPr>
            <a:r>
              <a:rPr lang="en-US" sz="1800" b="1" dirty="0">
                <a:solidFill>
                  <a:schemeClr val="bg1"/>
                </a:solidFill>
              </a:rPr>
              <a:t>17 مكوّن طبيعي بتقنية الليبوسوم بيساعدوا البشرة المتشققة والمتهيجة تستعيد طبيعتها</a:t>
            </a:r>
            <a:endParaRPr lang="en-US" sz="1200" dirty="0"/>
          </a:p>
        </p:txBody>
      </p:sp>
      <p:sp>
        <p:nvSpPr>
          <p:cNvPr id="6" name="Shape 3"/>
          <p:cNvSpPr/>
          <p:nvPr/>
        </p:nvSpPr>
        <p:spPr>
          <a:xfrm>
            <a:off x="8229600" y="2743200"/>
            <a:ext cx="3383280" cy="2103120"/>
          </a:xfrm>
          <a:prstGeom prst="roundRect">
            <a:avLst>
              <a:gd name="adj" fmla="val 5217"/>
            </a:avLst>
          </a:prstGeom>
          <a:solidFill>
            <a:schemeClr val="accent3">
              <a:alpha val="8000"/>
            </a:schemeClr>
          </a:solidFill>
          <a:ln w="9525">
            <a:solidFill>
              <a:schemeClr val="accent3">
                <a:alpha val="25000"/>
              </a:schemeClr>
            </a:solidFill>
            <a:prstDash val="solid"/>
          </a:ln>
        </p:spPr>
      </p:sp>
      <p:sp>
        <p:nvSpPr>
          <p:cNvPr id="7" name="Text 4"/>
          <p:cNvSpPr txBox="1"/>
          <p:nvPr/>
        </p:nvSpPr>
        <p:spPr>
          <a:xfrm>
            <a:off x="8412480" y="2852928"/>
            <a:ext cx="3017520" cy="365760"/>
          </a:xfrm>
          <a:prstGeom prst="rect">
            <a:avLst/>
          </a:prstGeom>
          <a:noFill/>
          <a:ln/>
        </p:spPr>
        <p:txBody>
          <a:bodyPr wrap="square" lIns="0" tIns="0" rIns="0" bIns="0" rtlCol="0" anchor="ctr"/>
          <a:lstStyle/>
          <a:p>
            <a:pPr algn="l" indent="0" marL="0">
              <a:buNone/>
            </a:pPr>
            <a:r>
              <a:rPr lang="en-US" sz="1400" b="1" dirty="0">
                <a:solidFill>
                  <a:schemeClr val="accent3"/>
                </a:solidFill>
              </a:rPr>
              <a:t>Jull, 2015 · Cochrane</a:t>
            </a:r>
            <a:endParaRPr lang="en-US" sz="1400" dirty="0"/>
          </a:p>
        </p:txBody>
      </p:sp>
      <p:sp>
        <p:nvSpPr>
          <p:cNvPr id="8" name="Text 5"/>
          <p:cNvSpPr txBox="1"/>
          <p:nvPr/>
        </p:nvSpPr>
        <p:spPr>
          <a:xfrm>
            <a:off x="8412480" y="3246120"/>
            <a:ext cx="3017520" cy="685800"/>
          </a:xfrm>
          <a:prstGeom prst="rect">
            <a:avLst/>
          </a:prstGeom>
          <a:noFill/>
          <a:ln/>
        </p:spPr>
        <p:txBody>
          <a:bodyPr wrap="square" lIns="0" tIns="0" rIns="0" bIns="0" rtlCol="0" anchor="t"/>
          <a:lstStyle/>
          <a:p>
            <a:pPr rtl="1" algn="r" indent="0" marL="0">
              <a:buNone/>
            </a:pPr>
            <a:r>
              <a:rPr lang="en-US" sz="1300" dirty="0">
                <a:solidFill>
                  <a:schemeClr val="accent5"/>
                </a:solidFill>
              </a:rPr>
              <a:t>العسل · 992 مريض حروق سطحية</a:t>
            </a:r>
            <a:endParaRPr lang="en-US" sz="1300" dirty="0"/>
          </a:p>
        </p:txBody>
      </p:sp>
      <p:sp>
        <p:nvSpPr>
          <p:cNvPr id="9" name="Text 6"/>
          <p:cNvSpPr txBox="1"/>
          <p:nvPr/>
        </p:nvSpPr>
        <p:spPr>
          <a:xfrm>
            <a:off x="8412480" y="3931920"/>
            <a:ext cx="3017520" cy="822960"/>
          </a:xfrm>
          <a:prstGeom prst="rect">
            <a:avLst/>
          </a:prstGeom>
          <a:noFill/>
          <a:ln/>
        </p:spPr>
        <p:txBody>
          <a:bodyPr wrap="square" lIns="0" tIns="0" rIns="0" bIns="0" rtlCol="0" anchor="t"/>
          <a:lstStyle/>
          <a:p>
            <a:pPr rtl="1" algn="r" indent="0" marL="0">
              <a:buNone/>
            </a:pPr>
            <a:r>
              <a:rPr lang="en-US" sz="1400" b="1" dirty="0">
                <a:solidFill>
                  <a:schemeClr val="tx1"/>
                </a:solidFill>
              </a:rPr>
              <a:t>الالتئام أسرع بحوالي 4.7 يوم من الضمادات التقليدية</a:t>
            </a:r>
            <a:endParaRPr lang="en-US" sz="1400" dirty="0"/>
          </a:p>
        </p:txBody>
      </p:sp>
      <p:sp>
        <p:nvSpPr>
          <p:cNvPr id="10" name="Shape 7"/>
          <p:cNvSpPr/>
          <p:nvPr/>
        </p:nvSpPr>
        <p:spPr>
          <a:xfrm>
            <a:off x="4663440" y="2743200"/>
            <a:ext cx="3383280" cy="2103120"/>
          </a:xfrm>
          <a:prstGeom prst="roundRect">
            <a:avLst>
              <a:gd name="adj" fmla="val 5217"/>
            </a:avLst>
          </a:prstGeom>
          <a:solidFill>
            <a:schemeClr val="accent3">
              <a:alpha val="8000"/>
            </a:schemeClr>
          </a:solidFill>
          <a:ln w="9525">
            <a:solidFill>
              <a:schemeClr val="accent3">
                <a:alpha val="25000"/>
              </a:schemeClr>
            </a:solidFill>
            <a:prstDash val="solid"/>
          </a:ln>
        </p:spPr>
      </p:sp>
      <p:sp>
        <p:nvSpPr>
          <p:cNvPr id="11" name="Text 8"/>
          <p:cNvSpPr txBox="1"/>
          <p:nvPr/>
        </p:nvSpPr>
        <p:spPr>
          <a:xfrm>
            <a:off x="4846320" y="2852928"/>
            <a:ext cx="3017520" cy="365760"/>
          </a:xfrm>
          <a:prstGeom prst="rect">
            <a:avLst/>
          </a:prstGeom>
          <a:noFill/>
          <a:ln/>
        </p:spPr>
        <p:txBody>
          <a:bodyPr wrap="square" lIns="0" tIns="0" rIns="0" bIns="0" rtlCol="0" anchor="ctr"/>
          <a:lstStyle/>
          <a:p>
            <a:pPr algn="l" indent="0" marL="0">
              <a:buNone/>
            </a:pPr>
            <a:r>
              <a:rPr lang="en-US" sz="1400" b="1" dirty="0">
                <a:solidFill>
                  <a:schemeClr val="accent3"/>
                </a:solidFill>
              </a:rPr>
              <a:t>Preethi, 2009</a:t>
            </a:r>
            <a:endParaRPr lang="en-US" sz="1400" dirty="0"/>
          </a:p>
        </p:txBody>
      </p:sp>
      <p:sp>
        <p:nvSpPr>
          <p:cNvPr id="12" name="Text 9"/>
          <p:cNvSpPr txBox="1"/>
          <p:nvPr/>
        </p:nvSpPr>
        <p:spPr>
          <a:xfrm>
            <a:off x="4846320" y="3246120"/>
            <a:ext cx="3017520" cy="685800"/>
          </a:xfrm>
          <a:prstGeom prst="rect">
            <a:avLst/>
          </a:prstGeom>
          <a:noFill/>
          <a:ln/>
        </p:spPr>
        <p:txBody>
          <a:bodyPr wrap="square" lIns="0" tIns="0" rIns="0" bIns="0" rtlCol="0" anchor="t"/>
          <a:lstStyle/>
          <a:p>
            <a:pPr rtl="1" algn="r" indent="0" marL="0">
              <a:buNone/>
            </a:pPr>
            <a:r>
              <a:rPr lang="en-US" sz="1300" dirty="0">
                <a:solidFill>
                  <a:schemeClr val="accent5"/>
                </a:solidFill>
              </a:rPr>
              <a:t>الكالندولا · دراسة تجريبية</a:t>
            </a:r>
            <a:endParaRPr lang="en-US" sz="1300" dirty="0"/>
          </a:p>
        </p:txBody>
      </p:sp>
      <p:sp>
        <p:nvSpPr>
          <p:cNvPr id="13" name="Text 10"/>
          <p:cNvSpPr txBox="1"/>
          <p:nvPr/>
        </p:nvSpPr>
        <p:spPr>
          <a:xfrm>
            <a:off x="4846320" y="3931920"/>
            <a:ext cx="3017520" cy="822960"/>
          </a:xfrm>
          <a:prstGeom prst="rect">
            <a:avLst/>
          </a:prstGeom>
          <a:noFill/>
          <a:ln/>
        </p:spPr>
        <p:txBody>
          <a:bodyPr wrap="square" lIns="0" tIns="0" rIns="0" bIns="0" rtlCol="0" anchor="t"/>
          <a:lstStyle/>
          <a:p>
            <a:pPr rtl="1" algn="r" indent="0" marL="0">
              <a:buNone/>
            </a:pPr>
            <a:r>
              <a:rPr lang="en-US" sz="1400" b="1" dirty="0">
                <a:solidFill>
                  <a:schemeClr val="tx1"/>
                </a:solidFill>
              </a:rPr>
              <a:t>انغلاق الجرح ~90% مقابل ~51% في اليوم الثامن</a:t>
            </a:r>
            <a:endParaRPr lang="en-US" sz="1400" dirty="0"/>
          </a:p>
        </p:txBody>
      </p:sp>
      <p:sp>
        <p:nvSpPr>
          <p:cNvPr id="14" name="Shape 11"/>
          <p:cNvSpPr/>
          <p:nvPr/>
        </p:nvSpPr>
        <p:spPr>
          <a:xfrm>
            <a:off x="548640" y="2743200"/>
            <a:ext cx="3931920" cy="2103120"/>
          </a:xfrm>
          <a:prstGeom prst="roundRect">
            <a:avLst>
              <a:gd name="adj" fmla="val 5217"/>
            </a:avLst>
          </a:prstGeom>
          <a:solidFill>
            <a:schemeClr val="accent3">
              <a:alpha val="8000"/>
            </a:schemeClr>
          </a:solidFill>
          <a:ln w="9525">
            <a:solidFill>
              <a:schemeClr val="accent3">
                <a:alpha val="25000"/>
              </a:schemeClr>
            </a:solidFill>
            <a:prstDash val="solid"/>
          </a:ln>
        </p:spPr>
      </p:sp>
      <p:sp>
        <p:nvSpPr>
          <p:cNvPr id="15" name="Text 12"/>
          <p:cNvSpPr txBox="1"/>
          <p:nvPr/>
        </p:nvSpPr>
        <p:spPr>
          <a:xfrm>
            <a:off x="731520" y="2852928"/>
            <a:ext cx="3566160" cy="365760"/>
          </a:xfrm>
          <a:prstGeom prst="rect">
            <a:avLst/>
          </a:prstGeom>
          <a:noFill/>
          <a:ln/>
        </p:spPr>
        <p:txBody>
          <a:bodyPr wrap="square" lIns="0" tIns="0" rIns="0" bIns="0" rtlCol="0" anchor="ctr"/>
          <a:lstStyle/>
          <a:p>
            <a:pPr algn="l" indent="0" marL="0">
              <a:buNone/>
            </a:pPr>
            <a:r>
              <a:rPr lang="en-US" sz="1400" b="1" dirty="0">
                <a:solidFill>
                  <a:schemeClr val="accent3"/>
                </a:solidFill>
              </a:rPr>
              <a:t>Carson 2006 · El Maghraby 2008</a:t>
            </a:r>
            <a:endParaRPr lang="en-US" sz="1400" dirty="0"/>
          </a:p>
        </p:txBody>
      </p:sp>
      <p:sp>
        <p:nvSpPr>
          <p:cNvPr id="16" name="Text 13"/>
          <p:cNvSpPr txBox="1"/>
          <p:nvPr/>
        </p:nvSpPr>
        <p:spPr>
          <a:xfrm>
            <a:off x="731520" y="3246120"/>
            <a:ext cx="3566160" cy="685800"/>
          </a:xfrm>
          <a:prstGeom prst="rect">
            <a:avLst/>
          </a:prstGeom>
          <a:noFill/>
          <a:ln/>
        </p:spPr>
        <p:txBody>
          <a:bodyPr wrap="square" lIns="0" tIns="0" rIns="0" bIns="0" rtlCol="0" anchor="t"/>
          <a:lstStyle/>
          <a:p>
            <a:pPr rtl="1" algn="r" indent="0" marL="0">
              <a:buNone/>
            </a:pPr>
            <a:r>
              <a:rPr lang="en-US" sz="1300" dirty="0">
                <a:solidFill>
                  <a:schemeClr val="accent5"/>
                </a:solidFill>
              </a:rPr>
              <a:t>شجرة الشاي · الليبوسوم</a:t>
            </a:r>
            <a:endParaRPr lang="en-US" sz="1300" dirty="0"/>
          </a:p>
        </p:txBody>
      </p:sp>
      <p:sp>
        <p:nvSpPr>
          <p:cNvPr id="17" name="Text 14"/>
          <p:cNvSpPr txBox="1"/>
          <p:nvPr/>
        </p:nvSpPr>
        <p:spPr>
          <a:xfrm>
            <a:off x="731520" y="3931920"/>
            <a:ext cx="3566160" cy="822960"/>
          </a:xfrm>
          <a:prstGeom prst="rect">
            <a:avLst/>
          </a:prstGeom>
          <a:noFill/>
          <a:ln/>
        </p:spPr>
        <p:txBody>
          <a:bodyPr wrap="square" lIns="0" tIns="0" rIns="0" bIns="0" rtlCol="0" anchor="t"/>
          <a:lstStyle/>
          <a:p>
            <a:pPr rtl="1" algn="r" indent="0" marL="0">
              <a:buNone/>
            </a:pPr>
            <a:r>
              <a:rPr lang="en-US" sz="1400" b="1" dirty="0">
                <a:solidFill>
                  <a:schemeClr val="tx1"/>
                </a:solidFill>
              </a:rPr>
              <a:t>نشاط واسع ضد الميكروبات، وتوصيل أفضل للمكونات في الجلد</a:t>
            </a:r>
            <a:endParaRPr lang="en-US" sz="1400" dirty="0"/>
          </a:p>
        </p:txBody>
      </p:sp>
      <p:sp>
        <p:nvSpPr>
          <p:cNvPr id="18" name="Shape 15"/>
          <p:cNvSpPr/>
          <p:nvPr/>
        </p:nvSpPr>
        <p:spPr>
          <a:xfrm>
            <a:off x="548640" y="5029200"/>
            <a:ext cx="11064240" cy="1051560"/>
          </a:xfrm>
          <a:prstGeom prst="roundRect">
            <a:avLst>
              <a:gd name="adj" fmla="val 10435"/>
            </a:avLst>
          </a:prstGeom>
          <a:solidFill>
            <a:schemeClr val="accent3">
              <a:alpha val="7000"/>
            </a:schemeClr>
          </a:solidFill>
          <a:ln w="9525">
            <a:solidFill>
              <a:schemeClr val="accent3">
                <a:alpha val="25000"/>
              </a:schemeClr>
            </a:solidFill>
            <a:prstDash val="solid"/>
          </a:ln>
        </p:spPr>
      </p:sp>
      <p:sp>
        <p:nvSpPr>
          <p:cNvPr id="19" name="Text 16"/>
          <p:cNvSpPr txBox="1"/>
          <p:nvPr/>
        </p:nvSpPr>
        <p:spPr>
          <a:xfrm>
            <a:off x="731520" y="5074920"/>
            <a:ext cx="10698480" cy="960120"/>
          </a:xfrm>
          <a:prstGeom prst="rect">
            <a:avLst/>
          </a:prstGeom>
          <a:noFill/>
          <a:ln/>
        </p:spPr>
        <p:txBody>
          <a:bodyPr wrap="square" lIns="0" tIns="0" rIns="0" bIns="0" rtlCol="0" anchor="ctr"/>
          <a:lstStyle/>
          <a:p>
            <a:pPr algn="r" indent="0" marL="0">
              <a:buNone/>
            </a:pPr>
            <a:r>
              <a:rPr lang="en-US" sz="1500" b="1" dirty="0">
                <a:solidFill>
                  <a:schemeClr val="accent3"/>
                </a:solidFill>
              </a:rPr>
              <a:t>مناسب لـ:  </a:t>
            </a:r>
            <a:pPr algn="r" indent="0" marL="0">
              <a:buNone/>
            </a:pPr>
            <a:r>
              <a:rPr lang="en-US" sz="1500" dirty="0">
                <a:solidFill>
                  <a:schemeClr val="tx1"/>
                </a:solidFill>
              </a:rPr>
              <a:t>تشققات الكعب · تشققات الحلمة · طفح الحفاض · الحروق البسيطة وحروق الشمس · الجروح السطحية · الجلد الجاف والمتقشر</a:t>
            </a:r>
            <a:endParaRPr lang="en-US" sz="1500" dirty="0"/>
          </a:p>
        </p:txBody>
      </p:sp>
      <p:sp>
        <p:nvSpPr>
          <p:cNvPr id="25" name="Slide Number Placeholder 0"/>
          <p:cNvSpPr>
            <a:spLocks noGrp="1"/>
          </p:cNvSpPr>
          <p:nvPr>
            <p:ph type="sldNum" sz="quarter" idx="4294967295"/>
          </p:nvPr>
        </p:nvSpPr>
        <p:spPr>
          <a:xfrm>
            <a:off x="5806440" y="630936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ct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1"/>
          <p:cNvSpPr/>
          <p:nvPr>
            <p:ph idx="102" type="title" hasCustomPrompt="1"/>
          </p:nvPr>
        </p:nvSpPr>
        <p:spPr>
          <a:xfrm>
            <a:off x="548640" y="320040"/>
            <a:ext cx="11064240" cy="777240"/>
          </a:xfrm>
          <a:prstGeom prst="rect">
            <a:avLst/>
          </a:prstGeom>
          <a:noFill/>
          <a:ln/>
        </p:spPr>
        <p:txBody>
          <a:bodyPr wrap="square" rtlCol="0" anchor="ctr"/>
          <a:lstStyle/>
          <a:p>
            <a:pPr rtl="1" algn="r" indent="0" marL="0">
              <a:buNone/>
            </a:pPr>
            <a:r>
              <a:rPr lang="en-US" sz="3200" b="1" dirty="0">
                <a:solidFill>
                  <a:schemeClr val="tx2"/>
                </a:solidFill>
              </a:rPr>
              <a:t>ملخص المنتجات الخمسة</a:t>
            </a:r>
            <a:endParaRPr lang="en-US" sz="32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64240" cy="914400"/>
        </p:xfrm>
        <a:graphic>
          <a:graphicData uri="http://schemas.openxmlformats.org/drawingml/2006/table">
            <a:tbl>
              <a:tblPr/>
              <a:tblGrid>
                <a:gridCol w="1371600"/>
                <a:gridCol w="2194560"/>
                <a:gridCol w="4572000"/>
                <a:gridCol w="1463040"/>
                <a:gridCol w="1463040"/>
              </a:tblGrid>
              <a:tr h="685800">
                <a:tc>
                  <a:txBody>
                    <a:bodyPr/>
                    <a:lstStyle/>
                    <a:p>
                      <a:pPr rtl="1" algn="r" indent="0" marL="0">
                        <a:buNone/>
                      </a:pPr>
                      <a:r>
                        <a:rPr lang="en-US" sz="1400" b="1" dirty="0">
                          <a:solidFill>
                            <a:schemeClr val="bg1"/>
                          </a:solidFill>
                        </a:rPr>
                        <a:t>سعر الجمهور*</a:t>
                      </a:r>
                      <a:endParaRPr lang="en-US" sz="1400" dirty="0"/>
                    </a:p>
                  </a:txBody>
                  <a:tcPr marL="91440" marR="9144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chemeClr val="tx2"/>
                    </a:solidFill>
                  </a:tcPr>
                </a:tc>
                <a:tc>
                  <a:txBody>
                    <a:bodyPr/>
                    <a:lstStyle/>
                    <a:p>
                      <a:pPr rtl="1" algn="r" indent="0" marL="0">
                        <a:buNone/>
                      </a:pPr>
                      <a:r>
                        <a:rPr lang="en-US" sz="1400" b="1" dirty="0">
                          <a:solidFill>
                            <a:schemeClr val="bg1"/>
                          </a:solidFill>
                        </a:rPr>
                        <a:t>العيادة</a:t>
                      </a:r>
                      <a:endParaRPr lang="en-US" sz="1400" dirty="0"/>
                    </a:p>
                  </a:txBody>
                  <a:tcPr marL="91440" marR="9144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chemeClr val="tx2"/>
                    </a:solidFill>
                  </a:tcPr>
                </a:tc>
                <a:tc>
                  <a:txBody>
                    <a:bodyPr/>
                    <a:lstStyle/>
                    <a:p>
                      <a:pPr rtl="1" algn="r" indent="0" marL="0">
                        <a:buNone/>
                      </a:pPr>
                      <a:r>
                        <a:rPr lang="en-US" sz="1400" b="1" dirty="0">
                          <a:solidFill>
                            <a:schemeClr val="bg1"/>
                          </a:solidFill>
                        </a:rPr>
                        <a:t>Key Selling Point</a:t>
                      </a:r>
                      <a:endParaRPr lang="en-US" sz="1400" dirty="0"/>
                    </a:p>
                  </a:txBody>
                  <a:tcPr marL="91440" marR="9144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chemeClr val="tx2"/>
                    </a:solidFill>
                  </a:tcPr>
                </a:tc>
                <a:tc>
                  <a:txBody>
                    <a:bodyPr/>
                    <a:lstStyle/>
                    <a:p>
                      <a:pPr rtl="1" algn="r" indent="0" marL="0">
                        <a:buNone/>
                      </a:pPr>
                      <a:r>
                        <a:rPr lang="en-US" sz="1400" b="1" dirty="0">
                          <a:solidFill>
                            <a:schemeClr val="bg1"/>
                          </a:solidFill>
                        </a:rPr>
                        <a:t>التصنيف</a:t>
                      </a:r>
                      <a:endParaRPr lang="en-US" sz="1400" dirty="0"/>
                    </a:p>
                  </a:txBody>
                  <a:tcPr marL="91440" marR="9144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chemeClr val="tx2"/>
                    </a:solidFill>
                  </a:tcPr>
                </a:tc>
                <a:tc>
                  <a:txBody>
                    <a:bodyPr/>
                    <a:lstStyle/>
                    <a:p>
                      <a:pPr rtl="1" algn="r" indent="0" marL="0">
                        <a:buNone/>
                      </a:pPr>
                      <a:r>
                        <a:rPr lang="en-US" sz="1400" b="1" dirty="0">
                          <a:solidFill>
                            <a:schemeClr val="bg1"/>
                          </a:solidFill>
                        </a:rPr>
                        <a:t>المنتج</a:t>
                      </a:r>
                      <a:endParaRPr lang="en-US" sz="1400" dirty="0"/>
                    </a:p>
                  </a:txBody>
                  <a:tcPr marL="91440" marR="9144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chemeClr val="tx2"/>
                    </a:solidFill>
                  </a:tcPr>
                </a:tc>
              </a:tr>
              <a:tr h="685800">
                <a:tc>
                  <a:txBody>
                    <a:bodyPr/>
                    <a:lstStyle/>
                    <a:p>
                      <a:pPr rtl="1" algn="r" indent="0" marL="0">
                        <a:buNone/>
                      </a:pPr>
                      <a:r>
                        <a:rPr lang="en-US" sz="1400" dirty="0">
                          <a:solidFill>
                            <a:schemeClr val="tx1"/>
                          </a:solidFill>
                        </a:rPr>
                        <a:t>49</a:t>
                      </a:r>
                      <a:endParaRPr lang="en-US" sz="1400" dirty="0"/>
                    </a:p>
                  </a:txBody>
                  <a:tcPr marL="91440" marR="9144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chemeClr val="bg2"/>
                    </a:solidFill>
                  </a:tcPr>
                </a:tc>
                <a:tc>
                  <a:txBody>
                    <a:bodyPr/>
                    <a:lstStyle/>
                    <a:p>
                      <a:pPr rtl="1" algn="r" indent="0" marL="0">
                        <a:buNone/>
                      </a:pPr>
                      <a:r>
                        <a:rPr lang="en-US" sz="1400" dirty="0">
                          <a:solidFill>
                            <a:schemeClr val="tx1"/>
                          </a:solidFill>
                        </a:rPr>
                        <a:t>النساء</a:t>
                      </a:r>
                      <a:endParaRPr lang="en-US" sz="1400" dirty="0"/>
                    </a:p>
                  </a:txBody>
                  <a:tcPr marL="91440" marR="9144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chemeClr val="bg2"/>
                    </a:solidFill>
                  </a:tcPr>
                </a:tc>
                <a:tc>
                  <a:txBody>
                    <a:bodyPr/>
                    <a:lstStyle/>
                    <a:p>
                      <a:pPr rtl="1" algn="r" indent="0" marL="0">
                        <a:buNone/>
                      </a:pPr>
                      <a:r>
                        <a:rPr lang="en-US" sz="1400" dirty="0">
                          <a:solidFill>
                            <a:schemeClr val="tx1"/>
                          </a:solidFill>
                        </a:rPr>
                        <a:t>تركيبة أعشاب متكاملة (12 مكوّن) لحيوية المرأة</a:t>
                      </a:r>
                      <a:endParaRPr lang="en-US" sz="1400" dirty="0"/>
                    </a:p>
                  </a:txBody>
                  <a:tcPr marL="91440" marR="9144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chemeClr val="bg2"/>
                    </a:solidFill>
                  </a:tcPr>
                </a:tc>
                <a:tc>
                  <a:txBody>
                    <a:bodyPr/>
                    <a:lstStyle/>
                    <a:p>
                      <a:pPr rtl="1" algn="r" indent="0" marL="0">
                        <a:buNone/>
                      </a:pPr>
                      <a:r>
                        <a:rPr lang="en-US" sz="1400" dirty="0">
                          <a:solidFill>
                            <a:schemeClr val="tx1"/>
                          </a:solidFill>
                        </a:rPr>
                        <a:t>مكمل غذائي</a:t>
                      </a:r>
                      <a:endParaRPr lang="en-US" sz="1400" dirty="0"/>
                    </a:p>
                  </a:txBody>
                  <a:tcPr marL="91440" marR="9144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chemeClr val="bg2"/>
                    </a:solidFill>
                  </a:tcPr>
                </a:tc>
                <a:tc>
                  <a:txBody>
                    <a:bodyPr/>
                    <a:lstStyle/>
                    <a:p>
                      <a:pPr rtl="1" algn="r" indent="0" marL="0">
                        <a:buNone/>
                      </a:pPr>
                      <a:r>
                        <a:rPr lang="en-US" sz="1400" b="1" dirty="0">
                          <a:solidFill>
                            <a:schemeClr val="tx1"/>
                          </a:solidFill>
                        </a:rPr>
                        <a:t>Fem-Arosa</a:t>
                      </a:r>
                      <a:endParaRPr lang="en-US" sz="1400" dirty="0"/>
                    </a:p>
                  </a:txBody>
                  <a:tcPr marL="91440" marR="9144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chemeClr val="bg2"/>
                    </a:solidFill>
                  </a:tcPr>
                </a:tc>
              </a:tr>
              <a:tr h="685800">
                <a:tc>
                  <a:txBody>
                    <a:bodyPr/>
                    <a:lstStyle/>
                    <a:p>
                      <a:pPr rtl="1" algn="r" indent="0" marL="0">
                        <a:buNone/>
                      </a:pPr>
                      <a:r>
                        <a:rPr lang="en-US" sz="1400" dirty="0">
                          <a:solidFill>
                            <a:schemeClr val="tx1"/>
                          </a:solidFill>
                        </a:rPr>
                        <a:t>65</a:t>
                      </a:r>
                      <a:endParaRPr lang="en-US" sz="1400" dirty="0"/>
                    </a:p>
                  </a:txBody>
                  <a:tcPr marL="91440" marR="9144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chemeClr val="bg1"/>
                    </a:solidFill>
                  </a:tcPr>
                </a:tc>
                <a:tc>
                  <a:txBody>
                    <a:bodyPr/>
                    <a:lstStyle/>
                    <a:p>
                      <a:pPr rtl="1" algn="r" indent="0" marL="0">
                        <a:buNone/>
                      </a:pPr>
                      <a:r>
                        <a:rPr lang="en-US" sz="1400" dirty="0">
                          <a:solidFill>
                            <a:schemeClr val="tx1"/>
                          </a:solidFill>
                        </a:rPr>
                        <a:t>النساء</a:t>
                      </a:r>
                      <a:endParaRPr lang="en-US" sz="1400" dirty="0"/>
                    </a:p>
                  </a:txBody>
                  <a:tcPr marL="91440" marR="9144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chemeClr val="bg1"/>
                    </a:solidFill>
                  </a:tcPr>
                </a:tc>
                <a:tc>
                  <a:txBody>
                    <a:bodyPr/>
                    <a:lstStyle/>
                    <a:p>
                      <a:pPr rtl="1" algn="r" indent="0" marL="0">
                        <a:buNone/>
                      </a:pPr>
                      <a:r>
                        <a:rPr lang="en-US" sz="1400" dirty="0">
                          <a:solidFill>
                            <a:schemeClr val="tx1"/>
                          </a:solidFill>
                        </a:rPr>
                        <a:t>غسول فوم pH 3.5–4.5 خالي من الكحول والبارابين</a:t>
                      </a:r>
                      <a:endParaRPr lang="en-US" sz="1400" dirty="0"/>
                    </a:p>
                  </a:txBody>
                  <a:tcPr marL="91440" marR="9144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chemeClr val="bg1"/>
                    </a:solidFill>
                  </a:tcPr>
                </a:tc>
                <a:tc>
                  <a:txBody>
                    <a:bodyPr/>
                    <a:lstStyle/>
                    <a:p>
                      <a:pPr rtl="1" algn="r" indent="0" marL="0">
                        <a:buNone/>
                      </a:pPr>
                      <a:r>
                        <a:rPr lang="en-US" sz="1400" dirty="0">
                          <a:solidFill>
                            <a:schemeClr val="tx1"/>
                          </a:solidFill>
                        </a:rPr>
                        <a:t>مستحضر عناية</a:t>
                      </a:r>
                      <a:endParaRPr lang="en-US" sz="1400" dirty="0"/>
                    </a:p>
                  </a:txBody>
                  <a:tcPr marL="91440" marR="9144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chemeClr val="bg1"/>
                    </a:solidFill>
                  </a:tcPr>
                </a:tc>
                <a:tc>
                  <a:txBody>
                    <a:bodyPr/>
                    <a:lstStyle/>
                    <a:p>
                      <a:pPr rtl="1" algn="r" indent="0" marL="0">
                        <a:buNone/>
                      </a:pPr>
                      <a:r>
                        <a:rPr lang="en-US" sz="1400" b="1" dirty="0">
                          <a:solidFill>
                            <a:schemeClr val="tx1"/>
                          </a:solidFill>
                        </a:rPr>
                        <a:t>Femina</a:t>
                      </a:r>
                      <a:endParaRPr lang="en-US" sz="1400" dirty="0"/>
                    </a:p>
                  </a:txBody>
                  <a:tcPr marL="91440" marR="9144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chemeClr val="bg1"/>
                    </a:solidFill>
                  </a:tcPr>
                </a:tc>
              </a:tr>
              <a:tr h="685800">
                <a:tc>
                  <a:txBody>
                    <a:bodyPr/>
                    <a:lstStyle/>
                    <a:p>
                      <a:pPr rtl="1" algn="r" indent="0" marL="0">
                        <a:buNone/>
                      </a:pPr>
                      <a:r>
                        <a:rPr lang="en-US" sz="1400" dirty="0">
                          <a:solidFill>
                            <a:schemeClr val="tx1"/>
                          </a:solidFill>
                        </a:rPr>
                        <a:t>55</a:t>
                      </a:r>
                      <a:endParaRPr lang="en-US" sz="1400" dirty="0"/>
                    </a:p>
                  </a:txBody>
                  <a:tcPr marL="91440" marR="9144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chemeClr val="bg2"/>
                    </a:solidFill>
                  </a:tcPr>
                </a:tc>
                <a:tc>
                  <a:txBody>
                    <a:bodyPr/>
                    <a:lstStyle/>
                    <a:p>
                      <a:pPr rtl="1" algn="r" indent="0" marL="0">
                        <a:buNone/>
                      </a:pPr>
                      <a:r>
                        <a:rPr lang="en-US" sz="1400" dirty="0">
                          <a:solidFill>
                            <a:schemeClr val="tx1"/>
                          </a:solidFill>
                        </a:rPr>
                        <a:t>الجلدية</a:t>
                      </a:r>
                      <a:endParaRPr lang="en-US" sz="1400" dirty="0"/>
                    </a:p>
                  </a:txBody>
                  <a:tcPr marL="91440" marR="9144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chemeClr val="bg2"/>
                    </a:solidFill>
                  </a:tcPr>
                </a:tc>
                <a:tc>
                  <a:txBody>
                    <a:bodyPr/>
                    <a:lstStyle/>
                    <a:p>
                      <a:pPr rtl="1" algn="r" indent="0" marL="0">
                        <a:buNone/>
                      </a:pPr>
                      <a:r>
                        <a:rPr lang="en-US" sz="1400" dirty="0">
                          <a:solidFill>
                            <a:schemeClr val="tx1"/>
                          </a:solidFill>
                        </a:rPr>
                        <a:t>4 مواد فعالة ضد القشرة في شامبو واحد</a:t>
                      </a:r>
                      <a:endParaRPr lang="en-US" sz="1400" dirty="0"/>
                    </a:p>
                  </a:txBody>
                  <a:tcPr marL="91440" marR="9144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chemeClr val="bg2"/>
                    </a:solidFill>
                  </a:tcPr>
                </a:tc>
                <a:tc>
                  <a:txBody>
                    <a:bodyPr/>
                    <a:lstStyle/>
                    <a:p>
                      <a:pPr rtl="1" algn="r" indent="0" marL="0">
                        <a:buNone/>
                      </a:pPr>
                      <a:r>
                        <a:rPr lang="en-US" sz="1400" dirty="0">
                          <a:solidFill>
                            <a:schemeClr val="tx1"/>
                          </a:solidFill>
                        </a:rPr>
                        <a:t>مستحضر عناية</a:t>
                      </a:r>
                      <a:endParaRPr lang="en-US" sz="1400" dirty="0"/>
                    </a:p>
                  </a:txBody>
                  <a:tcPr marL="91440" marR="9144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chemeClr val="bg2"/>
                    </a:solidFill>
                  </a:tcPr>
                </a:tc>
                <a:tc>
                  <a:txBody>
                    <a:bodyPr/>
                    <a:lstStyle/>
                    <a:p>
                      <a:pPr rtl="1" algn="r" indent="0" marL="0">
                        <a:buNone/>
                      </a:pPr>
                      <a:r>
                        <a:rPr lang="en-US" sz="1400" b="1" dirty="0">
                          <a:solidFill>
                            <a:schemeClr val="tx1"/>
                          </a:solidFill>
                        </a:rPr>
                        <a:t>Octo</a:t>
                      </a:r>
                      <a:endParaRPr lang="en-US" sz="1400" dirty="0"/>
                    </a:p>
                  </a:txBody>
                  <a:tcPr marL="91440" marR="9144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chemeClr val="bg2"/>
                    </a:solidFill>
                  </a:tcPr>
                </a:tc>
              </a:tr>
              <a:tr h="685800">
                <a:tc>
                  <a:txBody>
                    <a:bodyPr/>
                    <a:lstStyle/>
                    <a:p>
                      <a:pPr rtl="1" algn="r" indent="0" marL="0">
                        <a:buNone/>
                      </a:pPr>
                      <a:r>
                        <a:rPr lang="en-US" sz="1400" dirty="0">
                          <a:solidFill>
                            <a:schemeClr val="tx1"/>
                          </a:solidFill>
                        </a:rPr>
                        <a:t>30</a:t>
                      </a:r>
                      <a:endParaRPr lang="en-US" sz="1400" dirty="0"/>
                    </a:p>
                  </a:txBody>
                  <a:tcPr marL="91440" marR="9144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chemeClr val="bg1"/>
                    </a:solidFill>
                  </a:tcPr>
                </a:tc>
                <a:tc>
                  <a:txBody>
                    <a:bodyPr/>
                    <a:lstStyle/>
                    <a:p>
                      <a:pPr rtl="1" algn="r" indent="0" marL="0">
                        <a:buNone/>
                      </a:pPr>
                      <a:r>
                        <a:rPr lang="en-US" sz="1400" dirty="0">
                          <a:solidFill>
                            <a:schemeClr val="tx1"/>
                          </a:solidFill>
                        </a:rPr>
                        <a:t>الجلدية</a:t>
                      </a:r>
                      <a:endParaRPr lang="en-US" sz="1400" dirty="0"/>
                    </a:p>
                  </a:txBody>
                  <a:tcPr marL="91440" marR="9144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chemeClr val="bg1"/>
                    </a:solidFill>
                  </a:tcPr>
                </a:tc>
                <a:tc>
                  <a:txBody>
                    <a:bodyPr/>
                    <a:lstStyle/>
                    <a:p>
                      <a:pPr rtl="1" algn="r" indent="0" marL="0">
                        <a:buNone/>
                      </a:pPr>
                      <a:r>
                        <a:rPr lang="en-US" sz="1400" dirty="0">
                          <a:solidFill>
                            <a:schemeClr val="tx1"/>
                          </a:solidFill>
                        </a:rPr>
                        <a:t>5% بانثينول + فيتامين E + سيراميد</a:t>
                      </a:r>
                      <a:endParaRPr lang="en-US" sz="1400" dirty="0"/>
                    </a:p>
                  </a:txBody>
                  <a:tcPr marL="91440" marR="9144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chemeClr val="bg1"/>
                    </a:solidFill>
                  </a:tcPr>
                </a:tc>
                <a:tc>
                  <a:txBody>
                    <a:bodyPr/>
                    <a:lstStyle/>
                    <a:p>
                      <a:pPr rtl="1" algn="r" indent="0" marL="0">
                        <a:buNone/>
                      </a:pPr>
                      <a:r>
                        <a:rPr lang="en-US" sz="1400" dirty="0">
                          <a:solidFill>
                            <a:schemeClr val="tx1"/>
                          </a:solidFill>
                        </a:rPr>
                        <a:t>مستحضر عناية</a:t>
                      </a:r>
                      <a:endParaRPr lang="en-US" sz="1400" dirty="0"/>
                    </a:p>
                  </a:txBody>
                  <a:tcPr marL="91440" marR="9144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chemeClr val="bg1"/>
                    </a:solidFill>
                  </a:tcPr>
                </a:tc>
                <a:tc>
                  <a:txBody>
                    <a:bodyPr/>
                    <a:lstStyle/>
                    <a:p>
                      <a:pPr rtl="1" algn="r" indent="0" marL="0">
                        <a:buNone/>
                      </a:pPr>
                      <a:r>
                        <a:rPr lang="en-US" sz="1400" b="1" dirty="0">
                          <a:solidFill>
                            <a:schemeClr val="tx1"/>
                          </a:solidFill>
                        </a:rPr>
                        <a:t>E-Panthen</a:t>
                      </a:r>
                      <a:endParaRPr lang="en-US" sz="1400" dirty="0"/>
                    </a:p>
                  </a:txBody>
                  <a:tcPr marL="91440" marR="9144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chemeClr val="bg1"/>
                    </a:solidFill>
                  </a:tcPr>
                </a:tc>
              </a:tr>
              <a:tr h="685800">
                <a:tc>
                  <a:txBody>
                    <a:bodyPr/>
                    <a:lstStyle/>
                    <a:p>
                      <a:pPr rtl="1" algn="r" indent="0" marL="0">
                        <a:buNone/>
                      </a:pPr>
                      <a:r>
                        <a:rPr lang="en-US" sz="1400" dirty="0">
                          <a:solidFill>
                            <a:schemeClr val="tx1"/>
                          </a:solidFill>
                        </a:rPr>
                        <a:t>55</a:t>
                      </a:r>
                      <a:endParaRPr lang="en-US" sz="1400" dirty="0"/>
                    </a:p>
                  </a:txBody>
                  <a:tcPr marL="91440" marR="9144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chemeClr val="bg2"/>
                    </a:solidFill>
                  </a:tcPr>
                </a:tc>
                <a:tc>
                  <a:txBody>
                    <a:bodyPr/>
                    <a:lstStyle/>
                    <a:p>
                      <a:pPr rtl="1" algn="r" indent="0" marL="0">
                        <a:buNone/>
                      </a:pPr>
                      <a:r>
                        <a:rPr lang="en-US" sz="1400" dirty="0">
                          <a:solidFill>
                            <a:schemeClr val="tx1"/>
                          </a:solidFill>
                        </a:rPr>
                        <a:t>الجلدية · النساء · الأطفال</a:t>
                      </a:r>
                      <a:endParaRPr lang="en-US" sz="1400" dirty="0"/>
                    </a:p>
                  </a:txBody>
                  <a:tcPr marL="91440" marR="9144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chemeClr val="bg2"/>
                    </a:solidFill>
                  </a:tcPr>
                </a:tc>
                <a:tc>
                  <a:txBody>
                    <a:bodyPr/>
                    <a:lstStyle/>
                    <a:p>
                      <a:pPr rtl="1" algn="r" indent="0" marL="0">
                        <a:buNone/>
                      </a:pPr>
                      <a:r>
                        <a:rPr lang="en-US" sz="1400" dirty="0">
                          <a:solidFill>
                            <a:schemeClr val="tx1"/>
                          </a:solidFill>
                        </a:rPr>
                        <a:t>17 مكوّن طبيعي بتقنية الليبوسوم</a:t>
                      </a:r>
                      <a:endParaRPr lang="en-US" sz="1400" dirty="0"/>
                    </a:p>
                  </a:txBody>
                  <a:tcPr marL="91440" marR="9144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chemeClr val="bg2"/>
                    </a:solidFill>
                  </a:tcPr>
                </a:tc>
                <a:tc>
                  <a:txBody>
                    <a:bodyPr/>
                    <a:lstStyle/>
                    <a:p>
                      <a:pPr rtl="1" algn="r" indent="0" marL="0">
                        <a:buNone/>
                      </a:pPr>
                      <a:r>
                        <a:rPr lang="en-US" sz="1400" dirty="0">
                          <a:solidFill>
                            <a:schemeClr val="tx1"/>
                          </a:solidFill>
                        </a:rPr>
                        <a:t>مستحضر عناية</a:t>
                      </a:r>
                      <a:endParaRPr lang="en-US" sz="1400" dirty="0"/>
                    </a:p>
                  </a:txBody>
                  <a:tcPr marL="91440" marR="9144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chemeClr val="bg2"/>
                    </a:solidFill>
                  </a:tcPr>
                </a:tc>
                <a:tc>
                  <a:txBody>
                    <a:bodyPr/>
                    <a:lstStyle/>
                    <a:p>
                      <a:pPr rtl="1" algn="r" indent="0" marL="0">
                        <a:buNone/>
                      </a:pPr>
                      <a:r>
                        <a:rPr lang="en-US" sz="1400" b="1" dirty="0">
                          <a:solidFill>
                            <a:schemeClr val="tx1"/>
                          </a:solidFill>
                        </a:rPr>
                        <a:t>Mebonol</a:t>
                      </a:r>
                      <a:endParaRPr lang="en-US" sz="1400" dirty="0"/>
                    </a:p>
                  </a:txBody>
                  <a:tcPr marL="91440" marR="9144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chemeClr val="bg2"/>
                    </a:solidFill>
                  </a:tcPr>
                </a:tc>
              </a:tr>
            </a:tbl>
          </a:graphicData>
        </a:graphic>
      </p:graphicFrame>
      <p:sp>
        <p:nvSpPr>
          <p:cNvPr id="5" name="Text 1"/>
          <p:cNvSpPr txBox="1"/>
          <p:nvPr/>
        </p:nvSpPr>
        <p:spPr>
          <a:xfrm>
            <a:off x="548640" y="5623560"/>
            <a:ext cx="11064240" cy="365760"/>
          </a:xfrm>
          <a:prstGeom prst="rect">
            <a:avLst/>
          </a:prstGeom>
          <a:noFill/>
          <a:ln/>
        </p:spPr>
        <p:txBody>
          <a:bodyPr wrap="square" lIns="0" tIns="0" rIns="0" bIns="0" rtlCol="0" anchor="ctr"/>
          <a:lstStyle/>
          <a:p>
            <a:pPr rtl="1" algn="r" indent="0" marL="0">
              <a:buNone/>
            </a:pPr>
            <a:r>
              <a:rPr lang="en-US" sz="1200" dirty="0">
                <a:solidFill>
                  <a:schemeClr val="accent5"/>
                </a:solidFill>
              </a:rPr>
              <a:t>* بالريال، غير شامل ضريبة القيمة المضافة 15%</a:t>
            </a:r>
            <a:endParaRPr lang="en-US" sz="1200" dirty="0"/>
          </a:p>
        </p:txBody>
      </p:sp>
      <p:sp>
        <p:nvSpPr>
          <p:cNvPr id="25" name="Slide Number Placeholder 0"/>
          <p:cNvSpPr>
            <a:spLocks noGrp="1"/>
          </p:cNvSpPr>
          <p:nvPr>
            <p:ph type="sldNum" sz="quarter" idx="4294967295"/>
          </p:nvPr>
        </p:nvSpPr>
        <p:spPr>
          <a:xfrm>
            <a:off x="5806440" y="630936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ct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1"/>
          <p:cNvSpPr/>
          <p:nvPr>
            <p:ph idx="102" type="title" hasCustomPrompt="1"/>
          </p:nvPr>
        </p:nvSpPr>
        <p:spPr>
          <a:xfrm>
            <a:off x="548640" y="320040"/>
            <a:ext cx="11064240" cy="777240"/>
          </a:xfrm>
          <a:prstGeom prst="rect">
            <a:avLst/>
          </a:prstGeom>
          <a:noFill/>
          <a:ln/>
        </p:spPr>
        <p:txBody>
          <a:bodyPr wrap="square" rtlCol="0" anchor="ctr"/>
          <a:lstStyle/>
          <a:p>
            <a:pPr rtl="1" algn="r" indent="0" marL="0">
              <a:buNone/>
            </a:pPr>
            <a:r>
              <a:rPr lang="en-US" sz="3200" b="1" dirty="0">
                <a:solidFill>
                  <a:schemeClr val="tx2"/>
                </a:solidFill>
              </a:rPr>
              <a:t>Cross-selling: كل زيارة = منتجين</a:t>
            </a:r>
            <a:endParaRPr lang="en-US" sz="3200" dirty="0"/>
          </a:p>
        </p:txBody>
      </p:sp>
      <p:sp>
        <p:nvSpPr>
          <p:cNvPr id="4" name="Shape 1"/>
          <p:cNvSpPr/>
          <p:nvPr/>
        </p:nvSpPr>
        <p:spPr>
          <a:xfrm>
            <a:off x="8046720" y="1325880"/>
            <a:ext cx="3566160" cy="4754880"/>
          </a:xfrm>
          <a:prstGeom prst="roundRect">
            <a:avLst>
              <a:gd name="adj" fmla="val 3077"/>
            </a:avLst>
          </a:prstGeom>
          <a:solidFill>
            <a:schemeClr val="accent1">
              <a:alpha val="10000"/>
            </a:schemeClr>
          </a:solidFill>
          <a:ln w="9525">
            <a:solidFill>
              <a:schemeClr val="accent1">
                <a:alpha val="25000"/>
              </a:schemeClr>
            </a:solidFill>
            <a:prstDash val="solid"/>
          </a:ln>
        </p:spPr>
      </p:sp>
      <p:sp>
        <p:nvSpPr>
          <p:cNvPr id="5" name="Text 2"/>
          <p:cNvSpPr txBox="1"/>
          <p:nvPr/>
        </p:nvSpPr>
        <p:spPr>
          <a:xfrm>
            <a:off x="8046720" y="1463040"/>
            <a:ext cx="3566160" cy="457200"/>
          </a:xfrm>
          <a:prstGeom prst="rect">
            <a:avLst/>
          </a:prstGeom>
          <a:noFill/>
          <a:ln/>
        </p:spPr>
        <p:txBody>
          <a:bodyPr wrap="square" lIns="0" tIns="0" rIns="0" bIns="0" rtlCol="0" anchor="ctr"/>
          <a:lstStyle/>
          <a:p>
            <a:pPr rtl="1" algn="ctr" indent="0" marL="0">
              <a:buNone/>
            </a:pPr>
            <a:r>
              <a:rPr lang="en-US" sz="1800" b="1" dirty="0">
                <a:solidFill>
                  <a:schemeClr val="accent1"/>
                </a:solidFill>
              </a:rPr>
              <a:t>عيادة النساء</a:t>
            </a:r>
            <a:endParaRPr lang="en-US" sz="1800" dirty="0"/>
          </a:p>
        </p:txBody>
      </p:sp>
      <p:pic>
        <p:nvPicPr>
          <p:cNvPr id="6" name="femarosa image" descr="preencoded.png">    </p:cNvPr>
          <p:cNvPicPr>
            <a:picLocks noChangeAspect="1"/>
          </p:cNvPicPr>
          <p:nvPr/>
        </p:nvPicPr>
        <p:blipFill>
          <a:blip r:embed="rId1"/>
          <a:stretch>
            <a:fillRect/>
          </a:stretch>
        </p:blipFill>
        <p:spPr>
          <a:xfrm>
            <a:off x="8321040" y="2361032"/>
            <a:ext cx="1417320" cy="1678737"/>
          </a:xfrm>
          <a:prstGeom prst="rect">
            <a:avLst/>
          </a:prstGeom>
        </p:spPr>
      </p:pic>
      <p:pic>
        <p:nvPicPr>
          <p:cNvPr id="7" name="femina image" descr="preencoded.png">    </p:cNvPr>
          <p:cNvPicPr>
            <a:picLocks noChangeAspect="1"/>
          </p:cNvPicPr>
          <p:nvPr/>
        </p:nvPicPr>
        <p:blipFill>
          <a:blip r:embed="rId2"/>
          <a:stretch>
            <a:fillRect/>
          </a:stretch>
        </p:blipFill>
        <p:spPr>
          <a:xfrm>
            <a:off x="9829800" y="2096465"/>
            <a:ext cx="1417320" cy="2207870"/>
          </a:xfrm>
          <a:prstGeom prst="rect">
            <a:avLst/>
          </a:prstGeom>
        </p:spPr>
      </p:pic>
      <p:sp>
        <p:nvSpPr>
          <p:cNvPr id="8" name="Text 3"/>
          <p:cNvSpPr txBox="1"/>
          <p:nvPr/>
        </p:nvSpPr>
        <p:spPr>
          <a:xfrm>
            <a:off x="8046720" y="4526280"/>
            <a:ext cx="3566160" cy="457200"/>
          </a:xfrm>
          <a:prstGeom prst="rect">
            <a:avLst/>
          </a:prstGeom>
          <a:noFill/>
          <a:ln/>
        </p:spPr>
        <p:txBody>
          <a:bodyPr wrap="square" lIns="0" tIns="0" rIns="0" bIns="0" rtlCol="0" anchor="ctr"/>
          <a:lstStyle/>
          <a:p>
            <a:pPr algn="ctr" indent="0" marL="0">
              <a:buNone/>
            </a:pPr>
            <a:r>
              <a:rPr lang="en-US" sz="1800" b="1" dirty="0">
                <a:solidFill>
                  <a:schemeClr val="tx1"/>
                </a:solidFill>
              </a:rPr>
              <a:t>Fem-Arosa + Femina</a:t>
            </a:r>
            <a:endParaRPr lang="en-US" sz="1800" dirty="0"/>
          </a:p>
        </p:txBody>
      </p:sp>
      <p:sp>
        <p:nvSpPr>
          <p:cNvPr id="9" name="Text 4"/>
          <p:cNvSpPr txBox="1"/>
          <p:nvPr/>
        </p:nvSpPr>
        <p:spPr>
          <a:xfrm>
            <a:off x="8229600" y="5029200"/>
            <a:ext cx="3200400" cy="868680"/>
          </a:xfrm>
          <a:prstGeom prst="rect">
            <a:avLst/>
          </a:prstGeom>
          <a:noFill/>
          <a:ln/>
        </p:spPr>
        <p:txBody>
          <a:bodyPr wrap="square" lIns="0" tIns="0" rIns="0" bIns="0" rtlCol="0" anchor="t"/>
          <a:lstStyle/>
          <a:p>
            <a:pPr rtl="1" algn="ctr" indent="0" marL="0">
              <a:buNone/>
            </a:pPr>
            <a:r>
              <a:rPr lang="en-US" sz="1400" dirty="0">
                <a:solidFill>
                  <a:schemeClr val="accent5"/>
                </a:solidFill>
              </a:rPr>
              <a:t>حيوية من جوّه + نظافة وحماية من برّه</a:t>
            </a:r>
            <a:endParaRPr lang="en-US" sz="1400" dirty="0"/>
          </a:p>
        </p:txBody>
      </p:sp>
      <p:sp>
        <p:nvSpPr>
          <p:cNvPr id="10" name="Shape 5"/>
          <p:cNvSpPr/>
          <p:nvPr/>
        </p:nvSpPr>
        <p:spPr>
          <a:xfrm>
            <a:off x="4297680" y="1325880"/>
            <a:ext cx="3566160" cy="4754880"/>
          </a:xfrm>
          <a:prstGeom prst="roundRect">
            <a:avLst>
              <a:gd name="adj" fmla="val 3077"/>
            </a:avLst>
          </a:prstGeom>
          <a:solidFill>
            <a:schemeClr val="accent2">
              <a:alpha val="10000"/>
            </a:schemeClr>
          </a:solidFill>
          <a:ln w="9525">
            <a:solidFill>
              <a:schemeClr val="accent2">
                <a:alpha val="25000"/>
              </a:schemeClr>
            </a:solidFill>
            <a:prstDash val="solid"/>
          </a:ln>
        </p:spPr>
      </p:sp>
      <p:sp>
        <p:nvSpPr>
          <p:cNvPr id="11" name="Text 6"/>
          <p:cNvSpPr txBox="1"/>
          <p:nvPr/>
        </p:nvSpPr>
        <p:spPr>
          <a:xfrm>
            <a:off x="4297680" y="1463040"/>
            <a:ext cx="3566160" cy="457200"/>
          </a:xfrm>
          <a:prstGeom prst="rect">
            <a:avLst/>
          </a:prstGeom>
          <a:noFill/>
          <a:ln/>
        </p:spPr>
        <p:txBody>
          <a:bodyPr wrap="square" lIns="0" tIns="0" rIns="0" bIns="0" rtlCol="0" anchor="ctr"/>
          <a:lstStyle/>
          <a:p>
            <a:pPr rtl="1" algn="ctr" indent="0" marL="0">
              <a:buNone/>
            </a:pPr>
            <a:r>
              <a:rPr lang="en-US" sz="1800" b="1" dirty="0">
                <a:solidFill>
                  <a:schemeClr val="accent2"/>
                </a:solidFill>
              </a:rPr>
              <a:t>عيادة الجلدية</a:t>
            </a:r>
            <a:endParaRPr lang="en-US" sz="1800" dirty="0"/>
          </a:p>
        </p:txBody>
      </p:sp>
      <p:pic>
        <p:nvPicPr>
          <p:cNvPr id="12" name="octo image" descr="preencoded.png">    </p:cNvPr>
          <p:cNvPicPr>
            <a:picLocks noChangeAspect="1"/>
          </p:cNvPicPr>
          <p:nvPr/>
        </p:nvPicPr>
        <p:blipFill>
          <a:blip r:embed="rId3"/>
          <a:stretch>
            <a:fillRect/>
          </a:stretch>
        </p:blipFill>
        <p:spPr>
          <a:xfrm>
            <a:off x="4572000" y="2227961"/>
            <a:ext cx="1417320" cy="1944878"/>
          </a:xfrm>
          <a:prstGeom prst="rect">
            <a:avLst/>
          </a:prstGeom>
        </p:spPr>
      </p:pic>
      <p:pic>
        <p:nvPicPr>
          <p:cNvPr id="13" name="epanthen image" descr="preencoded.png">    </p:cNvPr>
          <p:cNvPicPr>
            <a:picLocks noChangeAspect="1"/>
          </p:cNvPicPr>
          <p:nvPr/>
        </p:nvPicPr>
        <p:blipFill>
          <a:blip r:embed="rId4"/>
          <a:stretch>
            <a:fillRect/>
          </a:stretch>
        </p:blipFill>
        <p:spPr>
          <a:xfrm>
            <a:off x="6080760" y="2499614"/>
            <a:ext cx="1417320" cy="1401572"/>
          </a:xfrm>
          <a:prstGeom prst="rect">
            <a:avLst/>
          </a:prstGeom>
        </p:spPr>
      </p:pic>
      <p:sp>
        <p:nvSpPr>
          <p:cNvPr id="14" name="Text 7"/>
          <p:cNvSpPr txBox="1"/>
          <p:nvPr/>
        </p:nvSpPr>
        <p:spPr>
          <a:xfrm>
            <a:off x="4297680" y="4526280"/>
            <a:ext cx="3566160" cy="457200"/>
          </a:xfrm>
          <a:prstGeom prst="rect">
            <a:avLst/>
          </a:prstGeom>
          <a:noFill/>
          <a:ln/>
        </p:spPr>
        <p:txBody>
          <a:bodyPr wrap="square" lIns="0" tIns="0" rIns="0" bIns="0" rtlCol="0" anchor="ctr"/>
          <a:lstStyle/>
          <a:p>
            <a:pPr algn="ctr" indent="0" marL="0">
              <a:buNone/>
            </a:pPr>
            <a:r>
              <a:rPr lang="en-US" sz="1800" b="1" dirty="0">
                <a:solidFill>
                  <a:schemeClr val="tx1"/>
                </a:solidFill>
              </a:rPr>
              <a:t>Octo + E-Panthen</a:t>
            </a:r>
            <a:endParaRPr lang="en-US" sz="1800" dirty="0"/>
          </a:p>
        </p:txBody>
      </p:sp>
      <p:sp>
        <p:nvSpPr>
          <p:cNvPr id="15" name="Text 8"/>
          <p:cNvSpPr txBox="1"/>
          <p:nvPr/>
        </p:nvSpPr>
        <p:spPr>
          <a:xfrm>
            <a:off x="4480560" y="5029200"/>
            <a:ext cx="3200400" cy="868680"/>
          </a:xfrm>
          <a:prstGeom prst="rect">
            <a:avLst/>
          </a:prstGeom>
          <a:noFill/>
          <a:ln/>
        </p:spPr>
        <p:txBody>
          <a:bodyPr wrap="square" lIns="0" tIns="0" rIns="0" bIns="0" rtlCol="0" anchor="t"/>
          <a:lstStyle/>
          <a:p>
            <a:pPr rtl="1" algn="ctr" indent="0" marL="0">
              <a:buNone/>
            </a:pPr>
            <a:r>
              <a:rPr lang="en-US" sz="1400" dirty="0">
                <a:solidFill>
                  <a:schemeClr val="accent5"/>
                </a:solidFill>
              </a:rPr>
              <a:t>فروة راس نظيفة + بشرة مرطبة</a:t>
            </a:r>
            <a:endParaRPr lang="en-US" sz="1400" dirty="0"/>
          </a:p>
        </p:txBody>
      </p:sp>
      <p:sp>
        <p:nvSpPr>
          <p:cNvPr id="16" name="Shape 9"/>
          <p:cNvSpPr/>
          <p:nvPr/>
        </p:nvSpPr>
        <p:spPr>
          <a:xfrm>
            <a:off x="548640" y="1325880"/>
            <a:ext cx="3566160" cy="4754880"/>
          </a:xfrm>
          <a:prstGeom prst="roundRect">
            <a:avLst>
              <a:gd name="adj" fmla="val 3077"/>
            </a:avLst>
          </a:prstGeom>
          <a:solidFill>
            <a:schemeClr val="accent3">
              <a:alpha val="10000"/>
            </a:schemeClr>
          </a:solidFill>
          <a:ln w="9525">
            <a:solidFill>
              <a:schemeClr val="accent3">
                <a:alpha val="25000"/>
              </a:schemeClr>
            </a:solidFill>
            <a:prstDash val="solid"/>
          </a:ln>
        </p:spPr>
      </p:sp>
      <p:sp>
        <p:nvSpPr>
          <p:cNvPr id="17" name="Text 10"/>
          <p:cNvSpPr txBox="1"/>
          <p:nvPr/>
        </p:nvSpPr>
        <p:spPr>
          <a:xfrm>
            <a:off x="548640" y="1463040"/>
            <a:ext cx="3566160" cy="457200"/>
          </a:xfrm>
          <a:prstGeom prst="rect">
            <a:avLst/>
          </a:prstGeom>
          <a:noFill/>
          <a:ln/>
        </p:spPr>
        <p:txBody>
          <a:bodyPr wrap="square" lIns="0" tIns="0" rIns="0" bIns="0" rtlCol="0" anchor="ctr"/>
          <a:lstStyle/>
          <a:p>
            <a:pPr rtl="1" algn="ctr" indent="0" marL="0">
              <a:buNone/>
            </a:pPr>
            <a:r>
              <a:rPr lang="en-US" sz="1800" b="1" dirty="0">
                <a:solidFill>
                  <a:schemeClr val="accent3"/>
                </a:solidFill>
              </a:rPr>
              <a:t>أكتر من عيادة</a:t>
            </a:r>
            <a:endParaRPr lang="en-US" sz="1800" dirty="0"/>
          </a:p>
        </p:txBody>
      </p:sp>
      <p:pic>
        <p:nvPicPr>
          <p:cNvPr id="18" name="mebonol image" descr="preencoded.png">    </p:cNvPr>
          <p:cNvPicPr>
            <a:picLocks noChangeAspect="1"/>
          </p:cNvPicPr>
          <p:nvPr/>
        </p:nvPicPr>
        <p:blipFill>
          <a:blip r:embed="rId5"/>
          <a:stretch>
            <a:fillRect/>
          </a:stretch>
        </p:blipFill>
        <p:spPr>
          <a:xfrm>
            <a:off x="822960" y="2611933"/>
            <a:ext cx="2926080" cy="1176934"/>
          </a:xfrm>
          <a:prstGeom prst="rect">
            <a:avLst/>
          </a:prstGeom>
        </p:spPr>
      </p:pic>
      <p:sp>
        <p:nvSpPr>
          <p:cNvPr id="19" name="Text 11"/>
          <p:cNvSpPr txBox="1"/>
          <p:nvPr/>
        </p:nvSpPr>
        <p:spPr>
          <a:xfrm>
            <a:off x="548640" y="4526280"/>
            <a:ext cx="3566160" cy="457200"/>
          </a:xfrm>
          <a:prstGeom prst="rect">
            <a:avLst/>
          </a:prstGeom>
          <a:noFill/>
          <a:ln/>
        </p:spPr>
        <p:txBody>
          <a:bodyPr wrap="square" lIns="0" tIns="0" rIns="0" bIns="0" rtlCol="0" anchor="ctr"/>
          <a:lstStyle/>
          <a:p>
            <a:pPr algn="ctr" indent="0" marL="0">
              <a:buNone/>
            </a:pPr>
            <a:r>
              <a:rPr lang="en-US" sz="1800" b="1" dirty="0">
                <a:solidFill>
                  <a:schemeClr val="tx1"/>
                </a:solidFill>
              </a:rPr>
              <a:t>Mebonol</a:t>
            </a:r>
            <a:endParaRPr lang="en-US" sz="1800" dirty="0"/>
          </a:p>
        </p:txBody>
      </p:sp>
      <p:sp>
        <p:nvSpPr>
          <p:cNvPr id="20" name="Text 12"/>
          <p:cNvSpPr txBox="1"/>
          <p:nvPr/>
        </p:nvSpPr>
        <p:spPr>
          <a:xfrm>
            <a:off x="731520" y="5029200"/>
            <a:ext cx="3200400" cy="868680"/>
          </a:xfrm>
          <a:prstGeom prst="rect">
            <a:avLst/>
          </a:prstGeom>
          <a:noFill/>
          <a:ln/>
        </p:spPr>
        <p:txBody>
          <a:bodyPr wrap="square" lIns="0" tIns="0" rIns="0" bIns="0" rtlCol="0" anchor="t"/>
          <a:lstStyle/>
          <a:p>
            <a:pPr rtl="1" algn="ctr" indent="0" marL="0">
              <a:buNone/>
            </a:pPr>
            <a:r>
              <a:rPr lang="en-US" sz="1400" dirty="0">
                <a:solidFill>
                  <a:schemeClr val="accent5"/>
                </a:solidFill>
              </a:rPr>
              <a:t>نسا (تشققات الحلمة) · أطفال (الحفاض) · جلدية</a:t>
            </a:r>
            <a:endParaRPr lang="en-US" sz="1400" dirty="0"/>
          </a:p>
        </p:txBody>
      </p:sp>
      <p:sp>
        <p:nvSpPr>
          <p:cNvPr id="25" name="Slide Number Placeholder 0"/>
          <p:cNvSpPr>
            <a:spLocks noGrp="1"/>
          </p:cNvSpPr>
          <p:nvPr>
            <p:ph type="sldNum" sz="quarter" idx="4294967295"/>
          </p:nvPr>
        </p:nvSpPr>
        <p:spPr>
          <a:xfrm>
            <a:off x="5806440" y="630936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ct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548640" y="2011680"/>
            <a:ext cx="11064240" cy="1188720"/>
          </a:xfrm>
          <a:prstGeom prst="rect">
            <a:avLst/>
          </a:prstGeom>
          <a:noFill/>
          <a:ln/>
        </p:spPr>
        <p:txBody>
          <a:bodyPr wrap="square" rtlCol="0" anchor="b"/>
          <a:lstStyle/>
          <a:p>
            <a:pPr rtl="1" algn="r" indent="0" marL="0">
              <a:buNone/>
            </a:pPr>
            <a:r>
              <a:rPr lang="en-US" sz="4400" b="1" dirty="0">
                <a:solidFill>
                  <a:schemeClr val="bg1"/>
                </a:solidFill>
              </a:rPr>
              <a:t>شكراً — أسئلة؟</a:t>
            </a:r>
            <a:endParaRPr lang="en-US" sz="4400" dirty="0"/>
          </a:p>
        </p:txBody>
      </p:sp>
      <p:sp>
        <p:nvSpPr>
          <p:cNvPr id="4" name="Text 1"/>
          <p:cNvSpPr txBox="1"/>
          <p:nvPr/>
        </p:nvSpPr>
        <p:spPr>
          <a:xfrm>
            <a:off x="548640" y="3246120"/>
            <a:ext cx="11064240" cy="548640"/>
          </a:xfrm>
          <a:prstGeom prst="rect">
            <a:avLst/>
          </a:prstGeom>
          <a:noFill/>
          <a:ln/>
        </p:spPr>
        <p:txBody>
          <a:bodyPr wrap="square" rtlCol="0" anchor="ctr"/>
          <a:lstStyle/>
          <a:p>
            <a:pPr rtl="1" algn="r" indent="0" marL="0">
              <a:buNone/>
            </a:pPr>
            <a:r>
              <a:rPr lang="en-US" sz="2000" dirty="0">
                <a:solidFill>
                  <a:schemeClr val="bg1"/>
                </a:solidFill>
              </a:rPr>
              <a:t>مؤسسة أريج نجد لمستحضرات التجميل والمستلزمات الطبية</a:t>
            </a:r>
            <a:endParaRPr lang="en-US" sz="2000" dirty="0"/>
          </a:p>
        </p:txBody>
      </p:sp>
      <p:sp>
        <p:nvSpPr>
          <p:cNvPr id="5" name="Shape 2"/>
          <p:cNvSpPr/>
          <p:nvPr/>
        </p:nvSpPr>
        <p:spPr>
          <a:xfrm>
            <a:off x="548640" y="457200"/>
            <a:ext cx="1371600" cy="1051560"/>
          </a:xfrm>
          <a:prstGeom prst="roundRect">
            <a:avLst>
              <a:gd name="adj" fmla="val 10435"/>
            </a:avLst>
          </a:prstGeom>
          <a:solidFill>
            <a:schemeClr val="bg1"/>
          </a:solidFill>
          <a:ln w="12700">
            <a:solidFill>
              <a:schemeClr val="bg1"/>
            </a:solidFill>
            <a:prstDash val="solid"/>
          </a:ln>
        </p:spPr>
      </p:sp>
      <p:pic>
        <p:nvPicPr>
          <p:cNvPr id="6" name="logo" descr="preencoded.png">    </p:cNvPr>
          <p:cNvPicPr>
            <a:picLocks noChangeAspect="1"/>
          </p:cNvPicPr>
          <p:nvPr/>
        </p:nvPicPr>
        <p:blipFill>
          <a:blip r:embed="rId1"/>
          <a:stretch>
            <a:fillRect/>
          </a:stretch>
        </p:blipFill>
        <p:spPr>
          <a:xfrm>
            <a:off x="658368" y="530352"/>
            <a:ext cx="1170432" cy="877824"/>
          </a:xfrm>
          <a:prstGeom prst="rect">
            <a:avLst/>
          </a:prstGeom>
        </p:spPr>
      </p:pic>
    </p:spTree>
  </p:cSld>
  <p:clrMapOvr>
    <a:masterClrMapping/>
  </p:clrMapOvr>
</p:sld>
</file>

<file path=ppt/theme/theme1.xml><?xml version="1.0" encoding="utf-8"?>
<a:theme xmlns:a="http://schemas.openxmlformats.org/drawingml/2006/main" name="Areej Najd Training">
  <a:themeElements>
    <a:clrScheme name="Areej Najd Training">
      <a:dk1>
        <a:srgbClr val="1D232B"/>
      </a:dk1>
      <a:lt1>
        <a:srgbClr val="FFFFFF"/>
      </a:lt1>
      <a:dk2>
        <a:srgbClr val="1F3B63"/>
      </a:dk2>
      <a:lt2>
        <a:srgbClr val="F3F5F9"/>
      </a:lt2>
      <a:accent1>
        <a:srgbClr val="6D1F5E"/>
      </a:accent1>
      <a:accent2>
        <a:srgbClr val="11686B"/>
      </a:accent2>
      <a:accent3>
        <a:srgbClr val="9B1C31"/>
      </a:accent3>
      <a:accent4>
        <a:srgbClr val="C27A12"/>
      </a:accent4>
      <a:accent5>
        <a:srgbClr val="5A636D"/>
      </a:accent5>
      <a:accent6>
        <a:srgbClr val="2E7D32"/>
      </a:accent6>
      <a:hlink>
        <a:srgbClr val="1F3B63"/>
      </a:hlink>
      <a:folHlink>
        <a:srgbClr val="6D1F5E"/>
      </a:folHlink>
    </a:clrScheme>
    <a:fontScheme name="Areej Najd Training">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28</Slides>
  <Notes>28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28</vt:i4>
      </vt:variant>
    </vt:vector>
  </HeadingPairs>
  <TitlesOfParts>
    <vt:vector size="3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vector>
  </TitlesOfParts>
  <Company>Areej Najd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تدريب المناديب على المنتجات</dc:title>
  <dc:subject>PptxGenJS Presentation</dc:subject>
  <dc:creator>PptxGenJS</dc:creator>
  <cp:lastModifiedBy>PptxGenJS</cp:lastModifiedBy>
  <cp:revision>1</cp:revision>
  <dcterms:created xsi:type="dcterms:W3CDTF">2026-10-21T09:54:13Z</dcterms:created>
  <dcterms:modified xsi:type="dcterms:W3CDTF">2026-10-21T09:54:13Z</dcterms:modified>
</cp:coreProperties>
</file>